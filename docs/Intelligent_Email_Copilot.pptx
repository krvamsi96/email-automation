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3" r:id="rId14"/>
    <p:sldId id="274" r:id="rId15"/>
    <p:sldId id="275" r:id="rId16"/>
    <p:sldId id="277"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393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 will explain the Intelligent Email Copilot: an AI assistant that reads emails, finds answers in company documents, and prepares reply drafts. The key idea to remember: the AI prepares, a person decides and sends.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solution in seven steps. The first five are done by the AI: read the email, understand the question, search our knowledge, write the answer, and save a draft. The last two, shown in orange, are always done by a person: review, and send.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use the product. Mode one, the Knowledge Base Test, needs no Gmail at all: upload documents, type a question, and see the AI's answer with its sources. It is a safe way to check the AI before using it on real emails. Mode two, the Email Assistant, connects to Gmail and prepares reply drafts for incoming emails, which a person then reviews and sends.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inputs: company documents such as PDFs, Word files and FAQs, plus either an incoming email or a question typed by a user. On the right are the outputs: an answer based on the documents, a written email reply saved as a Gmail draft, the name of the document that was used, and finally the email a person has reviewed and sent.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document is uploaded, the system reads it, splits it into small sections, and prepares each section so it can be searched by meaning rather than exact words. This is what lets it find the right paragraph later. The status shows Processing, then Ready. Any new document is usable within moments.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example. A user types: How can I reset my password? The system searches the uploaded documents, finds the password section in the FAQ, and the AI writes a clear answer. The screen also shows which document the answer came from, so anyone can double-check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works by meaning. The system compares the question with every section of every document and picks the closest matches. It shows the document name and the exact text it found. If nothing matches well enough, it does not use anything, which leads to the safe behaviour on slide 11.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receives two things: the user's question, and the relevant text found in our documents. From these it writes a clear answer. It is instructed to use only that knowledge and never invent details. An automatic quality check then reviews the reply before it is saved.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one of the most important safety features. If someone asks something our documents do not cover, such as a private phone number, the AI does not guess. It clearly says no relevant information was found and recommends that a person handles it. For emails, it writes a polite holding reply or leaves the email for a person, depending on the settings.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Gmail is connected, the system regularly checks for new unanswered emails. From each one it takes the sender, subject, message and conversation. Suspicious emails, such as phishing or attempts to trick the AI, are flagged and not answered. Promotional emails are skipped.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writing the reply, the system saves it as a Gmail draft inside the same conversation, so it looks like a normal reply waiting to be sent. The draft appears in the Approvals page as Pending Review. Importantly, the system is technically not able to send emails, only create drafts.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 draft goes through a person. On the review screen they see the original email next to the suggested reply. They can edit it, approve it, or reject it. Even after approval, the email is only sent when that person opens Gmail and clicks Send. The system detects this and marks the draft as Sent.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follow one email end to end. A customer writes that they forgot their password. The system reads the email and identifies the question. It searches the knowledge and finds the answer in FAQ.pdf. The AI writes a reply, which is saved as a Gmail draft. A team member reviews it, edits if needed, approves, and sends it from Gmail.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interested in the technology: people use a web app, which talks to a backend server. The backend runs a workflow built with LangGraph. The Knowledge Base uses LangChain with a technique called RAG, meaning the AI answers from retrieved documents, stored in ChromaDB using embeddings that run locally. The AI comes from Groq or Google Gemini, with a local Ollama model as a fallback; an administrator can switch providers and models in Settings. Gmail is accessed through Google's official API, with permission to read emails and create drafts.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every major function: what goes in, what it does, and what comes out. The row highlighted in orange, Human Review, is the step always performed by a person.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on one page. Documents feed the Knowledge Base. Emails from Gmail are turned into a question. The question is matched against the Knowledge Base, the AI writes a response, a quality check reviews it, and it is saved as a Gmail draft. Finally, a person reviews it and sends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3.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a:effectLst/>
      </p:bgPr>
    </p:bg>
    <p:spTree>
      <p:nvGrpSpPr>
        <p:cNvPr id="1" name=""/>
        <p:cNvGrpSpPr/>
        <p:nvPr/>
      </p:nvGrpSpPr>
      <p:grpSpPr>
        <a:xfrm>
          <a:off x="0" y="0"/>
          <a:ext cx="0" cy="0"/>
          <a:chOff x="0" y="0"/>
          <a:chExt cx="0" cy="0"/>
        </a:xfrm>
      </p:grpSpPr>
      <p:sp>
        <p:nvSpPr>
          <p:cNvPr id="2" name="Shape 0"/>
          <p:cNvSpPr/>
          <p:nvPr/>
        </p:nvSpPr>
        <p:spPr>
          <a:xfrm>
            <a:off x="548640" y="1234440"/>
            <a:ext cx="822960" cy="822960"/>
          </a:xfrm>
          <a:prstGeom prst="ellipse">
            <a:avLst/>
          </a:prstGeom>
          <a:solidFill>
            <a:srgbClr val="0E9384"/>
          </a:solidFill>
          <a:ln w="12700">
            <a:solidFill>
              <a:srgbClr val="0E9384"/>
            </a:solidFill>
            <a:prstDash val="solid"/>
          </a:ln>
        </p:spPr>
      </p:sp>
      <p:pic>
        <p:nvPicPr>
          <p:cNvPr id="3" name="Image 0" descr="preencoded.png"/>
          <p:cNvPicPr>
            <a:picLocks noChangeAspect="1"/>
          </p:cNvPicPr>
          <p:nvPr/>
        </p:nvPicPr>
        <p:blipFill>
          <a:blip r:embed="rId3"/>
          <a:stretch>
            <a:fillRect/>
          </a:stretch>
        </p:blipFill>
        <p:spPr>
          <a:xfrm>
            <a:off x="762610" y="1448410"/>
            <a:ext cx="395021" cy="395021"/>
          </a:xfrm>
          <a:prstGeom prst="rect">
            <a:avLst/>
          </a:prstGeom>
        </p:spPr>
      </p:pic>
      <p:sp>
        <p:nvSpPr>
          <p:cNvPr id="4" name="Shape 1"/>
          <p:cNvSpPr/>
          <p:nvPr/>
        </p:nvSpPr>
        <p:spPr>
          <a:xfrm>
            <a:off x="1554480" y="1234440"/>
            <a:ext cx="822960" cy="822960"/>
          </a:xfrm>
          <a:prstGeom prst="ellipse">
            <a:avLst/>
          </a:prstGeom>
          <a:solidFill>
            <a:srgbClr val="1D3357"/>
          </a:solidFill>
          <a:ln w="12700">
            <a:solidFill>
              <a:srgbClr val="1D3357"/>
            </a:solidFill>
            <a:prstDash val="solid"/>
          </a:ln>
        </p:spPr>
      </p:sp>
      <p:pic>
        <p:nvPicPr>
          <p:cNvPr id="5" name="Image 1" descr="preencoded.png"/>
          <p:cNvPicPr>
            <a:picLocks noChangeAspect="1"/>
          </p:cNvPicPr>
          <p:nvPr/>
        </p:nvPicPr>
        <p:blipFill>
          <a:blip r:embed="rId4"/>
          <a:stretch>
            <a:fillRect/>
          </a:stretch>
        </p:blipFill>
        <p:spPr>
          <a:xfrm>
            <a:off x="1768450" y="1448410"/>
            <a:ext cx="395021" cy="395021"/>
          </a:xfrm>
          <a:prstGeom prst="rect">
            <a:avLst/>
          </a:prstGeom>
        </p:spPr>
      </p:pic>
      <p:sp>
        <p:nvSpPr>
          <p:cNvPr id="6" name="Shape 2"/>
          <p:cNvSpPr/>
          <p:nvPr/>
        </p:nvSpPr>
        <p:spPr>
          <a:xfrm>
            <a:off x="2560320" y="1234440"/>
            <a:ext cx="822960" cy="822960"/>
          </a:xfrm>
          <a:prstGeom prst="ellipse">
            <a:avLst/>
          </a:prstGeom>
          <a:solidFill>
            <a:srgbClr val="D97F1E"/>
          </a:solidFill>
          <a:ln w="12700">
            <a:solidFill>
              <a:srgbClr val="D97F1E"/>
            </a:solidFill>
            <a:prstDash val="solid"/>
          </a:ln>
        </p:spPr>
      </p:sp>
      <p:pic>
        <p:nvPicPr>
          <p:cNvPr id="7" name="Image 2" descr="preencoded.png"/>
          <p:cNvPicPr>
            <a:picLocks noChangeAspect="1"/>
          </p:cNvPicPr>
          <p:nvPr/>
        </p:nvPicPr>
        <p:blipFill>
          <a:blip r:embed="rId5"/>
          <a:stretch>
            <a:fillRect/>
          </a:stretch>
        </p:blipFill>
        <p:spPr>
          <a:xfrm>
            <a:off x="2774290" y="1448410"/>
            <a:ext cx="395021" cy="395021"/>
          </a:xfrm>
          <a:prstGeom prst="rect">
            <a:avLst/>
          </a:prstGeom>
        </p:spPr>
      </p:pic>
      <p:sp>
        <p:nvSpPr>
          <p:cNvPr id="8" name="Text 3"/>
          <p:cNvSpPr txBox="1"/>
          <p:nvPr/>
        </p:nvSpPr>
        <p:spPr>
          <a:xfrm>
            <a:off x="548640" y="2377440"/>
            <a:ext cx="10058400" cy="100584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Intelligent Email Copilot</a:t>
            </a:r>
            <a:endParaRPr lang="en-US" sz="5000" dirty="0"/>
          </a:p>
        </p:txBody>
      </p:sp>
      <p:sp>
        <p:nvSpPr>
          <p:cNvPr id="9" name="Text 4"/>
          <p:cNvSpPr txBox="1"/>
          <p:nvPr/>
        </p:nvSpPr>
        <p:spPr>
          <a:xfrm>
            <a:off x="548640" y="3429000"/>
            <a:ext cx="10515600" cy="548640"/>
          </a:xfrm>
          <a:prstGeom prst="rect">
            <a:avLst/>
          </a:prstGeom>
          <a:noFill/>
          <a:ln/>
        </p:spPr>
        <p:txBody>
          <a:bodyPr wrap="square" lIns="0" tIns="0" rIns="0" bIns="0" rtlCol="0" anchor="ctr"/>
          <a:lstStyle/>
          <a:p>
            <a:pPr marL="0" indent="0">
              <a:buNone/>
            </a:pPr>
            <a:r>
              <a:rPr lang="en-US" sz="2200" dirty="0">
                <a:solidFill>
                  <a:srgbClr val="CFE3F0"/>
                </a:solidFill>
                <a:latin typeface="Calibri" pitchFamily="34" charset="0"/>
                <a:ea typeface="Calibri" pitchFamily="34" charset="-122"/>
                <a:cs typeface="Calibri" pitchFamily="34" charset="-120"/>
              </a:rPr>
              <a:t>AI-Powered Knowledge-Based Email Response and Draft Assistant</a:t>
            </a:r>
            <a:endParaRPr lang="en-US" sz="2200" dirty="0"/>
          </a:p>
        </p:txBody>
      </p:sp>
      <p:sp>
        <p:nvSpPr>
          <p:cNvPr id="10" name="Text 5"/>
          <p:cNvSpPr txBox="1"/>
          <p:nvPr/>
        </p:nvSpPr>
        <p:spPr>
          <a:xfrm>
            <a:off x="548640" y="4206240"/>
            <a:ext cx="10515600" cy="411480"/>
          </a:xfrm>
          <a:prstGeom prst="rect">
            <a:avLst/>
          </a:prstGeom>
          <a:noFill/>
          <a:ln/>
        </p:spPr>
        <p:txBody>
          <a:bodyPr wrap="square" lIns="0" tIns="0" rIns="0" bIns="0" rtlCol="0" anchor="ctr"/>
          <a:lstStyle/>
          <a:p>
            <a:pPr marL="0" indent="0">
              <a:buNone/>
            </a:pPr>
            <a:r>
              <a:rPr lang="en-US" sz="1600" dirty="0">
                <a:solidFill>
                  <a:srgbClr val="9FB3C8"/>
                </a:solidFill>
                <a:latin typeface="Calibri" pitchFamily="34" charset="0"/>
                <a:ea typeface="Calibri" pitchFamily="34" charset="-122"/>
                <a:cs typeface="Calibri" pitchFamily="34" charset="-120"/>
              </a:rPr>
              <a:t>Answers from your company knowledge  •  Drafts for your team  •  People stay in control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4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The solution</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The AI prepares every reply — a person approves and sends it</a:t>
            </a:r>
            <a:endParaRPr lang="en-US" sz="1600" dirty="0"/>
          </a:p>
        </p:txBody>
      </p:sp>
      <p:sp>
        <p:nvSpPr>
          <p:cNvPr id="6" name="Shape 4"/>
          <p:cNvSpPr/>
          <p:nvPr/>
        </p:nvSpPr>
        <p:spPr>
          <a:xfrm>
            <a:off x="548640" y="2103120"/>
            <a:ext cx="1302759" cy="1097280"/>
          </a:xfrm>
          <a:prstGeom prst="roundRect">
            <a:avLst>
              <a:gd name="adj" fmla="val 10000"/>
            </a:avLst>
          </a:prstGeom>
          <a:solidFill>
            <a:srgbClr val="E2F3F0"/>
          </a:solidFill>
          <a:ln w="12700">
            <a:solidFill>
              <a:srgbClr val="0E9384"/>
            </a:solidFill>
            <a:prstDash val="solid"/>
          </a:ln>
        </p:spPr>
      </p:sp>
      <p:sp>
        <p:nvSpPr>
          <p:cNvPr id="7" name="Text 5"/>
          <p:cNvSpPr txBox="1"/>
          <p:nvPr/>
        </p:nvSpPr>
        <p:spPr>
          <a:xfrm>
            <a:off x="594360" y="2103120"/>
            <a:ext cx="1211319" cy="109728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Email</a:t>
            </a:r>
            <a:endParaRPr lang="en-US" sz="1500" dirty="0"/>
          </a:p>
        </p:txBody>
      </p:sp>
      <p:sp>
        <p:nvSpPr>
          <p:cNvPr id="8" name="Shape 6"/>
          <p:cNvSpPr/>
          <p:nvPr/>
        </p:nvSpPr>
        <p:spPr>
          <a:xfrm>
            <a:off x="1887975" y="2651760"/>
            <a:ext cx="256032" cy="914"/>
          </a:xfrm>
          <a:prstGeom prst="line">
            <a:avLst/>
          </a:prstGeom>
          <a:noFill/>
          <a:ln w="22225">
            <a:solidFill>
              <a:srgbClr val="5B6678"/>
            </a:solidFill>
            <a:prstDash val="solid"/>
            <a:tailEnd type="triangle"/>
          </a:ln>
        </p:spPr>
      </p:sp>
      <p:sp>
        <p:nvSpPr>
          <p:cNvPr id="9" name="Shape 7"/>
          <p:cNvSpPr/>
          <p:nvPr/>
        </p:nvSpPr>
        <p:spPr>
          <a:xfrm>
            <a:off x="2180583" y="2103120"/>
            <a:ext cx="1302759" cy="1097280"/>
          </a:xfrm>
          <a:prstGeom prst="roundRect">
            <a:avLst>
              <a:gd name="adj" fmla="val 10000"/>
            </a:avLst>
          </a:prstGeom>
          <a:solidFill>
            <a:srgbClr val="E2F3F0"/>
          </a:solidFill>
          <a:ln w="12700">
            <a:solidFill>
              <a:srgbClr val="0E9384"/>
            </a:solidFill>
            <a:prstDash val="solid"/>
          </a:ln>
        </p:spPr>
      </p:sp>
      <p:sp>
        <p:nvSpPr>
          <p:cNvPr id="10" name="Text 8"/>
          <p:cNvSpPr txBox="1"/>
          <p:nvPr/>
        </p:nvSpPr>
        <p:spPr>
          <a:xfrm>
            <a:off x="2226303" y="2103120"/>
            <a:ext cx="1211319" cy="109728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Understand Question</a:t>
            </a:r>
            <a:endParaRPr lang="en-US" sz="1500" dirty="0"/>
          </a:p>
        </p:txBody>
      </p:sp>
      <p:sp>
        <p:nvSpPr>
          <p:cNvPr id="11" name="Shape 9"/>
          <p:cNvSpPr/>
          <p:nvPr/>
        </p:nvSpPr>
        <p:spPr>
          <a:xfrm>
            <a:off x="3519917" y="2651760"/>
            <a:ext cx="256032" cy="914"/>
          </a:xfrm>
          <a:prstGeom prst="line">
            <a:avLst/>
          </a:prstGeom>
          <a:noFill/>
          <a:ln w="22225">
            <a:solidFill>
              <a:srgbClr val="5B6678"/>
            </a:solidFill>
            <a:prstDash val="solid"/>
            <a:tailEnd type="triangle"/>
          </a:ln>
        </p:spPr>
      </p:sp>
      <p:sp>
        <p:nvSpPr>
          <p:cNvPr id="12" name="Shape 10"/>
          <p:cNvSpPr/>
          <p:nvPr/>
        </p:nvSpPr>
        <p:spPr>
          <a:xfrm>
            <a:off x="3812525" y="2103120"/>
            <a:ext cx="1302759" cy="1097280"/>
          </a:xfrm>
          <a:prstGeom prst="roundRect">
            <a:avLst>
              <a:gd name="adj" fmla="val 10000"/>
            </a:avLst>
          </a:prstGeom>
          <a:solidFill>
            <a:srgbClr val="E2F3F0"/>
          </a:solidFill>
          <a:ln w="12700">
            <a:solidFill>
              <a:srgbClr val="0E9384"/>
            </a:solidFill>
            <a:prstDash val="solid"/>
          </a:ln>
        </p:spPr>
      </p:sp>
      <p:sp>
        <p:nvSpPr>
          <p:cNvPr id="13" name="Text 11"/>
          <p:cNvSpPr txBox="1"/>
          <p:nvPr/>
        </p:nvSpPr>
        <p:spPr>
          <a:xfrm>
            <a:off x="3858245" y="2103120"/>
            <a:ext cx="1211319" cy="109728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Search Knowledge</a:t>
            </a:r>
            <a:endParaRPr lang="en-US" sz="1500" dirty="0"/>
          </a:p>
        </p:txBody>
      </p:sp>
      <p:sp>
        <p:nvSpPr>
          <p:cNvPr id="14" name="Shape 12"/>
          <p:cNvSpPr/>
          <p:nvPr/>
        </p:nvSpPr>
        <p:spPr>
          <a:xfrm>
            <a:off x="5151860" y="2651760"/>
            <a:ext cx="256032" cy="914"/>
          </a:xfrm>
          <a:prstGeom prst="line">
            <a:avLst/>
          </a:prstGeom>
          <a:noFill/>
          <a:ln w="22225">
            <a:solidFill>
              <a:srgbClr val="5B6678"/>
            </a:solidFill>
            <a:prstDash val="solid"/>
            <a:tailEnd type="triangle"/>
          </a:ln>
        </p:spPr>
      </p:sp>
      <p:sp>
        <p:nvSpPr>
          <p:cNvPr id="15" name="Shape 13"/>
          <p:cNvSpPr/>
          <p:nvPr/>
        </p:nvSpPr>
        <p:spPr>
          <a:xfrm>
            <a:off x="5444468" y="2103120"/>
            <a:ext cx="1302759" cy="1097280"/>
          </a:xfrm>
          <a:prstGeom prst="roundRect">
            <a:avLst>
              <a:gd name="adj" fmla="val 10000"/>
            </a:avLst>
          </a:prstGeom>
          <a:solidFill>
            <a:srgbClr val="E2F3F0"/>
          </a:solidFill>
          <a:ln w="12700">
            <a:solidFill>
              <a:srgbClr val="0E9384"/>
            </a:solidFill>
            <a:prstDash val="solid"/>
          </a:ln>
        </p:spPr>
      </p:sp>
      <p:sp>
        <p:nvSpPr>
          <p:cNvPr id="16" name="Text 14"/>
          <p:cNvSpPr txBox="1"/>
          <p:nvPr/>
        </p:nvSpPr>
        <p:spPr>
          <a:xfrm>
            <a:off x="5490188" y="2103120"/>
            <a:ext cx="1211319" cy="109728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Generate Answer</a:t>
            </a:r>
            <a:endParaRPr lang="en-US" sz="1500" dirty="0"/>
          </a:p>
        </p:txBody>
      </p:sp>
      <p:sp>
        <p:nvSpPr>
          <p:cNvPr id="17" name="Shape 15"/>
          <p:cNvSpPr/>
          <p:nvPr/>
        </p:nvSpPr>
        <p:spPr>
          <a:xfrm>
            <a:off x="6783803" y="2651760"/>
            <a:ext cx="256032" cy="914"/>
          </a:xfrm>
          <a:prstGeom prst="line">
            <a:avLst/>
          </a:prstGeom>
          <a:noFill/>
          <a:ln w="22225">
            <a:solidFill>
              <a:srgbClr val="5B6678"/>
            </a:solidFill>
            <a:prstDash val="solid"/>
            <a:tailEnd type="triangle"/>
          </a:ln>
        </p:spPr>
      </p:sp>
      <p:sp>
        <p:nvSpPr>
          <p:cNvPr id="18" name="Shape 16"/>
          <p:cNvSpPr/>
          <p:nvPr/>
        </p:nvSpPr>
        <p:spPr>
          <a:xfrm>
            <a:off x="7076411" y="2103120"/>
            <a:ext cx="1302759" cy="1097280"/>
          </a:xfrm>
          <a:prstGeom prst="roundRect">
            <a:avLst>
              <a:gd name="adj" fmla="val 10000"/>
            </a:avLst>
          </a:prstGeom>
          <a:solidFill>
            <a:srgbClr val="E2F3F0"/>
          </a:solidFill>
          <a:ln w="12700">
            <a:solidFill>
              <a:srgbClr val="0E9384"/>
            </a:solidFill>
            <a:prstDash val="solid"/>
          </a:ln>
        </p:spPr>
      </p:sp>
      <p:sp>
        <p:nvSpPr>
          <p:cNvPr id="19" name="Text 17"/>
          <p:cNvSpPr txBox="1"/>
          <p:nvPr/>
        </p:nvSpPr>
        <p:spPr>
          <a:xfrm>
            <a:off x="7122131" y="2103120"/>
            <a:ext cx="1211319" cy="109728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Create Draft</a:t>
            </a:r>
            <a:endParaRPr lang="en-US" sz="1500" dirty="0"/>
          </a:p>
        </p:txBody>
      </p:sp>
      <p:sp>
        <p:nvSpPr>
          <p:cNvPr id="20" name="Shape 18"/>
          <p:cNvSpPr/>
          <p:nvPr/>
        </p:nvSpPr>
        <p:spPr>
          <a:xfrm>
            <a:off x="8415746" y="2651760"/>
            <a:ext cx="256032" cy="914"/>
          </a:xfrm>
          <a:prstGeom prst="line">
            <a:avLst/>
          </a:prstGeom>
          <a:noFill/>
          <a:ln w="22225">
            <a:solidFill>
              <a:srgbClr val="5B6678"/>
            </a:solidFill>
            <a:prstDash val="solid"/>
            <a:tailEnd type="triangle"/>
          </a:ln>
        </p:spPr>
      </p:sp>
      <p:sp>
        <p:nvSpPr>
          <p:cNvPr id="21" name="Shape 19"/>
          <p:cNvSpPr/>
          <p:nvPr/>
        </p:nvSpPr>
        <p:spPr>
          <a:xfrm>
            <a:off x="8708354" y="2103120"/>
            <a:ext cx="1302759" cy="1097280"/>
          </a:xfrm>
          <a:prstGeom prst="roundRect">
            <a:avLst>
              <a:gd name="adj" fmla="val 10000"/>
            </a:avLst>
          </a:prstGeom>
          <a:solidFill>
            <a:srgbClr val="FCEFDF"/>
          </a:solidFill>
          <a:ln w="12700">
            <a:solidFill>
              <a:srgbClr val="D97F1E"/>
            </a:solidFill>
            <a:prstDash val="solid"/>
          </a:ln>
        </p:spPr>
      </p:sp>
      <p:sp>
        <p:nvSpPr>
          <p:cNvPr id="22" name="Text 20"/>
          <p:cNvSpPr txBox="1"/>
          <p:nvPr/>
        </p:nvSpPr>
        <p:spPr>
          <a:xfrm>
            <a:off x="8754074" y="2103120"/>
            <a:ext cx="1211319" cy="109728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Human Review</a:t>
            </a:r>
            <a:endParaRPr lang="en-US" sz="1500" dirty="0"/>
          </a:p>
        </p:txBody>
      </p:sp>
      <p:sp>
        <p:nvSpPr>
          <p:cNvPr id="23" name="Shape 21"/>
          <p:cNvSpPr/>
          <p:nvPr/>
        </p:nvSpPr>
        <p:spPr>
          <a:xfrm>
            <a:off x="10047688" y="2651760"/>
            <a:ext cx="256032" cy="914"/>
          </a:xfrm>
          <a:prstGeom prst="line">
            <a:avLst/>
          </a:prstGeom>
          <a:noFill/>
          <a:ln w="22225">
            <a:solidFill>
              <a:srgbClr val="5B6678"/>
            </a:solidFill>
            <a:prstDash val="solid"/>
            <a:tailEnd type="triangle"/>
          </a:ln>
        </p:spPr>
      </p:sp>
      <p:sp>
        <p:nvSpPr>
          <p:cNvPr id="24" name="Shape 22"/>
          <p:cNvSpPr/>
          <p:nvPr/>
        </p:nvSpPr>
        <p:spPr>
          <a:xfrm>
            <a:off x="10340296" y="2103120"/>
            <a:ext cx="1302759" cy="1097280"/>
          </a:xfrm>
          <a:prstGeom prst="roundRect">
            <a:avLst>
              <a:gd name="adj" fmla="val 10000"/>
            </a:avLst>
          </a:prstGeom>
          <a:solidFill>
            <a:srgbClr val="FCEFDF"/>
          </a:solidFill>
          <a:ln w="12700">
            <a:solidFill>
              <a:srgbClr val="D97F1E"/>
            </a:solidFill>
            <a:prstDash val="solid"/>
          </a:ln>
        </p:spPr>
      </p:sp>
      <p:sp>
        <p:nvSpPr>
          <p:cNvPr id="25" name="Text 23"/>
          <p:cNvSpPr txBox="1"/>
          <p:nvPr/>
        </p:nvSpPr>
        <p:spPr>
          <a:xfrm>
            <a:off x="10386016" y="2103120"/>
            <a:ext cx="1211319" cy="109728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Human Sends Email</a:t>
            </a:r>
            <a:endParaRPr lang="en-US" sz="1500" dirty="0"/>
          </a:p>
        </p:txBody>
      </p:sp>
      <p:sp>
        <p:nvSpPr>
          <p:cNvPr id="26" name="Shape 24"/>
          <p:cNvSpPr/>
          <p:nvPr/>
        </p:nvSpPr>
        <p:spPr>
          <a:xfrm>
            <a:off x="548640" y="3977640"/>
            <a:ext cx="502920" cy="502920"/>
          </a:xfrm>
          <a:prstGeom prst="ellipse">
            <a:avLst/>
          </a:prstGeom>
          <a:solidFill>
            <a:srgbClr val="0E9384"/>
          </a:solidFill>
          <a:ln w="12700">
            <a:solidFill>
              <a:srgbClr val="0E9384"/>
            </a:solidFill>
            <a:prstDash val="solid"/>
          </a:ln>
        </p:spPr>
      </p:sp>
      <p:pic>
        <p:nvPicPr>
          <p:cNvPr id="27" name="Image 0" descr="preencoded.png"/>
          <p:cNvPicPr>
            <a:picLocks noChangeAspect="1"/>
          </p:cNvPicPr>
          <p:nvPr/>
        </p:nvPicPr>
        <p:blipFill>
          <a:blip r:embed="rId3"/>
          <a:stretch>
            <a:fillRect/>
          </a:stretch>
        </p:blipFill>
        <p:spPr>
          <a:xfrm>
            <a:off x="679399" y="4108399"/>
            <a:ext cx="241402" cy="241402"/>
          </a:xfrm>
          <a:prstGeom prst="rect">
            <a:avLst/>
          </a:prstGeom>
        </p:spPr>
      </p:pic>
      <p:sp>
        <p:nvSpPr>
          <p:cNvPr id="28" name="Text 25"/>
          <p:cNvSpPr txBox="1"/>
          <p:nvPr/>
        </p:nvSpPr>
        <p:spPr>
          <a:xfrm>
            <a:off x="1252728" y="3959352"/>
            <a:ext cx="2862072" cy="310896"/>
          </a:xfrm>
          <a:prstGeom prst="rect">
            <a:avLst/>
          </a:prstGeom>
          <a:noFill/>
          <a:ln/>
        </p:spPr>
        <p:txBody>
          <a:bodyPr wrap="square" lIns="0" tIns="0" rIns="0" bIns="0" rtlCol="0" anchor="t"/>
          <a:lstStyle/>
          <a:p>
            <a:pPr marL="0" indent="0">
              <a:buNone/>
            </a:pPr>
            <a:r>
              <a:rPr lang="en-US" sz="1600" b="1" dirty="0">
                <a:solidFill>
                  <a:srgbClr val="1B2433"/>
                </a:solidFill>
                <a:latin typeface="Calibri" pitchFamily="34" charset="0"/>
                <a:ea typeface="Calibri" pitchFamily="34" charset="-122"/>
                <a:cs typeface="Calibri" pitchFamily="34" charset="-120"/>
              </a:rPr>
              <a:t>Faster replies</a:t>
            </a:r>
            <a:endParaRPr lang="en-US" sz="1600" dirty="0"/>
          </a:p>
        </p:txBody>
      </p:sp>
      <p:sp>
        <p:nvSpPr>
          <p:cNvPr id="29" name="Text 26"/>
          <p:cNvSpPr txBox="1"/>
          <p:nvPr/>
        </p:nvSpPr>
        <p:spPr>
          <a:xfrm>
            <a:off x="1252728" y="4270248"/>
            <a:ext cx="2862072" cy="38404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The first draft is ready in moments.</a:t>
            </a:r>
            <a:endParaRPr lang="en-US" sz="1300" dirty="0"/>
          </a:p>
        </p:txBody>
      </p:sp>
      <p:sp>
        <p:nvSpPr>
          <p:cNvPr id="30" name="Shape 27"/>
          <p:cNvSpPr/>
          <p:nvPr/>
        </p:nvSpPr>
        <p:spPr>
          <a:xfrm>
            <a:off x="4297680" y="3977640"/>
            <a:ext cx="502920" cy="502920"/>
          </a:xfrm>
          <a:prstGeom prst="ellipse">
            <a:avLst/>
          </a:prstGeom>
          <a:solidFill>
            <a:srgbClr val="0E9384"/>
          </a:solidFill>
          <a:ln w="12700">
            <a:solidFill>
              <a:srgbClr val="0E9384"/>
            </a:solidFill>
            <a:prstDash val="solid"/>
          </a:ln>
        </p:spPr>
      </p:sp>
      <p:pic>
        <p:nvPicPr>
          <p:cNvPr id="31" name="Image 1" descr="preencoded.png"/>
          <p:cNvPicPr>
            <a:picLocks noChangeAspect="1"/>
          </p:cNvPicPr>
          <p:nvPr/>
        </p:nvPicPr>
        <p:blipFill>
          <a:blip r:embed="rId4"/>
          <a:stretch>
            <a:fillRect/>
          </a:stretch>
        </p:blipFill>
        <p:spPr>
          <a:xfrm>
            <a:off x="4428439" y="4108399"/>
            <a:ext cx="241402" cy="241402"/>
          </a:xfrm>
          <a:prstGeom prst="rect">
            <a:avLst/>
          </a:prstGeom>
        </p:spPr>
      </p:pic>
      <p:sp>
        <p:nvSpPr>
          <p:cNvPr id="32" name="Text 28"/>
          <p:cNvSpPr txBox="1"/>
          <p:nvPr/>
        </p:nvSpPr>
        <p:spPr>
          <a:xfrm>
            <a:off x="5001768" y="3959352"/>
            <a:ext cx="2862072" cy="310896"/>
          </a:xfrm>
          <a:prstGeom prst="rect">
            <a:avLst/>
          </a:prstGeom>
          <a:noFill/>
          <a:ln/>
        </p:spPr>
        <p:txBody>
          <a:bodyPr wrap="square" lIns="0" tIns="0" rIns="0" bIns="0" rtlCol="0" anchor="t"/>
          <a:lstStyle/>
          <a:p>
            <a:pPr marL="0" indent="0">
              <a:buNone/>
            </a:pPr>
            <a:r>
              <a:rPr lang="en-US" sz="1600" b="1" dirty="0">
                <a:solidFill>
                  <a:srgbClr val="1B2433"/>
                </a:solidFill>
                <a:latin typeface="Calibri" pitchFamily="34" charset="0"/>
                <a:ea typeface="Calibri" pitchFamily="34" charset="-122"/>
                <a:cs typeface="Calibri" pitchFamily="34" charset="-120"/>
              </a:rPr>
              <a:t>Grounded answers</a:t>
            </a:r>
            <a:endParaRPr lang="en-US" sz="1600" dirty="0"/>
          </a:p>
        </p:txBody>
      </p:sp>
      <p:sp>
        <p:nvSpPr>
          <p:cNvPr id="33" name="Text 29"/>
          <p:cNvSpPr txBox="1"/>
          <p:nvPr/>
        </p:nvSpPr>
        <p:spPr>
          <a:xfrm>
            <a:off x="5001768" y="4270248"/>
            <a:ext cx="2862072" cy="38404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Replies are based on your documents.</a:t>
            </a:r>
            <a:endParaRPr lang="en-US" sz="1300" dirty="0"/>
          </a:p>
        </p:txBody>
      </p:sp>
      <p:sp>
        <p:nvSpPr>
          <p:cNvPr id="34" name="Shape 30"/>
          <p:cNvSpPr/>
          <p:nvPr/>
        </p:nvSpPr>
        <p:spPr>
          <a:xfrm>
            <a:off x="8046720" y="3977640"/>
            <a:ext cx="502920" cy="502920"/>
          </a:xfrm>
          <a:prstGeom prst="ellipse">
            <a:avLst/>
          </a:prstGeom>
          <a:solidFill>
            <a:srgbClr val="D97F1E"/>
          </a:solidFill>
          <a:ln w="12700">
            <a:solidFill>
              <a:srgbClr val="D97F1E"/>
            </a:solidFill>
            <a:prstDash val="solid"/>
          </a:ln>
        </p:spPr>
      </p:sp>
      <p:pic>
        <p:nvPicPr>
          <p:cNvPr id="35" name="Image 2" descr="preencoded.png"/>
          <p:cNvPicPr>
            <a:picLocks noChangeAspect="1"/>
          </p:cNvPicPr>
          <p:nvPr/>
        </p:nvPicPr>
        <p:blipFill>
          <a:blip r:embed="rId5"/>
          <a:stretch>
            <a:fillRect/>
          </a:stretch>
        </p:blipFill>
        <p:spPr>
          <a:xfrm>
            <a:off x="8177479" y="4108399"/>
            <a:ext cx="241402" cy="241402"/>
          </a:xfrm>
          <a:prstGeom prst="rect">
            <a:avLst/>
          </a:prstGeom>
        </p:spPr>
      </p:pic>
      <p:sp>
        <p:nvSpPr>
          <p:cNvPr id="36" name="Text 31"/>
          <p:cNvSpPr txBox="1"/>
          <p:nvPr/>
        </p:nvSpPr>
        <p:spPr>
          <a:xfrm>
            <a:off x="8750808" y="3959352"/>
            <a:ext cx="2862072" cy="310896"/>
          </a:xfrm>
          <a:prstGeom prst="rect">
            <a:avLst/>
          </a:prstGeom>
          <a:noFill/>
          <a:ln/>
        </p:spPr>
        <p:txBody>
          <a:bodyPr wrap="square" lIns="0" tIns="0" rIns="0" bIns="0" rtlCol="0" anchor="t"/>
          <a:lstStyle/>
          <a:p>
            <a:pPr marL="0" indent="0">
              <a:buNone/>
            </a:pPr>
            <a:r>
              <a:rPr lang="en-US" sz="1600" b="1" dirty="0">
                <a:solidFill>
                  <a:srgbClr val="1B2433"/>
                </a:solidFill>
                <a:latin typeface="Calibri" pitchFamily="34" charset="0"/>
                <a:ea typeface="Calibri" pitchFamily="34" charset="-122"/>
                <a:cs typeface="Calibri" pitchFamily="34" charset="-120"/>
              </a:rPr>
              <a:t>Human control</a:t>
            </a:r>
            <a:endParaRPr lang="en-US" sz="1600" dirty="0"/>
          </a:p>
        </p:txBody>
      </p:sp>
      <p:sp>
        <p:nvSpPr>
          <p:cNvPr id="37" name="Text 32"/>
          <p:cNvSpPr txBox="1"/>
          <p:nvPr/>
        </p:nvSpPr>
        <p:spPr>
          <a:xfrm>
            <a:off x="8750808" y="4270248"/>
            <a:ext cx="2862072" cy="38404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Nothing is sent without a person.</a:t>
            </a:r>
            <a:endParaRPr lang="en-US" sz="1300" dirty="0"/>
          </a:p>
        </p:txBody>
      </p:sp>
      <p:sp>
        <p:nvSpPr>
          <p:cNvPr id="38" name="Shape 33"/>
          <p:cNvSpPr/>
          <p:nvPr/>
        </p:nvSpPr>
        <p:spPr>
          <a:xfrm>
            <a:off x="548640" y="5897880"/>
            <a:ext cx="256032" cy="201168"/>
          </a:xfrm>
          <a:prstGeom prst="roundRect">
            <a:avLst>
              <a:gd name="adj" fmla="val 54545"/>
            </a:avLst>
          </a:prstGeom>
          <a:solidFill>
            <a:srgbClr val="E2F3F0"/>
          </a:solidFill>
          <a:ln w="12700">
            <a:solidFill>
              <a:srgbClr val="0E9384"/>
            </a:solidFill>
            <a:prstDash val="solid"/>
          </a:ln>
        </p:spPr>
      </p:sp>
      <p:sp>
        <p:nvSpPr>
          <p:cNvPr id="39" name="Text 34"/>
          <p:cNvSpPr txBox="1"/>
          <p:nvPr/>
        </p:nvSpPr>
        <p:spPr>
          <a:xfrm>
            <a:off x="896112" y="5861304"/>
            <a:ext cx="1463040" cy="274320"/>
          </a:xfrm>
          <a:prstGeom prst="rect">
            <a:avLst/>
          </a:prstGeom>
          <a:noFill/>
          <a:ln/>
        </p:spPr>
        <p:txBody>
          <a:bodyPr wrap="square" lIns="0" tIns="0" rIns="0" bIns="0" rtlCol="0" anchor="ctr"/>
          <a:lstStyle/>
          <a:p>
            <a:pPr marL="0" indent="0">
              <a:buNone/>
            </a:pPr>
            <a:r>
              <a:rPr lang="en-US" sz="1200" dirty="0">
                <a:solidFill>
                  <a:srgbClr val="5B6678"/>
                </a:solidFill>
                <a:latin typeface="Calibri" pitchFamily="34" charset="0"/>
                <a:ea typeface="Calibri" pitchFamily="34" charset="-122"/>
                <a:cs typeface="Calibri" pitchFamily="34" charset="-120"/>
              </a:rPr>
              <a:t>AI does this</a:t>
            </a:r>
            <a:endParaRPr lang="en-US" sz="1200" dirty="0"/>
          </a:p>
        </p:txBody>
      </p:sp>
      <p:sp>
        <p:nvSpPr>
          <p:cNvPr id="40" name="Shape 35"/>
          <p:cNvSpPr/>
          <p:nvPr/>
        </p:nvSpPr>
        <p:spPr>
          <a:xfrm>
            <a:off x="2377440" y="5897880"/>
            <a:ext cx="256032" cy="201168"/>
          </a:xfrm>
          <a:prstGeom prst="roundRect">
            <a:avLst>
              <a:gd name="adj" fmla="val 54545"/>
            </a:avLst>
          </a:prstGeom>
          <a:solidFill>
            <a:srgbClr val="FCEFDF"/>
          </a:solidFill>
          <a:ln w="12700">
            <a:solidFill>
              <a:srgbClr val="D97F1E"/>
            </a:solidFill>
            <a:prstDash val="solid"/>
          </a:ln>
        </p:spPr>
      </p:sp>
      <p:sp>
        <p:nvSpPr>
          <p:cNvPr id="41" name="Text 36"/>
          <p:cNvSpPr txBox="1"/>
          <p:nvPr/>
        </p:nvSpPr>
        <p:spPr>
          <a:xfrm>
            <a:off x="2724912" y="5861304"/>
            <a:ext cx="2011680" cy="274320"/>
          </a:xfrm>
          <a:prstGeom prst="rect">
            <a:avLst/>
          </a:prstGeom>
          <a:noFill/>
          <a:ln/>
        </p:spPr>
        <p:txBody>
          <a:bodyPr wrap="square" lIns="0" tIns="0" rIns="0" bIns="0" rtlCol="0" anchor="ctr"/>
          <a:lstStyle/>
          <a:p>
            <a:pPr marL="0" indent="0">
              <a:buNone/>
            </a:pPr>
            <a:r>
              <a:rPr lang="en-US" sz="1200" dirty="0">
                <a:solidFill>
                  <a:srgbClr val="5B6678"/>
                </a:solidFill>
                <a:latin typeface="Calibri" pitchFamily="34" charset="0"/>
                <a:ea typeface="Calibri" pitchFamily="34" charset="-122"/>
                <a:cs typeface="Calibri" pitchFamily="34" charset="-120"/>
              </a:rPr>
              <a:t>A person does this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5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Two ways to use the project</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Both use the same Knowledge Base and the same AI</a:t>
            </a:r>
            <a:endParaRPr lang="en-US" sz="1600" dirty="0"/>
          </a:p>
        </p:txBody>
      </p:sp>
      <p:sp>
        <p:nvSpPr>
          <p:cNvPr id="6" name="Shape 4"/>
          <p:cNvSpPr/>
          <p:nvPr/>
        </p:nvSpPr>
        <p:spPr>
          <a:xfrm>
            <a:off x="548640" y="1645920"/>
            <a:ext cx="5303520" cy="4572000"/>
          </a:xfrm>
          <a:prstGeom prst="roundRect">
            <a:avLst>
              <a:gd name="adj" fmla="val 2400"/>
            </a:avLst>
          </a:prstGeom>
          <a:solidFill>
            <a:srgbClr val="F4F7FA"/>
          </a:solidFill>
          <a:ln w="12700">
            <a:solidFill>
              <a:srgbClr val="F4F7FA"/>
            </a:solidFill>
            <a:prstDash val="solid"/>
          </a:ln>
        </p:spPr>
      </p:sp>
      <p:sp>
        <p:nvSpPr>
          <p:cNvPr id="7" name="Shape 5"/>
          <p:cNvSpPr/>
          <p:nvPr/>
        </p:nvSpPr>
        <p:spPr>
          <a:xfrm>
            <a:off x="822960" y="1828800"/>
            <a:ext cx="548640" cy="548640"/>
          </a:xfrm>
          <a:prstGeom prst="ellipse">
            <a:avLst/>
          </a:prstGeom>
          <a:solidFill>
            <a:srgbClr val="0E9384"/>
          </a:solidFill>
          <a:ln w="12700">
            <a:solidFill>
              <a:srgbClr val="0E9384"/>
            </a:solidFill>
            <a:prstDash val="solid"/>
          </a:ln>
        </p:spPr>
      </p:sp>
      <p:pic>
        <p:nvPicPr>
          <p:cNvPr id="8" name="Image 0" descr="preencoded.png"/>
          <p:cNvPicPr>
            <a:picLocks noChangeAspect="1"/>
          </p:cNvPicPr>
          <p:nvPr/>
        </p:nvPicPr>
        <p:blipFill>
          <a:blip r:embed="rId3"/>
          <a:stretch>
            <a:fillRect/>
          </a:stretch>
        </p:blipFill>
        <p:spPr>
          <a:xfrm>
            <a:off x="965606" y="1971446"/>
            <a:ext cx="263347" cy="263347"/>
          </a:xfrm>
          <a:prstGeom prst="rect">
            <a:avLst/>
          </a:prstGeom>
        </p:spPr>
      </p:pic>
      <p:sp>
        <p:nvSpPr>
          <p:cNvPr id="9" name="Text 6"/>
          <p:cNvSpPr txBox="1"/>
          <p:nvPr/>
        </p:nvSpPr>
        <p:spPr>
          <a:xfrm>
            <a:off x="1508760" y="1828800"/>
            <a:ext cx="4114800" cy="320040"/>
          </a:xfrm>
          <a:prstGeom prst="rect">
            <a:avLst/>
          </a:prstGeom>
          <a:noFill/>
          <a:ln/>
        </p:spPr>
        <p:txBody>
          <a:bodyPr wrap="square" lIns="0" tIns="0" rIns="0" bIns="0" rtlCol="0" anchor="ctr"/>
          <a:lstStyle/>
          <a:p>
            <a:pPr marL="0" indent="0">
              <a:buNone/>
            </a:pPr>
            <a:r>
              <a:rPr lang="en-US" sz="1800" b="1" dirty="0">
                <a:solidFill>
                  <a:srgbClr val="1B2433"/>
                </a:solidFill>
                <a:latin typeface="Calibri" pitchFamily="34" charset="0"/>
                <a:ea typeface="Calibri" pitchFamily="34" charset="-122"/>
                <a:cs typeface="Calibri" pitchFamily="34" charset="-120"/>
              </a:rPr>
              <a:t>Mode 1 — Knowledge Base Test</a:t>
            </a:r>
            <a:endParaRPr lang="en-US" sz="1800" dirty="0"/>
          </a:p>
        </p:txBody>
      </p:sp>
      <p:sp>
        <p:nvSpPr>
          <p:cNvPr id="10" name="Text 7"/>
          <p:cNvSpPr txBox="1"/>
          <p:nvPr/>
        </p:nvSpPr>
        <p:spPr>
          <a:xfrm>
            <a:off x="1508760" y="2157984"/>
            <a:ext cx="2194560" cy="256032"/>
          </a:xfrm>
          <a:prstGeom prst="rect">
            <a:avLst/>
          </a:prstGeom>
          <a:noFill/>
          <a:ln/>
        </p:spPr>
        <p:txBody>
          <a:bodyPr wrap="square" lIns="0" tIns="0" rIns="0" bIns="0" rtlCol="0" anchor="ctr"/>
          <a:lstStyle/>
          <a:p>
            <a:pPr marL="0" indent="0">
              <a:buNone/>
            </a:pPr>
            <a:r>
              <a:rPr lang="en-US" sz="1200" b="1" dirty="0">
                <a:solidFill>
                  <a:srgbClr val="0E9384"/>
                </a:solidFill>
                <a:latin typeface="Calibri" pitchFamily="34" charset="0"/>
                <a:ea typeface="Calibri" pitchFamily="34" charset="-122"/>
                <a:cs typeface="Calibri" pitchFamily="34" charset="-120"/>
              </a:rPr>
              <a:t>No Gmail needed</a:t>
            </a:r>
            <a:endParaRPr lang="en-US" sz="1200" dirty="0"/>
          </a:p>
        </p:txBody>
      </p:sp>
      <p:sp>
        <p:nvSpPr>
          <p:cNvPr id="11" name="Shape 8"/>
          <p:cNvSpPr/>
          <p:nvPr/>
        </p:nvSpPr>
        <p:spPr>
          <a:xfrm>
            <a:off x="1463040" y="2651760"/>
            <a:ext cx="3474720" cy="457200"/>
          </a:xfrm>
          <a:prstGeom prst="roundRect">
            <a:avLst>
              <a:gd name="adj" fmla="val 24000"/>
            </a:avLst>
          </a:prstGeom>
          <a:solidFill>
            <a:srgbClr val="E2F3F0"/>
          </a:solidFill>
          <a:ln w="12700">
            <a:solidFill>
              <a:srgbClr val="0E9384"/>
            </a:solidFill>
            <a:prstDash val="solid"/>
          </a:ln>
        </p:spPr>
      </p:sp>
      <p:sp>
        <p:nvSpPr>
          <p:cNvPr id="12" name="Text 9"/>
          <p:cNvSpPr txBox="1"/>
          <p:nvPr/>
        </p:nvSpPr>
        <p:spPr>
          <a:xfrm>
            <a:off x="1554480" y="2651760"/>
            <a:ext cx="3291840" cy="457200"/>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Upload Document</a:t>
            </a:r>
            <a:endParaRPr lang="en-US" sz="1400" dirty="0"/>
          </a:p>
        </p:txBody>
      </p:sp>
      <p:sp>
        <p:nvSpPr>
          <p:cNvPr id="13" name="Shape 10"/>
          <p:cNvSpPr/>
          <p:nvPr/>
        </p:nvSpPr>
        <p:spPr>
          <a:xfrm>
            <a:off x="3200400" y="3127248"/>
            <a:ext cx="914" cy="164592"/>
          </a:xfrm>
          <a:prstGeom prst="line">
            <a:avLst/>
          </a:prstGeom>
          <a:noFill/>
          <a:ln w="22225">
            <a:solidFill>
              <a:srgbClr val="5B6678"/>
            </a:solidFill>
            <a:prstDash val="solid"/>
            <a:tailEnd type="triangle"/>
          </a:ln>
        </p:spPr>
      </p:sp>
      <p:sp>
        <p:nvSpPr>
          <p:cNvPr id="14" name="Shape 11"/>
          <p:cNvSpPr/>
          <p:nvPr/>
        </p:nvSpPr>
        <p:spPr>
          <a:xfrm>
            <a:off x="1463040" y="3310128"/>
            <a:ext cx="3474720" cy="457200"/>
          </a:xfrm>
          <a:prstGeom prst="roundRect">
            <a:avLst>
              <a:gd name="adj" fmla="val 24000"/>
            </a:avLst>
          </a:prstGeom>
          <a:solidFill>
            <a:srgbClr val="E2F3F0"/>
          </a:solidFill>
          <a:ln w="12700">
            <a:solidFill>
              <a:srgbClr val="0E9384"/>
            </a:solidFill>
            <a:prstDash val="solid"/>
          </a:ln>
        </p:spPr>
      </p:sp>
      <p:sp>
        <p:nvSpPr>
          <p:cNvPr id="15" name="Text 12"/>
          <p:cNvSpPr txBox="1"/>
          <p:nvPr/>
        </p:nvSpPr>
        <p:spPr>
          <a:xfrm>
            <a:off x="1554480" y="3310128"/>
            <a:ext cx="3291840" cy="457200"/>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Ask Question</a:t>
            </a:r>
            <a:endParaRPr lang="en-US" sz="1400" dirty="0"/>
          </a:p>
        </p:txBody>
      </p:sp>
      <p:sp>
        <p:nvSpPr>
          <p:cNvPr id="16" name="Shape 13"/>
          <p:cNvSpPr/>
          <p:nvPr/>
        </p:nvSpPr>
        <p:spPr>
          <a:xfrm>
            <a:off x="3200400" y="3785616"/>
            <a:ext cx="914" cy="164592"/>
          </a:xfrm>
          <a:prstGeom prst="line">
            <a:avLst/>
          </a:prstGeom>
          <a:noFill/>
          <a:ln w="22225">
            <a:solidFill>
              <a:srgbClr val="5B6678"/>
            </a:solidFill>
            <a:prstDash val="solid"/>
            <a:tailEnd type="triangle"/>
          </a:ln>
        </p:spPr>
      </p:sp>
      <p:sp>
        <p:nvSpPr>
          <p:cNvPr id="17" name="Shape 14"/>
          <p:cNvSpPr/>
          <p:nvPr/>
        </p:nvSpPr>
        <p:spPr>
          <a:xfrm>
            <a:off x="1463040" y="3968496"/>
            <a:ext cx="3474720" cy="457200"/>
          </a:xfrm>
          <a:prstGeom prst="roundRect">
            <a:avLst>
              <a:gd name="adj" fmla="val 24000"/>
            </a:avLst>
          </a:prstGeom>
          <a:solidFill>
            <a:srgbClr val="E2F3F0"/>
          </a:solidFill>
          <a:ln w="12700">
            <a:solidFill>
              <a:srgbClr val="0E9384"/>
            </a:solidFill>
            <a:prstDash val="solid"/>
          </a:ln>
        </p:spPr>
      </p:sp>
      <p:sp>
        <p:nvSpPr>
          <p:cNvPr id="18" name="Text 15"/>
          <p:cNvSpPr txBox="1"/>
          <p:nvPr/>
        </p:nvSpPr>
        <p:spPr>
          <a:xfrm>
            <a:off x="1554480" y="3968496"/>
            <a:ext cx="3291840" cy="457200"/>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Search Knowledge</a:t>
            </a:r>
            <a:endParaRPr lang="en-US" sz="1400" dirty="0"/>
          </a:p>
        </p:txBody>
      </p:sp>
      <p:sp>
        <p:nvSpPr>
          <p:cNvPr id="19" name="Shape 16"/>
          <p:cNvSpPr/>
          <p:nvPr/>
        </p:nvSpPr>
        <p:spPr>
          <a:xfrm>
            <a:off x="3200400" y="4443984"/>
            <a:ext cx="914" cy="164592"/>
          </a:xfrm>
          <a:prstGeom prst="line">
            <a:avLst/>
          </a:prstGeom>
          <a:noFill/>
          <a:ln w="22225">
            <a:solidFill>
              <a:srgbClr val="5B6678"/>
            </a:solidFill>
            <a:prstDash val="solid"/>
            <a:tailEnd type="triangle"/>
          </a:ln>
        </p:spPr>
      </p:sp>
      <p:sp>
        <p:nvSpPr>
          <p:cNvPr id="20" name="Shape 17"/>
          <p:cNvSpPr/>
          <p:nvPr/>
        </p:nvSpPr>
        <p:spPr>
          <a:xfrm>
            <a:off x="1463040" y="4626864"/>
            <a:ext cx="3474720" cy="457200"/>
          </a:xfrm>
          <a:prstGeom prst="roundRect">
            <a:avLst>
              <a:gd name="adj" fmla="val 24000"/>
            </a:avLst>
          </a:prstGeom>
          <a:solidFill>
            <a:srgbClr val="E2F3F0"/>
          </a:solidFill>
          <a:ln w="12700">
            <a:solidFill>
              <a:srgbClr val="0E9384"/>
            </a:solidFill>
            <a:prstDash val="solid"/>
          </a:ln>
        </p:spPr>
      </p:sp>
      <p:sp>
        <p:nvSpPr>
          <p:cNvPr id="21" name="Text 18"/>
          <p:cNvSpPr txBox="1"/>
          <p:nvPr/>
        </p:nvSpPr>
        <p:spPr>
          <a:xfrm>
            <a:off x="1554480" y="4626864"/>
            <a:ext cx="3291840" cy="457200"/>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Generate Answer</a:t>
            </a:r>
            <a:endParaRPr lang="en-US" sz="1400" dirty="0"/>
          </a:p>
        </p:txBody>
      </p:sp>
      <p:sp>
        <p:nvSpPr>
          <p:cNvPr id="22" name="Shape 19"/>
          <p:cNvSpPr/>
          <p:nvPr/>
        </p:nvSpPr>
        <p:spPr>
          <a:xfrm>
            <a:off x="3200400" y="5102352"/>
            <a:ext cx="914" cy="164592"/>
          </a:xfrm>
          <a:prstGeom prst="line">
            <a:avLst/>
          </a:prstGeom>
          <a:noFill/>
          <a:ln w="22225">
            <a:solidFill>
              <a:srgbClr val="5B6678"/>
            </a:solidFill>
            <a:prstDash val="solid"/>
            <a:tailEnd type="triangle"/>
          </a:ln>
        </p:spPr>
      </p:sp>
      <p:sp>
        <p:nvSpPr>
          <p:cNvPr id="23" name="Shape 20"/>
          <p:cNvSpPr/>
          <p:nvPr/>
        </p:nvSpPr>
        <p:spPr>
          <a:xfrm>
            <a:off x="1463040" y="5285232"/>
            <a:ext cx="3474720" cy="457200"/>
          </a:xfrm>
          <a:prstGeom prst="roundRect">
            <a:avLst>
              <a:gd name="adj" fmla="val 24000"/>
            </a:avLst>
          </a:prstGeom>
          <a:solidFill>
            <a:srgbClr val="E2F3F0"/>
          </a:solidFill>
          <a:ln w="12700">
            <a:solidFill>
              <a:srgbClr val="0E9384"/>
            </a:solidFill>
            <a:prstDash val="solid"/>
          </a:ln>
        </p:spPr>
      </p:sp>
      <p:sp>
        <p:nvSpPr>
          <p:cNvPr id="24" name="Text 21"/>
          <p:cNvSpPr txBox="1"/>
          <p:nvPr/>
        </p:nvSpPr>
        <p:spPr>
          <a:xfrm>
            <a:off x="1554480" y="5285232"/>
            <a:ext cx="3291840" cy="457200"/>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Display Answer</a:t>
            </a:r>
            <a:endParaRPr lang="en-US" sz="1400" dirty="0"/>
          </a:p>
        </p:txBody>
      </p:sp>
      <p:sp>
        <p:nvSpPr>
          <p:cNvPr id="25" name="Shape 22"/>
          <p:cNvSpPr/>
          <p:nvPr/>
        </p:nvSpPr>
        <p:spPr>
          <a:xfrm>
            <a:off x="6336792" y="1645920"/>
            <a:ext cx="5303520" cy="4572000"/>
          </a:xfrm>
          <a:prstGeom prst="roundRect">
            <a:avLst>
              <a:gd name="adj" fmla="val 2400"/>
            </a:avLst>
          </a:prstGeom>
          <a:solidFill>
            <a:srgbClr val="F4F7FA"/>
          </a:solidFill>
          <a:ln w="12700">
            <a:solidFill>
              <a:srgbClr val="F4F7FA"/>
            </a:solidFill>
            <a:prstDash val="solid"/>
          </a:ln>
        </p:spPr>
      </p:sp>
      <p:sp>
        <p:nvSpPr>
          <p:cNvPr id="26" name="Shape 23"/>
          <p:cNvSpPr/>
          <p:nvPr/>
        </p:nvSpPr>
        <p:spPr>
          <a:xfrm>
            <a:off x="6611112" y="1828800"/>
            <a:ext cx="548640" cy="548640"/>
          </a:xfrm>
          <a:prstGeom prst="ellipse">
            <a:avLst/>
          </a:prstGeom>
          <a:solidFill>
            <a:srgbClr val="1D3357"/>
          </a:solidFill>
          <a:ln w="12700">
            <a:solidFill>
              <a:srgbClr val="1D3357"/>
            </a:solidFill>
            <a:prstDash val="solid"/>
          </a:ln>
        </p:spPr>
      </p:sp>
      <p:pic>
        <p:nvPicPr>
          <p:cNvPr id="27" name="Image 1" descr="preencoded.png"/>
          <p:cNvPicPr>
            <a:picLocks noChangeAspect="1"/>
          </p:cNvPicPr>
          <p:nvPr/>
        </p:nvPicPr>
        <p:blipFill>
          <a:blip r:embed="rId4"/>
          <a:stretch>
            <a:fillRect/>
          </a:stretch>
        </p:blipFill>
        <p:spPr>
          <a:xfrm>
            <a:off x="6753758" y="1971446"/>
            <a:ext cx="263347" cy="263347"/>
          </a:xfrm>
          <a:prstGeom prst="rect">
            <a:avLst/>
          </a:prstGeom>
        </p:spPr>
      </p:pic>
      <p:sp>
        <p:nvSpPr>
          <p:cNvPr id="28" name="Text 24"/>
          <p:cNvSpPr txBox="1"/>
          <p:nvPr/>
        </p:nvSpPr>
        <p:spPr>
          <a:xfrm>
            <a:off x="7296912" y="1828800"/>
            <a:ext cx="4114800" cy="320040"/>
          </a:xfrm>
          <a:prstGeom prst="rect">
            <a:avLst/>
          </a:prstGeom>
          <a:noFill/>
          <a:ln/>
        </p:spPr>
        <p:txBody>
          <a:bodyPr wrap="square" lIns="0" tIns="0" rIns="0" bIns="0" rtlCol="0" anchor="ctr"/>
          <a:lstStyle/>
          <a:p>
            <a:pPr marL="0" indent="0">
              <a:buNone/>
            </a:pPr>
            <a:r>
              <a:rPr lang="en-US" sz="1800" b="1" dirty="0">
                <a:solidFill>
                  <a:srgbClr val="1B2433"/>
                </a:solidFill>
                <a:latin typeface="Calibri" pitchFamily="34" charset="0"/>
                <a:ea typeface="Calibri" pitchFamily="34" charset="-122"/>
                <a:cs typeface="Calibri" pitchFamily="34" charset="-120"/>
              </a:rPr>
              <a:t>Mode 2 — Email Assistant</a:t>
            </a:r>
            <a:endParaRPr lang="en-US" sz="1800" dirty="0"/>
          </a:p>
        </p:txBody>
      </p:sp>
      <p:sp>
        <p:nvSpPr>
          <p:cNvPr id="29" name="Text 25"/>
          <p:cNvSpPr txBox="1"/>
          <p:nvPr/>
        </p:nvSpPr>
        <p:spPr>
          <a:xfrm>
            <a:off x="7296912" y="2157984"/>
            <a:ext cx="2194560" cy="256032"/>
          </a:xfrm>
          <a:prstGeom prst="rect">
            <a:avLst/>
          </a:prstGeom>
          <a:noFill/>
          <a:ln/>
        </p:spPr>
        <p:txBody>
          <a:bodyPr wrap="square" lIns="0" tIns="0" rIns="0" bIns="0" rtlCol="0" anchor="ctr"/>
          <a:lstStyle/>
          <a:p>
            <a:pPr marL="0" indent="0">
              <a:buNone/>
            </a:pPr>
            <a:r>
              <a:rPr lang="en-US" sz="1200" b="1" dirty="0">
                <a:solidFill>
                  <a:srgbClr val="1D3357"/>
                </a:solidFill>
                <a:latin typeface="Calibri" pitchFamily="34" charset="0"/>
                <a:ea typeface="Calibri" pitchFamily="34" charset="-122"/>
                <a:cs typeface="Calibri" pitchFamily="34" charset="-120"/>
              </a:rPr>
              <a:t>Gmail connected</a:t>
            </a:r>
            <a:endParaRPr lang="en-US" sz="1200" dirty="0"/>
          </a:p>
        </p:txBody>
      </p:sp>
      <p:sp>
        <p:nvSpPr>
          <p:cNvPr id="30" name="Shape 26"/>
          <p:cNvSpPr/>
          <p:nvPr/>
        </p:nvSpPr>
        <p:spPr>
          <a:xfrm>
            <a:off x="7251192" y="2651760"/>
            <a:ext cx="3474720" cy="384048"/>
          </a:xfrm>
          <a:prstGeom prst="roundRect">
            <a:avLst>
              <a:gd name="adj" fmla="val 28571"/>
            </a:avLst>
          </a:prstGeom>
          <a:solidFill>
            <a:srgbClr val="E2F3F0"/>
          </a:solidFill>
          <a:ln w="12700">
            <a:solidFill>
              <a:srgbClr val="0E9384"/>
            </a:solidFill>
            <a:prstDash val="solid"/>
          </a:ln>
        </p:spPr>
      </p:sp>
      <p:sp>
        <p:nvSpPr>
          <p:cNvPr id="31" name="Text 27"/>
          <p:cNvSpPr txBox="1"/>
          <p:nvPr/>
        </p:nvSpPr>
        <p:spPr>
          <a:xfrm>
            <a:off x="7342632" y="2651760"/>
            <a:ext cx="3291840" cy="384048"/>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Gmail Email</a:t>
            </a:r>
            <a:endParaRPr lang="en-US" sz="1400" dirty="0"/>
          </a:p>
        </p:txBody>
      </p:sp>
      <p:sp>
        <p:nvSpPr>
          <p:cNvPr id="32" name="Shape 28"/>
          <p:cNvSpPr/>
          <p:nvPr/>
        </p:nvSpPr>
        <p:spPr>
          <a:xfrm>
            <a:off x="8988552" y="3054096"/>
            <a:ext cx="914" cy="91440"/>
          </a:xfrm>
          <a:prstGeom prst="line">
            <a:avLst/>
          </a:prstGeom>
          <a:noFill/>
          <a:ln w="22225">
            <a:solidFill>
              <a:srgbClr val="5B6678"/>
            </a:solidFill>
            <a:prstDash val="solid"/>
            <a:tailEnd type="triangle"/>
          </a:ln>
        </p:spPr>
      </p:sp>
      <p:sp>
        <p:nvSpPr>
          <p:cNvPr id="33" name="Shape 29"/>
          <p:cNvSpPr/>
          <p:nvPr/>
        </p:nvSpPr>
        <p:spPr>
          <a:xfrm>
            <a:off x="7251192" y="3163824"/>
            <a:ext cx="3474720" cy="384048"/>
          </a:xfrm>
          <a:prstGeom prst="roundRect">
            <a:avLst>
              <a:gd name="adj" fmla="val 28571"/>
            </a:avLst>
          </a:prstGeom>
          <a:solidFill>
            <a:srgbClr val="E2F3F0"/>
          </a:solidFill>
          <a:ln w="12700">
            <a:solidFill>
              <a:srgbClr val="0E9384"/>
            </a:solidFill>
            <a:prstDash val="solid"/>
          </a:ln>
        </p:spPr>
      </p:sp>
      <p:sp>
        <p:nvSpPr>
          <p:cNvPr id="34" name="Text 30"/>
          <p:cNvSpPr txBox="1"/>
          <p:nvPr/>
        </p:nvSpPr>
        <p:spPr>
          <a:xfrm>
            <a:off x="7342632" y="3163824"/>
            <a:ext cx="3291840" cy="384048"/>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Understand Email</a:t>
            </a:r>
            <a:endParaRPr lang="en-US" sz="1400" dirty="0"/>
          </a:p>
        </p:txBody>
      </p:sp>
      <p:sp>
        <p:nvSpPr>
          <p:cNvPr id="35" name="Shape 31"/>
          <p:cNvSpPr/>
          <p:nvPr/>
        </p:nvSpPr>
        <p:spPr>
          <a:xfrm>
            <a:off x="8988552" y="3566160"/>
            <a:ext cx="914" cy="91440"/>
          </a:xfrm>
          <a:prstGeom prst="line">
            <a:avLst/>
          </a:prstGeom>
          <a:noFill/>
          <a:ln w="22225">
            <a:solidFill>
              <a:srgbClr val="5B6678"/>
            </a:solidFill>
            <a:prstDash val="solid"/>
            <a:tailEnd type="triangle"/>
          </a:ln>
        </p:spPr>
      </p:sp>
      <p:sp>
        <p:nvSpPr>
          <p:cNvPr id="36" name="Shape 32"/>
          <p:cNvSpPr/>
          <p:nvPr/>
        </p:nvSpPr>
        <p:spPr>
          <a:xfrm>
            <a:off x="7251192" y="3675888"/>
            <a:ext cx="3474720" cy="384048"/>
          </a:xfrm>
          <a:prstGeom prst="roundRect">
            <a:avLst>
              <a:gd name="adj" fmla="val 28571"/>
            </a:avLst>
          </a:prstGeom>
          <a:solidFill>
            <a:srgbClr val="E2F3F0"/>
          </a:solidFill>
          <a:ln w="12700">
            <a:solidFill>
              <a:srgbClr val="0E9384"/>
            </a:solidFill>
            <a:prstDash val="solid"/>
          </a:ln>
        </p:spPr>
      </p:sp>
      <p:sp>
        <p:nvSpPr>
          <p:cNvPr id="37" name="Text 33"/>
          <p:cNvSpPr txBox="1"/>
          <p:nvPr/>
        </p:nvSpPr>
        <p:spPr>
          <a:xfrm>
            <a:off x="7342632" y="3675888"/>
            <a:ext cx="3291840" cy="384048"/>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Search Knowledge</a:t>
            </a:r>
            <a:endParaRPr lang="en-US" sz="1400" dirty="0"/>
          </a:p>
        </p:txBody>
      </p:sp>
      <p:sp>
        <p:nvSpPr>
          <p:cNvPr id="38" name="Shape 34"/>
          <p:cNvSpPr/>
          <p:nvPr/>
        </p:nvSpPr>
        <p:spPr>
          <a:xfrm>
            <a:off x="8988552" y="4078224"/>
            <a:ext cx="914" cy="91440"/>
          </a:xfrm>
          <a:prstGeom prst="line">
            <a:avLst/>
          </a:prstGeom>
          <a:noFill/>
          <a:ln w="22225">
            <a:solidFill>
              <a:srgbClr val="5B6678"/>
            </a:solidFill>
            <a:prstDash val="solid"/>
            <a:tailEnd type="triangle"/>
          </a:ln>
        </p:spPr>
      </p:sp>
      <p:sp>
        <p:nvSpPr>
          <p:cNvPr id="39" name="Shape 35"/>
          <p:cNvSpPr/>
          <p:nvPr/>
        </p:nvSpPr>
        <p:spPr>
          <a:xfrm>
            <a:off x="7251192" y="4187952"/>
            <a:ext cx="3474720" cy="384048"/>
          </a:xfrm>
          <a:prstGeom prst="roundRect">
            <a:avLst>
              <a:gd name="adj" fmla="val 28571"/>
            </a:avLst>
          </a:prstGeom>
          <a:solidFill>
            <a:srgbClr val="E2F3F0"/>
          </a:solidFill>
          <a:ln w="12700">
            <a:solidFill>
              <a:srgbClr val="0E9384"/>
            </a:solidFill>
            <a:prstDash val="solid"/>
          </a:ln>
        </p:spPr>
      </p:sp>
      <p:sp>
        <p:nvSpPr>
          <p:cNvPr id="40" name="Text 36"/>
          <p:cNvSpPr txBox="1"/>
          <p:nvPr/>
        </p:nvSpPr>
        <p:spPr>
          <a:xfrm>
            <a:off x="7342632" y="4187952"/>
            <a:ext cx="3291840" cy="384048"/>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Generate Response</a:t>
            </a:r>
            <a:endParaRPr lang="en-US" sz="1400" dirty="0"/>
          </a:p>
        </p:txBody>
      </p:sp>
      <p:sp>
        <p:nvSpPr>
          <p:cNvPr id="41" name="Shape 37"/>
          <p:cNvSpPr/>
          <p:nvPr/>
        </p:nvSpPr>
        <p:spPr>
          <a:xfrm>
            <a:off x="8988552" y="4590288"/>
            <a:ext cx="914" cy="91440"/>
          </a:xfrm>
          <a:prstGeom prst="line">
            <a:avLst/>
          </a:prstGeom>
          <a:noFill/>
          <a:ln w="22225">
            <a:solidFill>
              <a:srgbClr val="5B6678"/>
            </a:solidFill>
            <a:prstDash val="solid"/>
            <a:tailEnd type="triangle"/>
          </a:ln>
        </p:spPr>
      </p:sp>
      <p:sp>
        <p:nvSpPr>
          <p:cNvPr id="42" name="Shape 38"/>
          <p:cNvSpPr/>
          <p:nvPr/>
        </p:nvSpPr>
        <p:spPr>
          <a:xfrm>
            <a:off x="7251192" y="4700016"/>
            <a:ext cx="3474720" cy="384048"/>
          </a:xfrm>
          <a:prstGeom prst="roundRect">
            <a:avLst>
              <a:gd name="adj" fmla="val 28571"/>
            </a:avLst>
          </a:prstGeom>
          <a:solidFill>
            <a:srgbClr val="E2F3F0"/>
          </a:solidFill>
          <a:ln w="12700">
            <a:solidFill>
              <a:srgbClr val="0E9384"/>
            </a:solidFill>
            <a:prstDash val="solid"/>
          </a:ln>
        </p:spPr>
      </p:sp>
      <p:sp>
        <p:nvSpPr>
          <p:cNvPr id="43" name="Text 39"/>
          <p:cNvSpPr txBox="1"/>
          <p:nvPr/>
        </p:nvSpPr>
        <p:spPr>
          <a:xfrm>
            <a:off x="7342632" y="4700016"/>
            <a:ext cx="3291840" cy="384048"/>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Create Gmail Draft</a:t>
            </a:r>
            <a:endParaRPr lang="en-US" sz="1400" dirty="0"/>
          </a:p>
        </p:txBody>
      </p:sp>
      <p:sp>
        <p:nvSpPr>
          <p:cNvPr id="44" name="Shape 40"/>
          <p:cNvSpPr/>
          <p:nvPr/>
        </p:nvSpPr>
        <p:spPr>
          <a:xfrm>
            <a:off x="8988552" y="5102352"/>
            <a:ext cx="914" cy="91440"/>
          </a:xfrm>
          <a:prstGeom prst="line">
            <a:avLst/>
          </a:prstGeom>
          <a:noFill/>
          <a:ln w="22225">
            <a:solidFill>
              <a:srgbClr val="5B6678"/>
            </a:solidFill>
            <a:prstDash val="solid"/>
            <a:tailEnd type="triangle"/>
          </a:ln>
        </p:spPr>
      </p:sp>
      <p:sp>
        <p:nvSpPr>
          <p:cNvPr id="45" name="Shape 41"/>
          <p:cNvSpPr/>
          <p:nvPr/>
        </p:nvSpPr>
        <p:spPr>
          <a:xfrm>
            <a:off x="7251192" y="5212080"/>
            <a:ext cx="3474720" cy="384048"/>
          </a:xfrm>
          <a:prstGeom prst="roundRect">
            <a:avLst>
              <a:gd name="adj" fmla="val 28571"/>
            </a:avLst>
          </a:prstGeom>
          <a:solidFill>
            <a:srgbClr val="FCEFDF"/>
          </a:solidFill>
          <a:ln w="12700">
            <a:solidFill>
              <a:srgbClr val="D97F1E"/>
            </a:solidFill>
            <a:prstDash val="solid"/>
          </a:ln>
        </p:spPr>
      </p:sp>
      <p:sp>
        <p:nvSpPr>
          <p:cNvPr id="46" name="Text 42"/>
          <p:cNvSpPr txBox="1"/>
          <p:nvPr/>
        </p:nvSpPr>
        <p:spPr>
          <a:xfrm>
            <a:off x="7342632" y="5212080"/>
            <a:ext cx="3291840" cy="384048"/>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Human Review</a:t>
            </a:r>
            <a:endParaRPr lang="en-US" sz="1400" dirty="0"/>
          </a:p>
        </p:txBody>
      </p:sp>
      <p:sp>
        <p:nvSpPr>
          <p:cNvPr id="47" name="Shape 43"/>
          <p:cNvSpPr/>
          <p:nvPr/>
        </p:nvSpPr>
        <p:spPr>
          <a:xfrm>
            <a:off x="8988552" y="5614416"/>
            <a:ext cx="914" cy="91440"/>
          </a:xfrm>
          <a:prstGeom prst="line">
            <a:avLst/>
          </a:prstGeom>
          <a:noFill/>
          <a:ln w="22225">
            <a:solidFill>
              <a:srgbClr val="5B6678"/>
            </a:solidFill>
            <a:prstDash val="solid"/>
            <a:tailEnd type="triangle"/>
          </a:ln>
        </p:spPr>
      </p:sp>
      <p:sp>
        <p:nvSpPr>
          <p:cNvPr id="48" name="Shape 44"/>
          <p:cNvSpPr/>
          <p:nvPr/>
        </p:nvSpPr>
        <p:spPr>
          <a:xfrm>
            <a:off x="7251192" y="5724144"/>
            <a:ext cx="3474720" cy="384048"/>
          </a:xfrm>
          <a:prstGeom prst="roundRect">
            <a:avLst>
              <a:gd name="adj" fmla="val 28571"/>
            </a:avLst>
          </a:prstGeom>
          <a:solidFill>
            <a:srgbClr val="FCEFDF"/>
          </a:solidFill>
          <a:ln w="12700">
            <a:solidFill>
              <a:srgbClr val="D97F1E"/>
            </a:solidFill>
            <a:prstDash val="solid"/>
          </a:ln>
        </p:spPr>
      </p:sp>
      <p:sp>
        <p:nvSpPr>
          <p:cNvPr id="49" name="Text 45"/>
          <p:cNvSpPr txBox="1"/>
          <p:nvPr/>
        </p:nvSpPr>
        <p:spPr>
          <a:xfrm>
            <a:off x="7342632" y="5724144"/>
            <a:ext cx="3291840" cy="384048"/>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Send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6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Input and output</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What goes in, and what comes out</a:t>
            </a:r>
            <a:endParaRPr lang="en-US" sz="1600" dirty="0"/>
          </a:p>
        </p:txBody>
      </p:sp>
      <p:sp>
        <p:nvSpPr>
          <p:cNvPr id="6" name="Shape 4"/>
          <p:cNvSpPr/>
          <p:nvPr/>
        </p:nvSpPr>
        <p:spPr>
          <a:xfrm>
            <a:off x="548640" y="1645920"/>
            <a:ext cx="4937760" cy="4526280"/>
          </a:xfrm>
          <a:prstGeom prst="roundRect">
            <a:avLst>
              <a:gd name="adj" fmla="val 2424"/>
            </a:avLst>
          </a:prstGeom>
          <a:solidFill>
            <a:srgbClr val="E2F3F0"/>
          </a:solidFill>
          <a:ln w="12700">
            <a:solidFill>
              <a:srgbClr val="E2F3F0"/>
            </a:solidFill>
            <a:prstDash val="solid"/>
          </a:ln>
        </p:spPr>
      </p:sp>
      <p:sp>
        <p:nvSpPr>
          <p:cNvPr id="7" name="Shape 5"/>
          <p:cNvSpPr/>
          <p:nvPr/>
        </p:nvSpPr>
        <p:spPr>
          <a:xfrm>
            <a:off x="6702552" y="1645920"/>
            <a:ext cx="4937760" cy="4526280"/>
          </a:xfrm>
          <a:prstGeom prst="roundRect">
            <a:avLst>
              <a:gd name="adj" fmla="val 2424"/>
            </a:avLst>
          </a:prstGeom>
          <a:solidFill>
            <a:srgbClr val="FCEFDF"/>
          </a:solidFill>
          <a:ln w="12700">
            <a:solidFill>
              <a:srgbClr val="FCEFDF"/>
            </a:solidFill>
            <a:prstDash val="solid"/>
          </a:ln>
        </p:spPr>
      </p:sp>
      <p:sp>
        <p:nvSpPr>
          <p:cNvPr id="8" name="Text 6"/>
          <p:cNvSpPr txBox="1"/>
          <p:nvPr/>
        </p:nvSpPr>
        <p:spPr>
          <a:xfrm>
            <a:off x="868680" y="1810512"/>
            <a:ext cx="2743200" cy="365760"/>
          </a:xfrm>
          <a:prstGeom prst="rect">
            <a:avLst/>
          </a:prstGeom>
          <a:noFill/>
          <a:ln/>
        </p:spPr>
        <p:txBody>
          <a:bodyPr wrap="square" lIns="0" tIns="0" rIns="0" bIns="0" rtlCol="0" anchor="ctr"/>
          <a:lstStyle/>
          <a:p>
            <a:pPr marL="0" indent="0">
              <a:buNone/>
            </a:pPr>
            <a:r>
              <a:rPr lang="en-US" sz="1600" b="1" kern="0" spc="200" dirty="0">
                <a:solidFill>
                  <a:srgbClr val="0E9384"/>
                </a:solidFill>
                <a:latin typeface="Calibri" pitchFamily="34" charset="0"/>
                <a:ea typeface="Calibri" pitchFamily="34" charset="-122"/>
                <a:cs typeface="Calibri" pitchFamily="34" charset="-120"/>
              </a:rPr>
              <a:t>INPUT</a:t>
            </a:r>
            <a:endParaRPr lang="en-US" sz="1600" dirty="0"/>
          </a:p>
        </p:txBody>
      </p:sp>
      <p:sp>
        <p:nvSpPr>
          <p:cNvPr id="9" name="Text 7"/>
          <p:cNvSpPr txBox="1"/>
          <p:nvPr/>
        </p:nvSpPr>
        <p:spPr>
          <a:xfrm>
            <a:off x="7022592" y="1810512"/>
            <a:ext cx="2743200" cy="365760"/>
          </a:xfrm>
          <a:prstGeom prst="rect">
            <a:avLst/>
          </a:prstGeom>
          <a:noFill/>
          <a:ln/>
        </p:spPr>
        <p:txBody>
          <a:bodyPr wrap="square" lIns="0" tIns="0" rIns="0" bIns="0" rtlCol="0" anchor="ctr"/>
          <a:lstStyle/>
          <a:p>
            <a:pPr marL="0" indent="0">
              <a:buNone/>
            </a:pPr>
            <a:r>
              <a:rPr lang="en-US" sz="1600" b="1" kern="0" spc="200" dirty="0">
                <a:solidFill>
                  <a:srgbClr val="D97F1E"/>
                </a:solidFill>
                <a:latin typeface="Calibri" pitchFamily="34" charset="0"/>
                <a:ea typeface="Calibri" pitchFamily="34" charset="-122"/>
                <a:cs typeface="Calibri" pitchFamily="34" charset="-120"/>
              </a:rPr>
              <a:t>OUTPUT</a:t>
            </a:r>
            <a:endParaRPr lang="en-US" sz="1600" dirty="0"/>
          </a:p>
        </p:txBody>
      </p:sp>
      <p:sp>
        <p:nvSpPr>
          <p:cNvPr id="10" name="Shape 8"/>
          <p:cNvSpPr/>
          <p:nvPr/>
        </p:nvSpPr>
        <p:spPr>
          <a:xfrm>
            <a:off x="868680" y="2377440"/>
            <a:ext cx="457200" cy="457200"/>
          </a:xfrm>
          <a:prstGeom prst="ellipse">
            <a:avLst/>
          </a:prstGeom>
          <a:solidFill>
            <a:srgbClr val="0E9384"/>
          </a:solidFill>
          <a:ln w="12700">
            <a:solidFill>
              <a:srgbClr val="0E9384"/>
            </a:solidFill>
            <a:prstDash val="solid"/>
          </a:ln>
        </p:spPr>
      </p:sp>
      <p:pic>
        <p:nvPicPr>
          <p:cNvPr id="11" name="Image 0" descr="preencoded.png"/>
          <p:cNvPicPr>
            <a:picLocks noChangeAspect="1"/>
          </p:cNvPicPr>
          <p:nvPr/>
        </p:nvPicPr>
        <p:blipFill>
          <a:blip r:embed="rId3"/>
          <a:stretch>
            <a:fillRect/>
          </a:stretch>
        </p:blipFill>
        <p:spPr>
          <a:xfrm>
            <a:off x="987552" y="2496312"/>
            <a:ext cx="219456" cy="219456"/>
          </a:xfrm>
          <a:prstGeom prst="rect">
            <a:avLst/>
          </a:prstGeom>
        </p:spPr>
      </p:pic>
      <p:sp>
        <p:nvSpPr>
          <p:cNvPr id="12" name="Text 9"/>
          <p:cNvSpPr txBox="1"/>
          <p:nvPr/>
        </p:nvSpPr>
        <p:spPr>
          <a:xfrm>
            <a:off x="1527048" y="2359152"/>
            <a:ext cx="3730752" cy="457200"/>
          </a:xfrm>
          <a:prstGeom prst="rect">
            <a:avLst/>
          </a:prstGeom>
          <a:noFill/>
          <a:ln/>
        </p:spPr>
        <p:txBody>
          <a:bodyPr wrap="square" lIns="0" tIns="0" rIns="0" bIns="0" rtlCol="0" anchor="ctr"/>
          <a:lstStyle/>
          <a:p>
            <a:pPr marL="0" indent="0">
              <a:buNone/>
            </a:pPr>
            <a:r>
              <a:rPr lang="en-US" sz="1500" b="1" dirty="0">
                <a:solidFill>
                  <a:srgbClr val="1B2433"/>
                </a:solidFill>
                <a:latin typeface="Calibri" pitchFamily="34" charset="0"/>
                <a:ea typeface="Calibri" pitchFamily="34" charset="-122"/>
                <a:cs typeface="Calibri" pitchFamily="34" charset="-120"/>
              </a:rPr>
              <a:t>PDF, Word (DOCX), text files</a:t>
            </a:r>
            <a:endParaRPr lang="en-US" sz="1500" dirty="0"/>
          </a:p>
        </p:txBody>
      </p:sp>
      <p:sp>
        <p:nvSpPr>
          <p:cNvPr id="13" name="Shape 10"/>
          <p:cNvSpPr/>
          <p:nvPr/>
        </p:nvSpPr>
        <p:spPr>
          <a:xfrm>
            <a:off x="7022592" y="2377440"/>
            <a:ext cx="457200" cy="457200"/>
          </a:xfrm>
          <a:prstGeom prst="ellipse">
            <a:avLst/>
          </a:prstGeom>
          <a:solidFill>
            <a:srgbClr val="0E9384"/>
          </a:solidFill>
          <a:ln w="12700">
            <a:solidFill>
              <a:srgbClr val="0E9384"/>
            </a:solidFill>
            <a:prstDash val="solid"/>
          </a:ln>
        </p:spPr>
      </p:sp>
      <p:pic>
        <p:nvPicPr>
          <p:cNvPr id="14" name="Image 1" descr="preencoded.png"/>
          <p:cNvPicPr>
            <a:picLocks noChangeAspect="1"/>
          </p:cNvPicPr>
          <p:nvPr/>
        </p:nvPicPr>
        <p:blipFill>
          <a:blip r:embed="rId4"/>
          <a:stretch>
            <a:fillRect/>
          </a:stretch>
        </p:blipFill>
        <p:spPr>
          <a:xfrm>
            <a:off x="7141464" y="2496312"/>
            <a:ext cx="219456" cy="219456"/>
          </a:xfrm>
          <a:prstGeom prst="rect">
            <a:avLst/>
          </a:prstGeom>
        </p:spPr>
      </p:pic>
      <p:sp>
        <p:nvSpPr>
          <p:cNvPr id="15" name="Text 11"/>
          <p:cNvSpPr txBox="1"/>
          <p:nvPr/>
        </p:nvSpPr>
        <p:spPr>
          <a:xfrm>
            <a:off x="7680960" y="2359152"/>
            <a:ext cx="3730752" cy="457200"/>
          </a:xfrm>
          <a:prstGeom prst="rect">
            <a:avLst/>
          </a:prstGeom>
          <a:noFill/>
          <a:ln/>
        </p:spPr>
        <p:txBody>
          <a:bodyPr wrap="square" lIns="0" tIns="0" rIns="0" bIns="0" rtlCol="0" anchor="ctr"/>
          <a:lstStyle/>
          <a:p>
            <a:pPr marL="0" indent="0">
              <a:buNone/>
            </a:pPr>
            <a:r>
              <a:rPr lang="en-US" sz="1500" b="1" dirty="0">
                <a:solidFill>
                  <a:srgbClr val="1B2433"/>
                </a:solidFill>
                <a:latin typeface="Calibri" pitchFamily="34" charset="0"/>
                <a:ea typeface="Calibri" pitchFamily="34" charset="-122"/>
                <a:cs typeface="Calibri" pitchFamily="34" charset="-120"/>
              </a:rPr>
              <a:t>Knowledge-based answer</a:t>
            </a:r>
            <a:endParaRPr lang="en-US" sz="1500" dirty="0"/>
          </a:p>
        </p:txBody>
      </p:sp>
      <p:sp>
        <p:nvSpPr>
          <p:cNvPr id="16" name="Shape 12"/>
          <p:cNvSpPr/>
          <p:nvPr/>
        </p:nvSpPr>
        <p:spPr>
          <a:xfrm>
            <a:off x="868680" y="3108960"/>
            <a:ext cx="457200" cy="457200"/>
          </a:xfrm>
          <a:prstGeom prst="ellipse">
            <a:avLst/>
          </a:prstGeom>
          <a:solidFill>
            <a:srgbClr val="0E9384"/>
          </a:solidFill>
          <a:ln w="12700">
            <a:solidFill>
              <a:srgbClr val="0E9384"/>
            </a:solidFill>
            <a:prstDash val="solid"/>
          </a:ln>
        </p:spPr>
      </p:sp>
      <p:sp>
        <p:nvSpPr>
          <p:cNvPr id="18" name="Text 13"/>
          <p:cNvSpPr txBox="1"/>
          <p:nvPr/>
        </p:nvSpPr>
        <p:spPr>
          <a:xfrm>
            <a:off x="1527048" y="3090672"/>
            <a:ext cx="3730752" cy="457200"/>
          </a:xfrm>
          <a:prstGeom prst="rect">
            <a:avLst/>
          </a:prstGeom>
          <a:noFill/>
          <a:ln/>
        </p:spPr>
        <p:txBody>
          <a:bodyPr wrap="square" lIns="0" tIns="0" rIns="0" bIns="0" rtlCol="0" anchor="ctr"/>
          <a:lstStyle/>
          <a:p>
            <a:pPr marL="0" indent="0">
              <a:buNone/>
            </a:pPr>
            <a:endParaRPr lang="en-US" sz="1500" dirty="0"/>
          </a:p>
        </p:txBody>
      </p:sp>
      <p:sp>
        <p:nvSpPr>
          <p:cNvPr id="19" name="Shape 14"/>
          <p:cNvSpPr/>
          <p:nvPr/>
        </p:nvSpPr>
        <p:spPr>
          <a:xfrm>
            <a:off x="7022592" y="3108960"/>
            <a:ext cx="457200" cy="457200"/>
          </a:xfrm>
          <a:prstGeom prst="ellipse">
            <a:avLst/>
          </a:prstGeom>
          <a:solidFill>
            <a:srgbClr val="0E9384"/>
          </a:solidFill>
          <a:ln w="12700">
            <a:solidFill>
              <a:srgbClr val="0E9384"/>
            </a:solidFill>
            <a:prstDash val="solid"/>
          </a:ln>
        </p:spPr>
      </p:sp>
      <p:pic>
        <p:nvPicPr>
          <p:cNvPr id="20" name="Image 3" descr="preencoded.png"/>
          <p:cNvPicPr>
            <a:picLocks noChangeAspect="1"/>
          </p:cNvPicPr>
          <p:nvPr/>
        </p:nvPicPr>
        <p:blipFill>
          <a:blip r:embed="rId5"/>
          <a:stretch>
            <a:fillRect/>
          </a:stretch>
        </p:blipFill>
        <p:spPr>
          <a:xfrm>
            <a:off x="7141464" y="3227832"/>
            <a:ext cx="219456" cy="219456"/>
          </a:xfrm>
          <a:prstGeom prst="rect">
            <a:avLst/>
          </a:prstGeom>
        </p:spPr>
      </p:pic>
      <p:sp>
        <p:nvSpPr>
          <p:cNvPr id="21" name="Text 15"/>
          <p:cNvSpPr txBox="1"/>
          <p:nvPr/>
        </p:nvSpPr>
        <p:spPr>
          <a:xfrm>
            <a:off x="7680960" y="3090672"/>
            <a:ext cx="3730752" cy="457200"/>
          </a:xfrm>
          <a:prstGeom prst="rect">
            <a:avLst/>
          </a:prstGeom>
          <a:noFill/>
          <a:ln/>
        </p:spPr>
        <p:txBody>
          <a:bodyPr wrap="square" lIns="0" tIns="0" rIns="0" bIns="0" rtlCol="0" anchor="ctr"/>
          <a:lstStyle/>
          <a:p>
            <a:pPr marL="0" indent="0">
              <a:buNone/>
            </a:pPr>
            <a:r>
              <a:rPr lang="en-US" sz="1500" b="1" dirty="0">
                <a:solidFill>
                  <a:srgbClr val="1B2433"/>
                </a:solidFill>
                <a:latin typeface="Calibri" pitchFamily="34" charset="0"/>
                <a:ea typeface="Calibri" pitchFamily="34" charset="-122"/>
                <a:cs typeface="Calibri" pitchFamily="34" charset="-120"/>
              </a:rPr>
              <a:t>AI-written email reply</a:t>
            </a:r>
            <a:endParaRPr lang="en-US" sz="1500" dirty="0"/>
          </a:p>
        </p:txBody>
      </p:sp>
      <p:sp>
        <p:nvSpPr>
          <p:cNvPr id="22" name="Shape 16"/>
          <p:cNvSpPr/>
          <p:nvPr/>
        </p:nvSpPr>
        <p:spPr>
          <a:xfrm>
            <a:off x="868680" y="3840480"/>
            <a:ext cx="457200" cy="457200"/>
          </a:xfrm>
          <a:prstGeom prst="ellipse">
            <a:avLst/>
          </a:prstGeom>
          <a:solidFill>
            <a:srgbClr val="0E9384"/>
          </a:solidFill>
          <a:ln w="12700">
            <a:solidFill>
              <a:srgbClr val="0E9384"/>
            </a:solidFill>
            <a:prstDash val="solid"/>
          </a:ln>
        </p:spPr>
      </p:sp>
      <p:pic>
        <p:nvPicPr>
          <p:cNvPr id="23" name="Image 4" descr="preencoded.png"/>
          <p:cNvPicPr>
            <a:picLocks noChangeAspect="1"/>
          </p:cNvPicPr>
          <p:nvPr/>
        </p:nvPicPr>
        <p:blipFill>
          <a:blip r:embed="rId6"/>
          <a:stretch>
            <a:fillRect/>
          </a:stretch>
        </p:blipFill>
        <p:spPr>
          <a:xfrm>
            <a:off x="987552" y="3959352"/>
            <a:ext cx="219456" cy="219456"/>
          </a:xfrm>
          <a:prstGeom prst="rect">
            <a:avLst/>
          </a:prstGeom>
        </p:spPr>
      </p:pic>
      <p:sp>
        <p:nvSpPr>
          <p:cNvPr id="24" name="Text 17"/>
          <p:cNvSpPr txBox="1"/>
          <p:nvPr/>
        </p:nvSpPr>
        <p:spPr>
          <a:xfrm>
            <a:off x="1527048" y="3822192"/>
            <a:ext cx="3730752" cy="457200"/>
          </a:xfrm>
          <a:prstGeom prst="rect">
            <a:avLst/>
          </a:prstGeom>
          <a:noFill/>
          <a:ln/>
        </p:spPr>
        <p:txBody>
          <a:bodyPr wrap="square" lIns="0" tIns="0" rIns="0" bIns="0" rtlCol="0" anchor="ctr"/>
          <a:lstStyle/>
          <a:p>
            <a:pPr marL="0" indent="0">
              <a:buNone/>
            </a:pPr>
            <a:r>
              <a:rPr lang="en-US" sz="1500" b="1" dirty="0">
                <a:solidFill>
                  <a:srgbClr val="1B2433"/>
                </a:solidFill>
                <a:latin typeface="Calibri" pitchFamily="34" charset="0"/>
                <a:ea typeface="Calibri" pitchFamily="34" charset="-122"/>
                <a:cs typeface="Calibri" pitchFamily="34" charset="-120"/>
              </a:rPr>
              <a:t>CSV and Markdown files</a:t>
            </a:r>
            <a:endParaRPr lang="en-US" sz="1500" dirty="0"/>
          </a:p>
        </p:txBody>
      </p:sp>
      <p:sp>
        <p:nvSpPr>
          <p:cNvPr id="25" name="Shape 18"/>
          <p:cNvSpPr/>
          <p:nvPr/>
        </p:nvSpPr>
        <p:spPr>
          <a:xfrm>
            <a:off x="7022592" y="3840480"/>
            <a:ext cx="457200" cy="457200"/>
          </a:xfrm>
          <a:prstGeom prst="ellipse">
            <a:avLst/>
          </a:prstGeom>
          <a:solidFill>
            <a:srgbClr val="0E9384"/>
          </a:solidFill>
          <a:ln w="12700">
            <a:solidFill>
              <a:srgbClr val="0E9384"/>
            </a:solidFill>
            <a:prstDash val="solid"/>
          </a:ln>
        </p:spPr>
      </p:sp>
      <p:pic>
        <p:nvPicPr>
          <p:cNvPr id="26" name="Image 5" descr="preencoded.png"/>
          <p:cNvPicPr>
            <a:picLocks noChangeAspect="1"/>
          </p:cNvPicPr>
          <p:nvPr/>
        </p:nvPicPr>
        <p:blipFill>
          <a:blip r:embed="rId7"/>
          <a:stretch>
            <a:fillRect/>
          </a:stretch>
        </p:blipFill>
        <p:spPr>
          <a:xfrm>
            <a:off x="7141464" y="3959352"/>
            <a:ext cx="219456" cy="219456"/>
          </a:xfrm>
          <a:prstGeom prst="rect">
            <a:avLst/>
          </a:prstGeom>
        </p:spPr>
      </p:pic>
      <p:sp>
        <p:nvSpPr>
          <p:cNvPr id="27" name="Text 19"/>
          <p:cNvSpPr txBox="1"/>
          <p:nvPr/>
        </p:nvSpPr>
        <p:spPr>
          <a:xfrm>
            <a:off x="7680960" y="3822192"/>
            <a:ext cx="3730752" cy="457200"/>
          </a:xfrm>
          <a:prstGeom prst="rect">
            <a:avLst/>
          </a:prstGeom>
          <a:noFill/>
          <a:ln/>
        </p:spPr>
        <p:txBody>
          <a:bodyPr wrap="square" lIns="0" tIns="0" rIns="0" bIns="0" rtlCol="0" anchor="ctr"/>
          <a:lstStyle/>
          <a:p>
            <a:pPr marL="0" indent="0">
              <a:buNone/>
            </a:pPr>
            <a:r>
              <a:rPr lang="en-US" sz="1500" b="1" dirty="0">
                <a:solidFill>
                  <a:srgbClr val="1B2433"/>
                </a:solidFill>
                <a:latin typeface="Calibri" pitchFamily="34" charset="0"/>
                <a:ea typeface="Calibri" pitchFamily="34" charset="-122"/>
                <a:cs typeface="Calibri" pitchFamily="34" charset="-120"/>
              </a:rPr>
              <a:t>Gmail draft</a:t>
            </a:r>
            <a:endParaRPr lang="en-US" sz="1500" dirty="0"/>
          </a:p>
        </p:txBody>
      </p:sp>
      <p:sp>
        <p:nvSpPr>
          <p:cNvPr id="28" name="Shape 20"/>
          <p:cNvSpPr/>
          <p:nvPr/>
        </p:nvSpPr>
        <p:spPr>
          <a:xfrm>
            <a:off x="868680" y="4572000"/>
            <a:ext cx="457200" cy="457200"/>
          </a:xfrm>
          <a:prstGeom prst="ellipse">
            <a:avLst/>
          </a:prstGeom>
          <a:solidFill>
            <a:srgbClr val="0E9384"/>
          </a:solidFill>
          <a:ln w="12700">
            <a:solidFill>
              <a:srgbClr val="0E9384"/>
            </a:solidFill>
            <a:prstDash val="solid"/>
          </a:ln>
        </p:spPr>
      </p:sp>
      <p:pic>
        <p:nvPicPr>
          <p:cNvPr id="29" name="Image 6" descr="preencoded.png"/>
          <p:cNvPicPr>
            <a:picLocks noChangeAspect="1"/>
          </p:cNvPicPr>
          <p:nvPr/>
        </p:nvPicPr>
        <p:blipFill>
          <a:blip r:embed="rId8"/>
          <a:stretch>
            <a:fillRect/>
          </a:stretch>
        </p:blipFill>
        <p:spPr>
          <a:xfrm>
            <a:off x="987552" y="4690872"/>
            <a:ext cx="219456" cy="219456"/>
          </a:xfrm>
          <a:prstGeom prst="rect">
            <a:avLst/>
          </a:prstGeom>
        </p:spPr>
      </p:pic>
      <p:sp>
        <p:nvSpPr>
          <p:cNvPr id="30" name="Text 21"/>
          <p:cNvSpPr txBox="1"/>
          <p:nvPr/>
        </p:nvSpPr>
        <p:spPr>
          <a:xfrm>
            <a:off x="1527048" y="4553712"/>
            <a:ext cx="3730752" cy="457200"/>
          </a:xfrm>
          <a:prstGeom prst="rect">
            <a:avLst/>
          </a:prstGeom>
          <a:noFill/>
          <a:ln/>
        </p:spPr>
        <p:txBody>
          <a:bodyPr wrap="square" lIns="0" tIns="0" rIns="0" bIns="0" rtlCol="0" anchor="ctr"/>
          <a:lstStyle/>
          <a:p>
            <a:pPr marL="0" indent="0">
              <a:buNone/>
            </a:pPr>
            <a:r>
              <a:rPr lang="en-US" sz="1500" b="1" dirty="0">
                <a:solidFill>
                  <a:srgbClr val="1B2433"/>
                </a:solidFill>
                <a:latin typeface="Calibri" pitchFamily="34" charset="0"/>
                <a:ea typeface="Calibri" pitchFamily="34" charset="-122"/>
                <a:cs typeface="Calibri" pitchFamily="34" charset="-120"/>
              </a:rPr>
              <a:t>Incoming Gmail emails</a:t>
            </a:r>
            <a:endParaRPr lang="en-US" sz="1500" dirty="0"/>
          </a:p>
        </p:txBody>
      </p:sp>
      <p:sp>
        <p:nvSpPr>
          <p:cNvPr id="31" name="Shape 22"/>
          <p:cNvSpPr/>
          <p:nvPr/>
        </p:nvSpPr>
        <p:spPr>
          <a:xfrm>
            <a:off x="7022592" y="4572000"/>
            <a:ext cx="457200" cy="457200"/>
          </a:xfrm>
          <a:prstGeom prst="ellipse">
            <a:avLst/>
          </a:prstGeom>
          <a:solidFill>
            <a:srgbClr val="0E9384"/>
          </a:solidFill>
          <a:ln w="12700">
            <a:solidFill>
              <a:srgbClr val="0E9384"/>
            </a:solidFill>
            <a:prstDash val="solid"/>
          </a:ln>
        </p:spPr>
      </p:sp>
      <p:pic>
        <p:nvPicPr>
          <p:cNvPr id="32" name="Image 7" descr="preencoded.png"/>
          <p:cNvPicPr>
            <a:picLocks noChangeAspect="1"/>
          </p:cNvPicPr>
          <p:nvPr/>
        </p:nvPicPr>
        <p:blipFill>
          <a:blip r:embed="rId9"/>
          <a:stretch>
            <a:fillRect/>
          </a:stretch>
        </p:blipFill>
        <p:spPr>
          <a:xfrm>
            <a:off x="7141464" y="4690872"/>
            <a:ext cx="219456" cy="219456"/>
          </a:xfrm>
          <a:prstGeom prst="rect">
            <a:avLst/>
          </a:prstGeom>
        </p:spPr>
      </p:pic>
      <p:sp>
        <p:nvSpPr>
          <p:cNvPr id="33" name="Text 23"/>
          <p:cNvSpPr txBox="1"/>
          <p:nvPr/>
        </p:nvSpPr>
        <p:spPr>
          <a:xfrm>
            <a:off x="7680960" y="4553712"/>
            <a:ext cx="3730752" cy="457200"/>
          </a:xfrm>
          <a:prstGeom prst="rect">
            <a:avLst/>
          </a:prstGeom>
          <a:noFill/>
          <a:ln/>
        </p:spPr>
        <p:txBody>
          <a:bodyPr wrap="square" lIns="0" tIns="0" rIns="0" bIns="0" rtlCol="0" anchor="ctr"/>
          <a:lstStyle/>
          <a:p>
            <a:pPr marL="0" indent="0">
              <a:buNone/>
            </a:pPr>
            <a:r>
              <a:rPr lang="en-US" sz="1500" b="1" dirty="0">
                <a:solidFill>
                  <a:srgbClr val="1B2433"/>
                </a:solidFill>
                <a:latin typeface="Calibri" pitchFamily="34" charset="0"/>
                <a:ea typeface="Calibri" pitchFamily="34" charset="-122"/>
                <a:cs typeface="Calibri" pitchFamily="34" charset="-120"/>
              </a:rPr>
              <a:t>Source document used</a:t>
            </a:r>
            <a:endParaRPr lang="en-US" sz="1500" dirty="0"/>
          </a:p>
        </p:txBody>
      </p:sp>
      <p:sp>
        <p:nvSpPr>
          <p:cNvPr id="34" name="Shape 24"/>
          <p:cNvSpPr/>
          <p:nvPr/>
        </p:nvSpPr>
        <p:spPr>
          <a:xfrm>
            <a:off x="868680" y="5303520"/>
            <a:ext cx="457200" cy="457200"/>
          </a:xfrm>
          <a:prstGeom prst="ellipse">
            <a:avLst/>
          </a:prstGeom>
          <a:solidFill>
            <a:srgbClr val="0E9384"/>
          </a:solidFill>
          <a:ln w="12700">
            <a:solidFill>
              <a:srgbClr val="0E9384"/>
            </a:solidFill>
            <a:prstDash val="solid"/>
          </a:ln>
        </p:spPr>
      </p:sp>
      <p:pic>
        <p:nvPicPr>
          <p:cNvPr id="35" name="Image 8" descr="preencoded.png"/>
          <p:cNvPicPr>
            <a:picLocks noChangeAspect="1"/>
          </p:cNvPicPr>
          <p:nvPr/>
        </p:nvPicPr>
        <p:blipFill>
          <a:blip r:embed="rId10"/>
          <a:stretch>
            <a:fillRect/>
          </a:stretch>
        </p:blipFill>
        <p:spPr>
          <a:xfrm>
            <a:off x="987552" y="5422392"/>
            <a:ext cx="219456" cy="219456"/>
          </a:xfrm>
          <a:prstGeom prst="rect">
            <a:avLst/>
          </a:prstGeom>
        </p:spPr>
      </p:pic>
      <p:sp>
        <p:nvSpPr>
          <p:cNvPr id="36" name="Text 25"/>
          <p:cNvSpPr txBox="1"/>
          <p:nvPr/>
        </p:nvSpPr>
        <p:spPr>
          <a:xfrm>
            <a:off x="1527048" y="5285232"/>
            <a:ext cx="3730752" cy="457200"/>
          </a:xfrm>
          <a:prstGeom prst="rect">
            <a:avLst/>
          </a:prstGeom>
          <a:noFill/>
          <a:ln/>
        </p:spPr>
        <p:txBody>
          <a:bodyPr wrap="square" lIns="0" tIns="0" rIns="0" bIns="0" rtlCol="0" anchor="ctr"/>
          <a:lstStyle/>
          <a:p>
            <a:pPr marL="0" indent="0">
              <a:buNone/>
            </a:pPr>
            <a:r>
              <a:rPr lang="en-US" sz="1500" b="1" dirty="0">
                <a:solidFill>
                  <a:srgbClr val="1B2433"/>
                </a:solidFill>
                <a:latin typeface="Calibri" pitchFamily="34" charset="0"/>
                <a:ea typeface="Calibri" pitchFamily="34" charset="-122"/>
                <a:cs typeface="Calibri" pitchFamily="34" charset="-120"/>
              </a:rPr>
              <a:t>A user's typed question</a:t>
            </a:r>
            <a:endParaRPr lang="en-US" sz="1500" dirty="0"/>
          </a:p>
        </p:txBody>
      </p:sp>
      <p:sp>
        <p:nvSpPr>
          <p:cNvPr id="37" name="Shape 26"/>
          <p:cNvSpPr/>
          <p:nvPr/>
        </p:nvSpPr>
        <p:spPr>
          <a:xfrm>
            <a:off x="7022592" y="5303520"/>
            <a:ext cx="457200" cy="457200"/>
          </a:xfrm>
          <a:prstGeom prst="ellipse">
            <a:avLst/>
          </a:prstGeom>
          <a:solidFill>
            <a:srgbClr val="D97F1E"/>
          </a:solidFill>
          <a:ln w="12700">
            <a:solidFill>
              <a:srgbClr val="D97F1E"/>
            </a:solidFill>
            <a:prstDash val="solid"/>
          </a:ln>
        </p:spPr>
      </p:sp>
      <p:pic>
        <p:nvPicPr>
          <p:cNvPr id="38" name="Image 9" descr="preencoded.png"/>
          <p:cNvPicPr>
            <a:picLocks noChangeAspect="1"/>
          </p:cNvPicPr>
          <p:nvPr/>
        </p:nvPicPr>
        <p:blipFill>
          <a:blip r:embed="rId11"/>
          <a:stretch>
            <a:fillRect/>
          </a:stretch>
        </p:blipFill>
        <p:spPr>
          <a:xfrm>
            <a:off x="7141464" y="5422392"/>
            <a:ext cx="219456" cy="219456"/>
          </a:xfrm>
          <a:prstGeom prst="rect">
            <a:avLst/>
          </a:prstGeom>
        </p:spPr>
      </p:pic>
      <p:sp>
        <p:nvSpPr>
          <p:cNvPr id="39" name="Text 27"/>
          <p:cNvSpPr txBox="1"/>
          <p:nvPr/>
        </p:nvSpPr>
        <p:spPr>
          <a:xfrm>
            <a:off x="7680960" y="5285232"/>
            <a:ext cx="3730752" cy="457200"/>
          </a:xfrm>
          <a:prstGeom prst="rect">
            <a:avLst/>
          </a:prstGeom>
          <a:noFill/>
          <a:ln/>
        </p:spPr>
        <p:txBody>
          <a:bodyPr wrap="square" lIns="0" tIns="0" rIns="0" bIns="0" rtlCol="0" anchor="ctr"/>
          <a:lstStyle/>
          <a:p>
            <a:pPr marL="0" indent="0">
              <a:buNone/>
            </a:pPr>
            <a:r>
              <a:rPr lang="en-US" sz="1500" b="1" dirty="0">
                <a:solidFill>
                  <a:srgbClr val="1B2433"/>
                </a:solidFill>
                <a:latin typeface="Calibri" pitchFamily="34" charset="0"/>
                <a:ea typeface="Calibri" pitchFamily="34" charset="-122"/>
                <a:cs typeface="Calibri" pitchFamily="34" charset="-120"/>
              </a:rPr>
              <a:t>Human-reviewed final email</a:t>
            </a:r>
            <a:endParaRPr lang="en-US" sz="1500" dirty="0"/>
          </a:p>
        </p:txBody>
      </p:sp>
      <p:sp>
        <p:nvSpPr>
          <p:cNvPr id="40" name="Shape 28"/>
          <p:cNvSpPr/>
          <p:nvPr/>
        </p:nvSpPr>
        <p:spPr>
          <a:xfrm>
            <a:off x="5650992" y="3429000"/>
            <a:ext cx="868680" cy="868680"/>
          </a:xfrm>
          <a:prstGeom prst="ellipse">
            <a:avLst/>
          </a:prstGeom>
          <a:solidFill>
            <a:srgbClr val="1D3357"/>
          </a:solidFill>
          <a:ln w="12700">
            <a:solidFill>
              <a:srgbClr val="1D3357"/>
            </a:solidFill>
            <a:prstDash val="solid"/>
          </a:ln>
        </p:spPr>
      </p:sp>
      <p:pic>
        <p:nvPicPr>
          <p:cNvPr id="41" name="Image 10" descr="preencoded.png"/>
          <p:cNvPicPr>
            <a:picLocks noChangeAspect="1"/>
          </p:cNvPicPr>
          <p:nvPr/>
        </p:nvPicPr>
        <p:blipFill>
          <a:blip r:embed="rId12"/>
          <a:stretch>
            <a:fillRect/>
          </a:stretch>
        </p:blipFill>
        <p:spPr>
          <a:xfrm>
            <a:off x="5876849" y="3654857"/>
            <a:ext cx="416966" cy="416966"/>
          </a:xfrm>
          <a:prstGeom prst="rect">
            <a:avLst/>
          </a:prstGeom>
        </p:spPr>
      </p:pic>
      <p:sp>
        <p:nvSpPr>
          <p:cNvPr id="42" name="Shape 29"/>
          <p:cNvSpPr/>
          <p:nvPr/>
        </p:nvSpPr>
        <p:spPr>
          <a:xfrm>
            <a:off x="5532120" y="3858768"/>
            <a:ext cx="100584" cy="914"/>
          </a:xfrm>
          <a:prstGeom prst="line">
            <a:avLst/>
          </a:prstGeom>
          <a:noFill/>
          <a:ln w="22225">
            <a:solidFill>
              <a:srgbClr val="5B6678"/>
            </a:solidFill>
            <a:prstDash val="solid"/>
            <a:tailEnd type="triangle"/>
          </a:ln>
        </p:spPr>
      </p:sp>
      <p:sp>
        <p:nvSpPr>
          <p:cNvPr id="43" name="Shape 30"/>
          <p:cNvSpPr/>
          <p:nvPr/>
        </p:nvSpPr>
        <p:spPr>
          <a:xfrm>
            <a:off x="6537960" y="3858768"/>
            <a:ext cx="137160" cy="914"/>
          </a:xfrm>
          <a:prstGeom prst="line">
            <a:avLst/>
          </a:prstGeom>
          <a:noFill/>
          <a:ln w="22225">
            <a:solidFill>
              <a:srgbClr val="5B6678"/>
            </a:solidFill>
            <a:prstDash val="solid"/>
            <a:tailEnd type="triangle"/>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7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How the Knowledge Base works</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Turning documents into searchable knowledge</a:t>
            </a:r>
            <a:endParaRPr lang="en-US" sz="1600" dirty="0"/>
          </a:p>
        </p:txBody>
      </p:sp>
      <p:sp>
        <p:nvSpPr>
          <p:cNvPr id="6" name="Shape 4"/>
          <p:cNvSpPr/>
          <p:nvPr/>
        </p:nvSpPr>
        <p:spPr>
          <a:xfrm>
            <a:off x="548640" y="1691640"/>
            <a:ext cx="4023360" cy="502920"/>
          </a:xfrm>
          <a:prstGeom prst="roundRect">
            <a:avLst>
              <a:gd name="adj" fmla="val 21818"/>
            </a:avLst>
          </a:prstGeom>
          <a:solidFill>
            <a:srgbClr val="E2F3F0"/>
          </a:solidFill>
          <a:ln w="12700">
            <a:solidFill>
              <a:srgbClr val="0E9384"/>
            </a:solidFill>
            <a:prstDash val="solid"/>
          </a:ln>
        </p:spPr>
      </p:sp>
      <p:sp>
        <p:nvSpPr>
          <p:cNvPr id="7" name="Text 5"/>
          <p:cNvSpPr txBox="1"/>
          <p:nvPr/>
        </p:nvSpPr>
        <p:spPr>
          <a:xfrm>
            <a:off x="640080" y="1691640"/>
            <a:ext cx="3840480" cy="50292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Upload Document</a:t>
            </a:r>
            <a:endParaRPr lang="en-US" sz="1500" dirty="0"/>
          </a:p>
        </p:txBody>
      </p:sp>
      <p:sp>
        <p:nvSpPr>
          <p:cNvPr id="8" name="Shape 6"/>
          <p:cNvSpPr/>
          <p:nvPr/>
        </p:nvSpPr>
        <p:spPr>
          <a:xfrm>
            <a:off x="2560320" y="2212848"/>
            <a:ext cx="914" cy="182880"/>
          </a:xfrm>
          <a:prstGeom prst="line">
            <a:avLst/>
          </a:prstGeom>
          <a:noFill/>
          <a:ln w="22225">
            <a:solidFill>
              <a:srgbClr val="5B6678"/>
            </a:solidFill>
            <a:prstDash val="solid"/>
            <a:tailEnd type="triangle"/>
          </a:ln>
        </p:spPr>
      </p:sp>
      <p:sp>
        <p:nvSpPr>
          <p:cNvPr id="9" name="Shape 7"/>
          <p:cNvSpPr/>
          <p:nvPr/>
        </p:nvSpPr>
        <p:spPr>
          <a:xfrm>
            <a:off x="548640" y="2414016"/>
            <a:ext cx="4023360" cy="502920"/>
          </a:xfrm>
          <a:prstGeom prst="roundRect">
            <a:avLst>
              <a:gd name="adj" fmla="val 21818"/>
            </a:avLst>
          </a:prstGeom>
          <a:solidFill>
            <a:srgbClr val="E2F3F0"/>
          </a:solidFill>
          <a:ln w="12700">
            <a:solidFill>
              <a:srgbClr val="0E9384"/>
            </a:solidFill>
            <a:prstDash val="solid"/>
          </a:ln>
        </p:spPr>
      </p:sp>
      <p:sp>
        <p:nvSpPr>
          <p:cNvPr id="10" name="Text 8"/>
          <p:cNvSpPr txBox="1"/>
          <p:nvPr/>
        </p:nvSpPr>
        <p:spPr>
          <a:xfrm>
            <a:off x="640080" y="2414016"/>
            <a:ext cx="3840480" cy="50292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Read Document</a:t>
            </a:r>
            <a:endParaRPr lang="en-US" sz="1500" dirty="0"/>
          </a:p>
        </p:txBody>
      </p:sp>
      <p:sp>
        <p:nvSpPr>
          <p:cNvPr id="11" name="Shape 9"/>
          <p:cNvSpPr/>
          <p:nvPr/>
        </p:nvSpPr>
        <p:spPr>
          <a:xfrm>
            <a:off x="2560320" y="2935224"/>
            <a:ext cx="914" cy="182880"/>
          </a:xfrm>
          <a:prstGeom prst="line">
            <a:avLst/>
          </a:prstGeom>
          <a:noFill/>
          <a:ln w="22225">
            <a:solidFill>
              <a:srgbClr val="5B6678"/>
            </a:solidFill>
            <a:prstDash val="solid"/>
            <a:tailEnd type="triangle"/>
          </a:ln>
        </p:spPr>
      </p:sp>
      <p:sp>
        <p:nvSpPr>
          <p:cNvPr id="12" name="Shape 10"/>
          <p:cNvSpPr/>
          <p:nvPr/>
        </p:nvSpPr>
        <p:spPr>
          <a:xfrm>
            <a:off x="548640" y="3136392"/>
            <a:ext cx="4023360" cy="502920"/>
          </a:xfrm>
          <a:prstGeom prst="roundRect">
            <a:avLst>
              <a:gd name="adj" fmla="val 21818"/>
            </a:avLst>
          </a:prstGeom>
          <a:solidFill>
            <a:srgbClr val="E2F3F0"/>
          </a:solidFill>
          <a:ln w="12700">
            <a:solidFill>
              <a:srgbClr val="0E9384"/>
            </a:solidFill>
            <a:prstDash val="solid"/>
          </a:ln>
        </p:spPr>
      </p:sp>
      <p:sp>
        <p:nvSpPr>
          <p:cNvPr id="13" name="Text 11"/>
          <p:cNvSpPr txBox="1"/>
          <p:nvPr/>
        </p:nvSpPr>
        <p:spPr>
          <a:xfrm>
            <a:off x="640080" y="3136392"/>
            <a:ext cx="3840480" cy="50292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Break into Small Sections</a:t>
            </a:r>
            <a:endParaRPr lang="en-US" sz="1500" dirty="0"/>
          </a:p>
        </p:txBody>
      </p:sp>
      <p:sp>
        <p:nvSpPr>
          <p:cNvPr id="14" name="Shape 12"/>
          <p:cNvSpPr/>
          <p:nvPr/>
        </p:nvSpPr>
        <p:spPr>
          <a:xfrm>
            <a:off x="2560320" y="3657600"/>
            <a:ext cx="914" cy="182880"/>
          </a:xfrm>
          <a:prstGeom prst="line">
            <a:avLst/>
          </a:prstGeom>
          <a:noFill/>
          <a:ln w="22225">
            <a:solidFill>
              <a:srgbClr val="5B6678"/>
            </a:solidFill>
            <a:prstDash val="solid"/>
            <a:tailEnd type="triangle"/>
          </a:ln>
        </p:spPr>
      </p:sp>
      <p:sp>
        <p:nvSpPr>
          <p:cNvPr id="15" name="Shape 13"/>
          <p:cNvSpPr/>
          <p:nvPr/>
        </p:nvSpPr>
        <p:spPr>
          <a:xfrm>
            <a:off x="548640" y="3858768"/>
            <a:ext cx="4023360" cy="502920"/>
          </a:xfrm>
          <a:prstGeom prst="roundRect">
            <a:avLst>
              <a:gd name="adj" fmla="val 21818"/>
            </a:avLst>
          </a:prstGeom>
          <a:solidFill>
            <a:srgbClr val="E2F3F0"/>
          </a:solidFill>
          <a:ln w="12700">
            <a:solidFill>
              <a:srgbClr val="0E9384"/>
            </a:solidFill>
            <a:prstDash val="solid"/>
          </a:ln>
        </p:spPr>
      </p:sp>
      <p:sp>
        <p:nvSpPr>
          <p:cNvPr id="16" name="Text 14"/>
          <p:cNvSpPr txBox="1"/>
          <p:nvPr/>
        </p:nvSpPr>
        <p:spPr>
          <a:xfrm>
            <a:off x="640080" y="3858768"/>
            <a:ext cx="3840480" cy="50292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Prepare Sections for Search</a:t>
            </a:r>
            <a:endParaRPr lang="en-US" sz="1500" dirty="0"/>
          </a:p>
        </p:txBody>
      </p:sp>
      <p:sp>
        <p:nvSpPr>
          <p:cNvPr id="17" name="Shape 15"/>
          <p:cNvSpPr/>
          <p:nvPr/>
        </p:nvSpPr>
        <p:spPr>
          <a:xfrm>
            <a:off x="2560320" y="4379976"/>
            <a:ext cx="914" cy="182880"/>
          </a:xfrm>
          <a:prstGeom prst="line">
            <a:avLst/>
          </a:prstGeom>
          <a:noFill/>
          <a:ln w="22225">
            <a:solidFill>
              <a:srgbClr val="5B6678"/>
            </a:solidFill>
            <a:prstDash val="solid"/>
            <a:tailEnd type="triangle"/>
          </a:ln>
        </p:spPr>
      </p:sp>
      <p:sp>
        <p:nvSpPr>
          <p:cNvPr id="18" name="Shape 16"/>
          <p:cNvSpPr/>
          <p:nvPr/>
        </p:nvSpPr>
        <p:spPr>
          <a:xfrm>
            <a:off x="548640" y="4581144"/>
            <a:ext cx="4023360" cy="502920"/>
          </a:xfrm>
          <a:prstGeom prst="roundRect">
            <a:avLst>
              <a:gd name="adj" fmla="val 21818"/>
            </a:avLst>
          </a:prstGeom>
          <a:solidFill>
            <a:srgbClr val="E2F3F0"/>
          </a:solidFill>
          <a:ln w="12700">
            <a:solidFill>
              <a:srgbClr val="0E9384"/>
            </a:solidFill>
            <a:prstDash val="solid"/>
          </a:ln>
        </p:spPr>
      </p:sp>
      <p:sp>
        <p:nvSpPr>
          <p:cNvPr id="19" name="Text 17"/>
          <p:cNvSpPr txBox="1"/>
          <p:nvPr/>
        </p:nvSpPr>
        <p:spPr>
          <a:xfrm>
            <a:off x="640080" y="4581144"/>
            <a:ext cx="3840480" cy="50292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Store Knowledge</a:t>
            </a:r>
            <a:endParaRPr lang="en-US" sz="1500" dirty="0"/>
          </a:p>
        </p:txBody>
      </p:sp>
      <p:sp>
        <p:nvSpPr>
          <p:cNvPr id="20" name="Shape 18"/>
          <p:cNvSpPr/>
          <p:nvPr/>
        </p:nvSpPr>
        <p:spPr>
          <a:xfrm>
            <a:off x="2560320" y="5102352"/>
            <a:ext cx="914" cy="182880"/>
          </a:xfrm>
          <a:prstGeom prst="line">
            <a:avLst/>
          </a:prstGeom>
          <a:noFill/>
          <a:ln w="22225">
            <a:solidFill>
              <a:srgbClr val="5B6678"/>
            </a:solidFill>
            <a:prstDash val="solid"/>
            <a:tailEnd type="triangle"/>
          </a:ln>
        </p:spPr>
      </p:sp>
      <p:sp>
        <p:nvSpPr>
          <p:cNvPr id="21" name="Shape 19"/>
          <p:cNvSpPr/>
          <p:nvPr/>
        </p:nvSpPr>
        <p:spPr>
          <a:xfrm>
            <a:off x="548640" y="5303520"/>
            <a:ext cx="4023360" cy="502920"/>
          </a:xfrm>
          <a:prstGeom prst="roundRect">
            <a:avLst>
              <a:gd name="adj" fmla="val 21818"/>
            </a:avLst>
          </a:prstGeom>
          <a:solidFill>
            <a:srgbClr val="E2F3F0"/>
          </a:solidFill>
          <a:ln w="12700">
            <a:solidFill>
              <a:srgbClr val="0E9384"/>
            </a:solidFill>
            <a:prstDash val="solid"/>
          </a:ln>
        </p:spPr>
      </p:sp>
      <p:sp>
        <p:nvSpPr>
          <p:cNvPr id="22" name="Text 20"/>
          <p:cNvSpPr txBox="1"/>
          <p:nvPr/>
        </p:nvSpPr>
        <p:spPr>
          <a:xfrm>
            <a:off x="640080" y="5303520"/>
            <a:ext cx="3840480" cy="50292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Ready for Questions</a:t>
            </a:r>
            <a:endParaRPr lang="en-US" sz="1500" dirty="0"/>
          </a:p>
        </p:txBody>
      </p:sp>
      <p:sp>
        <p:nvSpPr>
          <p:cNvPr id="23" name="Text 21"/>
          <p:cNvSpPr txBox="1"/>
          <p:nvPr/>
        </p:nvSpPr>
        <p:spPr>
          <a:xfrm>
            <a:off x="5303520" y="1737360"/>
            <a:ext cx="6309360" cy="457200"/>
          </a:xfrm>
          <a:prstGeom prst="rect">
            <a:avLst/>
          </a:prstGeom>
          <a:noFill/>
          <a:ln/>
        </p:spPr>
        <p:txBody>
          <a:bodyPr wrap="square" lIns="0" tIns="0" rIns="0" bIns="0" rtlCol="0" anchor="ctr"/>
          <a:lstStyle/>
          <a:p>
            <a:pPr marL="0" indent="0">
              <a:buNone/>
            </a:pPr>
            <a:r>
              <a:rPr lang="en-US" sz="2200" b="1" dirty="0">
                <a:solidFill>
                  <a:srgbClr val="1B2433"/>
                </a:solidFill>
                <a:latin typeface="Calibri" pitchFamily="34" charset="0"/>
                <a:ea typeface="Calibri" pitchFamily="34" charset="-122"/>
                <a:cs typeface="Calibri" pitchFamily="34" charset="-120"/>
              </a:rPr>
              <a:t>Why is this needed?</a:t>
            </a:r>
            <a:endParaRPr lang="en-US" sz="2200" dirty="0"/>
          </a:p>
        </p:txBody>
      </p:sp>
      <p:sp>
        <p:nvSpPr>
          <p:cNvPr id="24" name="Shape 22"/>
          <p:cNvSpPr/>
          <p:nvPr/>
        </p:nvSpPr>
        <p:spPr>
          <a:xfrm>
            <a:off x="5303520" y="2423160"/>
            <a:ext cx="566928" cy="566928"/>
          </a:xfrm>
          <a:prstGeom prst="ellipse">
            <a:avLst/>
          </a:prstGeom>
          <a:solidFill>
            <a:srgbClr val="0E9384"/>
          </a:solidFill>
          <a:ln w="12700">
            <a:solidFill>
              <a:srgbClr val="0E9384"/>
            </a:solidFill>
            <a:prstDash val="solid"/>
          </a:ln>
        </p:spPr>
      </p:sp>
      <p:pic>
        <p:nvPicPr>
          <p:cNvPr id="25" name="Image 0" descr="preencoded.png"/>
          <p:cNvPicPr>
            <a:picLocks noChangeAspect="1"/>
          </p:cNvPicPr>
          <p:nvPr/>
        </p:nvPicPr>
        <p:blipFill>
          <a:blip r:embed="rId3"/>
          <a:stretch>
            <a:fillRect/>
          </a:stretch>
        </p:blipFill>
        <p:spPr>
          <a:xfrm>
            <a:off x="5450921" y="2570561"/>
            <a:ext cx="272125" cy="272125"/>
          </a:xfrm>
          <a:prstGeom prst="rect">
            <a:avLst/>
          </a:prstGeom>
        </p:spPr>
      </p:pic>
      <p:sp>
        <p:nvSpPr>
          <p:cNvPr id="26" name="Text 23"/>
          <p:cNvSpPr txBox="1"/>
          <p:nvPr/>
        </p:nvSpPr>
        <p:spPr>
          <a:xfrm>
            <a:off x="6071616" y="2404872"/>
            <a:ext cx="5541264" cy="310896"/>
          </a:xfrm>
          <a:prstGeom prst="rect">
            <a:avLst/>
          </a:prstGeom>
          <a:noFill/>
          <a:ln/>
        </p:spPr>
        <p:txBody>
          <a:bodyPr wrap="square" lIns="0" tIns="0" rIns="0" bIns="0" rtlCol="0" anchor="t"/>
          <a:lstStyle/>
          <a:p>
            <a:pPr marL="0" indent="0">
              <a:buNone/>
            </a:pPr>
            <a:r>
              <a:rPr lang="en-US" sz="1600" b="1" dirty="0">
                <a:solidFill>
                  <a:srgbClr val="1B2433"/>
                </a:solidFill>
                <a:latin typeface="Calibri" pitchFamily="34" charset="0"/>
                <a:ea typeface="Calibri" pitchFamily="34" charset="-122"/>
                <a:cs typeface="Calibri" pitchFamily="34" charset="-120"/>
              </a:rPr>
              <a:t>Fast search</a:t>
            </a:r>
            <a:endParaRPr lang="en-US" sz="1600" dirty="0"/>
          </a:p>
        </p:txBody>
      </p:sp>
      <p:sp>
        <p:nvSpPr>
          <p:cNvPr id="27" name="Text 24"/>
          <p:cNvSpPr txBox="1"/>
          <p:nvPr/>
        </p:nvSpPr>
        <p:spPr>
          <a:xfrm>
            <a:off x="6071616" y="2715768"/>
            <a:ext cx="5541264" cy="38404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Small sections let the system find the exact paragraph that answers a question.</a:t>
            </a:r>
            <a:endParaRPr lang="en-US" sz="1300" dirty="0"/>
          </a:p>
        </p:txBody>
      </p:sp>
      <p:sp>
        <p:nvSpPr>
          <p:cNvPr id="28" name="Shape 25"/>
          <p:cNvSpPr/>
          <p:nvPr/>
        </p:nvSpPr>
        <p:spPr>
          <a:xfrm>
            <a:off x="5303520" y="3611880"/>
            <a:ext cx="566928" cy="566928"/>
          </a:xfrm>
          <a:prstGeom prst="ellipse">
            <a:avLst/>
          </a:prstGeom>
          <a:solidFill>
            <a:srgbClr val="0E9384"/>
          </a:solidFill>
          <a:ln w="12700">
            <a:solidFill>
              <a:srgbClr val="0E9384"/>
            </a:solidFill>
            <a:prstDash val="solid"/>
          </a:ln>
        </p:spPr>
      </p:sp>
      <p:pic>
        <p:nvPicPr>
          <p:cNvPr id="29" name="Image 1" descr="preencoded.png"/>
          <p:cNvPicPr>
            <a:picLocks noChangeAspect="1"/>
          </p:cNvPicPr>
          <p:nvPr/>
        </p:nvPicPr>
        <p:blipFill>
          <a:blip r:embed="rId4"/>
          <a:stretch>
            <a:fillRect/>
          </a:stretch>
        </p:blipFill>
        <p:spPr>
          <a:xfrm>
            <a:off x="5450921" y="3759281"/>
            <a:ext cx="272125" cy="272125"/>
          </a:xfrm>
          <a:prstGeom prst="rect">
            <a:avLst/>
          </a:prstGeom>
        </p:spPr>
      </p:pic>
      <p:sp>
        <p:nvSpPr>
          <p:cNvPr id="30" name="Text 26"/>
          <p:cNvSpPr txBox="1"/>
          <p:nvPr/>
        </p:nvSpPr>
        <p:spPr>
          <a:xfrm>
            <a:off x="6071616" y="3593592"/>
            <a:ext cx="5541264" cy="310896"/>
          </a:xfrm>
          <a:prstGeom prst="rect">
            <a:avLst/>
          </a:prstGeom>
          <a:noFill/>
          <a:ln/>
        </p:spPr>
        <p:txBody>
          <a:bodyPr wrap="square" lIns="0" tIns="0" rIns="0" bIns="0" rtlCol="0" anchor="t"/>
          <a:lstStyle/>
          <a:p>
            <a:pPr marL="0" indent="0">
              <a:buNone/>
            </a:pPr>
            <a:r>
              <a:rPr lang="en-US" sz="1600" b="1" dirty="0">
                <a:solidFill>
                  <a:srgbClr val="1B2433"/>
                </a:solidFill>
                <a:latin typeface="Calibri" pitchFamily="34" charset="0"/>
                <a:ea typeface="Calibri" pitchFamily="34" charset="-122"/>
                <a:cs typeface="Calibri" pitchFamily="34" charset="-120"/>
              </a:rPr>
              <a:t>Search by meaning</a:t>
            </a:r>
            <a:endParaRPr lang="en-US" sz="1600" dirty="0"/>
          </a:p>
        </p:txBody>
      </p:sp>
      <p:sp>
        <p:nvSpPr>
          <p:cNvPr id="31" name="Text 27"/>
          <p:cNvSpPr txBox="1"/>
          <p:nvPr/>
        </p:nvSpPr>
        <p:spPr>
          <a:xfrm>
            <a:off x="6071616" y="3904488"/>
            <a:ext cx="5541264" cy="38404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It finds "reset my password" even if the document says "forgot login details".</a:t>
            </a:r>
            <a:endParaRPr lang="en-US" sz="1300" dirty="0"/>
          </a:p>
        </p:txBody>
      </p:sp>
      <p:sp>
        <p:nvSpPr>
          <p:cNvPr id="32" name="Shape 28"/>
          <p:cNvSpPr/>
          <p:nvPr/>
        </p:nvSpPr>
        <p:spPr>
          <a:xfrm>
            <a:off x="5303520" y="4800600"/>
            <a:ext cx="566928" cy="566928"/>
          </a:xfrm>
          <a:prstGeom prst="ellipse">
            <a:avLst/>
          </a:prstGeom>
          <a:solidFill>
            <a:srgbClr val="0E9384"/>
          </a:solidFill>
          <a:ln w="12700">
            <a:solidFill>
              <a:srgbClr val="0E9384"/>
            </a:solidFill>
            <a:prstDash val="solid"/>
          </a:ln>
        </p:spPr>
      </p:sp>
      <p:pic>
        <p:nvPicPr>
          <p:cNvPr id="33" name="Image 2" descr="preencoded.png"/>
          <p:cNvPicPr>
            <a:picLocks noChangeAspect="1"/>
          </p:cNvPicPr>
          <p:nvPr/>
        </p:nvPicPr>
        <p:blipFill>
          <a:blip r:embed="rId5"/>
          <a:stretch>
            <a:fillRect/>
          </a:stretch>
        </p:blipFill>
        <p:spPr>
          <a:xfrm>
            <a:off x="5450921" y="4948001"/>
            <a:ext cx="272125" cy="272125"/>
          </a:xfrm>
          <a:prstGeom prst="rect">
            <a:avLst/>
          </a:prstGeom>
        </p:spPr>
      </p:pic>
      <p:sp>
        <p:nvSpPr>
          <p:cNvPr id="34" name="Text 29"/>
          <p:cNvSpPr txBox="1"/>
          <p:nvPr/>
        </p:nvSpPr>
        <p:spPr>
          <a:xfrm>
            <a:off x="6071616" y="4782312"/>
            <a:ext cx="5541264" cy="310896"/>
          </a:xfrm>
          <a:prstGeom prst="rect">
            <a:avLst/>
          </a:prstGeom>
          <a:noFill/>
          <a:ln/>
        </p:spPr>
        <p:txBody>
          <a:bodyPr wrap="square" lIns="0" tIns="0" rIns="0" bIns="0" rtlCol="0" anchor="t"/>
          <a:lstStyle/>
          <a:p>
            <a:pPr marL="0" indent="0">
              <a:buNone/>
            </a:pPr>
            <a:r>
              <a:rPr lang="en-US" sz="1600" b="1" dirty="0">
                <a:solidFill>
                  <a:srgbClr val="1B2433"/>
                </a:solidFill>
                <a:latin typeface="Calibri" pitchFamily="34" charset="0"/>
                <a:ea typeface="Calibri" pitchFamily="34" charset="-122"/>
                <a:cs typeface="Calibri" pitchFamily="34" charset="-120"/>
              </a:rPr>
              <a:t>Always up to date</a:t>
            </a:r>
            <a:endParaRPr lang="en-US" sz="1600" dirty="0"/>
          </a:p>
        </p:txBody>
      </p:sp>
      <p:sp>
        <p:nvSpPr>
          <p:cNvPr id="35" name="Text 30"/>
          <p:cNvSpPr txBox="1"/>
          <p:nvPr/>
        </p:nvSpPr>
        <p:spPr>
          <a:xfrm>
            <a:off x="6071616" y="5093208"/>
            <a:ext cx="5541264" cy="38404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Upload a new version and the knowledge updates — no retraining needed.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8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Asking a question</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Example from the Knowledge Base Test</a:t>
            </a:r>
            <a:endParaRPr lang="en-US" sz="1600" dirty="0"/>
          </a:p>
        </p:txBody>
      </p:sp>
      <p:sp>
        <p:nvSpPr>
          <p:cNvPr id="6" name="Shape 4"/>
          <p:cNvSpPr/>
          <p:nvPr/>
        </p:nvSpPr>
        <p:spPr>
          <a:xfrm>
            <a:off x="548640" y="1737360"/>
            <a:ext cx="4754880" cy="1371600"/>
          </a:xfrm>
          <a:prstGeom prst="roundRect">
            <a:avLst>
              <a:gd name="adj" fmla="val 8000"/>
            </a:avLst>
          </a:prstGeom>
          <a:solidFill>
            <a:srgbClr val="F4F7FA"/>
          </a:solidFill>
          <a:ln w="12700">
            <a:solidFill>
              <a:srgbClr val="CBD4DE"/>
            </a:solidFill>
            <a:prstDash val="solid"/>
          </a:ln>
        </p:spPr>
      </p:sp>
      <p:sp>
        <p:nvSpPr>
          <p:cNvPr id="7" name="Text 5"/>
          <p:cNvSpPr txBox="1"/>
          <p:nvPr/>
        </p:nvSpPr>
        <p:spPr>
          <a:xfrm>
            <a:off x="822960" y="1920240"/>
            <a:ext cx="4206240" cy="274320"/>
          </a:xfrm>
          <a:prstGeom prst="rect">
            <a:avLst/>
          </a:prstGeom>
          <a:noFill/>
          <a:ln/>
        </p:spPr>
        <p:txBody>
          <a:bodyPr wrap="square" lIns="0" tIns="0" rIns="0" bIns="0" rtlCol="0" anchor="ctr"/>
          <a:lstStyle/>
          <a:p>
            <a:pPr marL="0" indent="0">
              <a:buNone/>
            </a:pPr>
            <a:r>
              <a:rPr lang="en-US" sz="1200" b="1" kern="0" spc="100" dirty="0">
                <a:solidFill>
                  <a:srgbClr val="0E9384"/>
                </a:solidFill>
                <a:latin typeface="Calibri" pitchFamily="34" charset="0"/>
                <a:ea typeface="Calibri" pitchFamily="34" charset="-122"/>
                <a:cs typeface="Calibri" pitchFamily="34" charset="-120"/>
              </a:rPr>
              <a:t>INPUT — QUESTION</a:t>
            </a:r>
            <a:endParaRPr lang="en-US" sz="1200" dirty="0"/>
          </a:p>
        </p:txBody>
      </p:sp>
      <p:sp>
        <p:nvSpPr>
          <p:cNvPr id="8" name="Text 6"/>
          <p:cNvSpPr txBox="1"/>
          <p:nvPr/>
        </p:nvSpPr>
        <p:spPr>
          <a:xfrm>
            <a:off x="822960" y="2240280"/>
            <a:ext cx="4206240" cy="685800"/>
          </a:xfrm>
          <a:prstGeom prst="rect">
            <a:avLst/>
          </a:prstGeom>
          <a:noFill/>
          <a:ln/>
        </p:spPr>
        <p:txBody>
          <a:bodyPr wrap="square" lIns="0" tIns="0" rIns="0" bIns="0" rtlCol="0" anchor="t"/>
          <a:lstStyle/>
          <a:p>
            <a:pPr marL="0" indent="0">
              <a:buNone/>
            </a:pPr>
            <a:r>
              <a:rPr lang="en-US" sz="2200" i="1" dirty="0">
                <a:solidFill>
                  <a:srgbClr val="1B2433"/>
                </a:solidFill>
                <a:latin typeface="Calibri" pitchFamily="34" charset="0"/>
                <a:ea typeface="Calibri" pitchFamily="34" charset="-122"/>
                <a:cs typeface="Calibri" pitchFamily="34" charset="-120"/>
              </a:rPr>
              <a:t>“How can I reset my password?”</a:t>
            </a:r>
            <a:endParaRPr lang="en-US" sz="2200" dirty="0"/>
          </a:p>
        </p:txBody>
      </p:sp>
      <p:sp>
        <p:nvSpPr>
          <p:cNvPr id="9" name="Shape 7"/>
          <p:cNvSpPr/>
          <p:nvPr/>
        </p:nvSpPr>
        <p:spPr>
          <a:xfrm>
            <a:off x="548640" y="3520440"/>
            <a:ext cx="2526030" cy="822960"/>
          </a:xfrm>
          <a:prstGeom prst="roundRect">
            <a:avLst>
              <a:gd name="adj" fmla="val 13333"/>
            </a:avLst>
          </a:prstGeom>
          <a:solidFill>
            <a:srgbClr val="E2F3F0"/>
          </a:solidFill>
          <a:ln w="12700">
            <a:solidFill>
              <a:srgbClr val="0E9384"/>
            </a:solidFill>
            <a:prstDash val="solid"/>
          </a:ln>
        </p:spPr>
      </p:sp>
      <p:sp>
        <p:nvSpPr>
          <p:cNvPr id="10" name="Text 8"/>
          <p:cNvSpPr txBox="1"/>
          <p:nvPr/>
        </p:nvSpPr>
        <p:spPr>
          <a:xfrm>
            <a:off x="594360" y="3520440"/>
            <a:ext cx="2434590" cy="82296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Question</a:t>
            </a:r>
            <a:endParaRPr lang="en-US" sz="1500" dirty="0"/>
          </a:p>
        </p:txBody>
      </p:sp>
      <p:sp>
        <p:nvSpPr>
          <p:cNvPr id="11" name="Shape 9"/>
          <p:cNvSpPr/>
          <p:nvPr/>
        </p:nvSpPr>
        <p:spPr>
          <a:xfrm>
            <a:off x="3111246" y="3931920"/>
            <a:ext cx="256032" cy="914"/>
          </a:xfrm>
          <a:prstGeom prst="line">
            <a:avLst/>
          </a:prstGeom>
          <a:noFill/>
          <a:ln w="22225">
            <a:solidFill>
              <a:srgbClr val="5B6678"/>
            </a:solidFill>
            <a:prstDash val="solid"/>
            <a:tailEnd type="triangle"/>
          </a:ln>
        </p:spPr>
      </p:sp>
      <p:sp>
        <p:nvSpPr>
          <p:cNvPr id="12" name="Shape 10"/>
          <p:cNvSpPr/>
          <p:nvPr/>
        </p:nvSpPr>
        <p:spPr>
          <a:xfrm>
            <a:off x="3403854" y="3520440"/>
            <a:ext cx="2526030" cy="822960"/>
          </a:xfrm>
          <a:prstGeom prst="roundRect">
            <a:avLst>
              <a:gd name="adj" fmla="val 13333"/>
            </a:avLst>
          </a:prstGeom>
          <a:solidFill>
            <a:srgbClr val="E2F3F0"/>
          </a:solidFill>
          <a:ln w="12700">
            <a:solidFill>
              <a:srgbClr val="0E9384"/>
            </a:solidFill>
            <a:prstDash val="solid"/>
          </a:ln>
        </p:spPr>
      </p:sp>
      <p:sp>
        <p:nvSpPr>
          <p:cNvPr id="13" name="Text 11"/>
          <p:cNvSpPr txBox="1"/>
          <p:nvPr/>
        </p:nvSpPr>
        <p:spPr>
          <a:xfrm>
            <a:off x="3449574" y="3520440"/>
            <a:ext cx="2434590" cy="82296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Search Knowledge</a:t>
            </a:r>
            <a:endParaRPr lang="en-US" sz="1500" dirty="0"/>
          </a:p>
        </p:txBody>
      </p:sp>
      <p:sp>
        <p:nvSpPr>
          <p:cNvPr id="14" name="Shape 12"/>
          <p:cNvSpPr/>
          <p:nvPr/>
        </p:nvSpPr>
        <p:spPr>
          <a:xfrm>
            <a:off x="5966460" y="3931920"/>
            <a:ext cx="256032" cy="914"/>
          </a:xfrm>
          <a:prstGeom prst="line">
            <a:avLst/>
          </a:prstGeom>
          <a:noFill/>
          <a:ln w="22225">
            <a:solidFill>
              <a:srgbClr val="5B6678"/>
            </a:solidFill>
            <a:prstDash val="solid"/>
            <a:tailEnd type="triangle"/>
          </a:ln>
        </p:spPr>
      </p:sp>
      <p:sp>
        <p:nvSpPr>
          <p:cNvPr id="15" name="Shape 13"/>
          <p:cNvSpPr/>
          <p:nvPr/>
        </p:nvSpPr>
        <p:spPr>
          <a:xfrm>
            <a:off x="6259068" y="3520440"/>
            <a:ext cx="2526030" cy="822960"/>
          </a:xfrm>
          <a:prstGeom prst="roundRect">
            <a:avLst>
              <a:gd name="adj" fmla="val 13333"/>
            </a:avLst>
          </a:prstGeom>
          <a:solidFill>
            <a:srgbClr val="E2F3F0"/>
          </a:solidFill>
          <a:ln w="12700">
            <a:solidFill>
              <a:srgbClr val="0E9384"/>
            </a:solidFill>
            <a:prstDash val="solid"/>
          </a:ln>
        </p:spPr>
      </p:sp>
      <p:sp>
        <p:nvSpPr>
          <p:cNvPr id="16" name="Text 14"/>
          <p:cNvSpPr txBox="1"/>
          <p:nvPr/>
        </p:nvSpPr>
        <p:spPr>
          <a:xfrm>
            <a:off x="6304788" y="3520440"/>
            <a:ext cx="2434590" cy="82296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Find Relevant Information</a:t>
            </a:r>
            <a:endParaRPr lang="en-US" sz="1500" dirty="0"/>
          </a:p>
        </p:txBody>
      </p:sp>
      <p:sp>
        <p:nvSpPr>
          <p:cNvPr id="17" name="Shape 15"/>
          <p:cNvSpPr/>
          <p:nvPr/>
        </p:nvSpPr>
        <p:spPr>
          <a:xfrm>
            <a:off x="8821674" y="3931920"/>
            <a:ext cx="256032" cy="914"/>
          </a:xfrm>
          <a:prstGeom prst="line">
            <a:avLst/>
          </a:prstGeom>
          <a:noFill/>
          <a:ln w="22225">
            <a:solidFill>
              <a:srgbClr val="5B6678"/>
            </a:solidFill>
            <a:prstDash val="solid"/>
            <a:tailEnd type="triangle"/>
          </a:ln>
        </p:spPr>
      </p:sp>
      <p:sp>
        <p:nvSpPr>
          <p:cNvPr id="18" name="Shape 16"/>
          <p:cNvSpPr/>
          <p:nvPr/>
        </p:nvSpPr>
        <p:spPr>
          <a:xfrm>
            <a:off x="9114282" y="3520440"/>
            <a:ext cx="2526030" cy="822960"/>
          </a:xfrm>
          <a:prstGeom prst="roundRect">
            <a:avLst>
              <a:gd name="adj" fmla="val 13333"/>
            </a:avLst>
          </a:prstGeom>
          <a:solidFill>
            <a:srgbClr val="E2F3F0"/>
          </a:solidFill>
          <a:ln w="12700">
            <a:solidFill>
              <a:srgbClr val="0E9384"/>
            </a:solidFill>
            <a:prstDash val="solid"/>
          </a:ln>
        </p:spPr>
      </p:sp>
      <p:sp>
        <p:nvSpPr>
          <p:cNvPr id="19" name="Text 17"/>
          <p:cNvSpPr txBox="1"/>
          <p:nvPr/>
        </p:nvSpPr>
        <p:spPr>
          <a:xfrm>
            <a:off x="9160002" y="3520440"/>
            <a:ext cx="2434590" cy="82296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Generate Answer</a:t>
            </a:r>
            <a:endParaRPr lang="en-US" sz="1500" dirty="0"/>
          </a:p>
        </p:txBody>
      </p:sp>
      <p:sp>
        <p:nvSpPr>
          <p:cNvPr id="20" name="Shape 18"/>
          <p:cNvSpPr/>
          <p:nvPr/>
        </p:nvSpPr>
        <p:spPr>
          <a:xfrm>
            <a:off x="5440680" y="4663440"/>
            <a:ext cx="6199632" cy="1508760"/>
          </a:xfrm>
          <a:prstGeom prst="roundRect">
            <a:avLst>
              <a:gd name="adj" fmla="val 7273"/>
            </a:avLst>
          </a:prstGeom>
          <a:solidFill>
            <a:srgbClr val="FCEFDF"/>
          </a:solidFill>
          <a:ln w="12700">
            <a:solidFill>
              <a:srgbClr val="CBD4DE"/>
            </a:solidFill>
            <a:prstDash val="solid"/>
          </a:ln>
        </p:spPr>
      </p:sp>
      <p:sp>
        <p:nvSpPr>
          <p:cNvPr id="21" name="Text 19"/>
          <p:cNvSpPr txBox="1"/>
          <p:nvPr/>
        </p:nvSpPr>
        <p:spPr>
          <a:xfrm>
            <a:off x="5715000" y="4846320"/>
            <a:ext cx="5650992" cy="274320"/>
          </a:xfrm>
          <a:prstGeom prst="rect">
            <a:avLst/>
          </a:prstGeom>
          <a:noFill/>
          <a:ln/>
        </p:spPr>
        <p:txBody>
          <a:bodyPr wrap="square" lIns="0" tIns="0" rIns="0" bIns="0" rtlCol="0" anchor="ctr"/>
          <a:lstStyle/>
          <a:p>
            <a:pPr marL="0" indent="0">
              <a:buNone/>
            </a:pPr>
            <a:r>
              <a:rPr lang="en-US" sz="1200" b="1" kern="0" spc="100" dirty="0">
                <a:solidFill>
                  <a:srgbClr val="D97F1E"/>
                </a:solidFill>
                <a:latin typeface="Calibri" pitchFamily="34" charset="0"/>
                <a:ea typeface="Calibri" pitchFamily="34" charset="-122"/>
                <a:cs typeface="Calibri" pitchFamily="34" charset="-120"/>
              </a:rPr>
              <a:t>OUTPUT — AI ANSWER</a:t>
            </a:r>
            <a:endParaRPr lang="en-US" sz="1200" dirty="0"/>
          </a:p>
        </p:txBody>
      </p:sp>
      <p:sp>
        <p:nvSpPr>
          <p:cNvPr id="22" name="Text 20"/>
          <p:cNvSpPr txBox="1"/>
          <p:nvPr/>
        </p:nvSpPr>
        <p:spPr>
          <a:xfrm>
            <a:off x="5715000" y="5166360"/>
            <a:ext cx="5650992" cy="822960"/>
          </a:xfrm>
          <a:prstGeom prst="rect">
            <a:avLst/>
          </a:prstGeom>
          <a:noFill/>
          <a:ln/>
        </p:spPr>
        <p:txBody>
          <a:bodyPr wrap="square" lIns="0" tIns="0" rIns="0" bIns="0" rtlCol="0" anchor="t"/>
          <a:lstStyle/>
          <a:p>
            <a:pPr marL="0" indent="0">
              <a:buNone/>
            </a:pPr>
            <a:r>
              <a:rPr lang="en-US" sz="1500" dirty="0">
                <a:solidFill>
                  <a:srgbClr val="1B2433"/>
                </a:solidFill>
                <a:latin typeface="Calibri" pitchFamily="34" charset="0"/>
                <a:ea typeface="Calibri" pitchFamily="34" charset="-122"/>
                <a:cs typeface="Calibri" pitchFamily="34" charset="-120"/>
              </a:rPr>
              <a:t>You can reset your password by selecting “Forgot Password” on the login page and following the instructions sent to your registered email.</a:t>
            </a:r>
            <a:endParaRPr lang="en-US" sz="1500" dirty="0"/>
          </a:p>
        </p:txBody>
      </p:sp>
      <p:sp>
        <p:nvSpPr>
          <p:cNvPr id="23" name="Text 21"/>
          <p:cNvSpPr txBox="1"/>
          <p:nvPr/>
        </p:nvSpPr>
        <p:spPr>
          <a:xfrm>
            <a:off x="548640" y="4892040"/>
            <a:ext cx="4572000" cy="457200"/>
          </a:xfrm>
          <a:prstGeom prst="rect">
            <a:avLst/>
          </a:prstGeom>
          <a:noFill/>
          <a:ln/>
        </p:spPr>
        <p:txBody>
          <a:bodyPr wrap="square" lIns="0" tIns="0" rIns="0" bIns="0" rtlCol="0" anchor="ctr"/>
          <a:lstStyle/>
          <a:p>
            <a:pPr marL="0" indent="0">
              <a:buNone/>
            </a:pPr>
            <a:r>
              <a:rPr lang="en-US" sz="1500" b="1" dirty="0">
                <a:solidFill>
                  <a:srgbClr val="0E9384"/>
                </a:solidFill>
                <a:latin typeface="Calibri" pitchFamily="34" charset="0"/>
                <a:ea typeface="Calibri" pitchFamily="34" charset="-122"/>
                <a:cs typeface="Calibri" pitchFamily="34" charset="-120"/>
              </a:rPr>
              <a:t>Source shown with every answer: FAQ.pdf</a:t>
            </a:r>
            <a:endParaRPr lang="en-US" sz="1500" dirty="0"/>
          </a:p>
        </p:txBody>
      </p:sp>
      <p:sp>
        <p:nvSpPr>
          <p:cNvPr id="24" name="Text 22"/>
          <p:cNvSpPr txBox="1"/>
          <p:nvPr/>
        </p:nvSpPr>
        <p:spPr>
          <a:xfrm>
            <a:off x="548640" y="5303520"/>
            <a:ext cx="4572000" cy="457200"/>
          </a:xfrm>
          <a:prstGeom prst="rect">
            <a:avLst/>
          </a:prstGeom>
          <a:noFill/>
          <a:ln/>
        </p:spPr>
        <p:txBody>
          <a:bodyPr wrap="square" lIns="0" tIns="0" rIns="0" bIns="0" rtlCol="0" anchor="ctr"/>
          <a:lstStyle/>
          <a:p>
            <a:pPr marL="0" indent="0">
              <a:buNone/>
            </a:pPr>
            <a:r>
              <a:rPr lang="en-US" sz="1300" dirty="0">
                <a:solidFill>
                  <a:srgbClr val="5B6678"/>
                </a:solidFill>
                <a:latin typeface="Calibri" pitchFamily="34" charset="0"/>
                <a:ea typeface="Calibri" pitchFamily="34" charset="-122"/>
                <a:cs typeface="Calibri" pitchFamily="34" charset="-120"/>
              </a:rPr>
              <a:t>So you can always check where the answer came from.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9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Knowledge search</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Finding the most relevant information for a question</a:t>
            </a:r>
            <a:endParaRPr lang="en-US" sz="1600" dirty="0"/>
          </a:p>
        </p:txBody>
      </p:sp>
      <p:sp>
        <p:nvSpPr>
          <p:cNvPr id="6" name="Shape 4"/>
          <p:cNvSpPr/>
          <p:nvPr/>
        </p:nvSpPr>
        <p:spPr>
          <a:xfrm>
            <a:off x="548640" y="1783080"/>
            <a:ext cx="3291840" cy="658368"/>
          </a:xfrm>
          <a:prstGeom prst="roundRect">
            <a:avLst>
              <a:gd name="adj" fmla="val 16667"/>
            </a:avLst>
          </a:prstGeom>
          <a:solidFill>
            <a:srgbClr val="E2F3F0"/>
          </a:solidFill>
          <a:ln w="12700">
            <a:solidFill>
              <a:srgbClr val="0E9384"/>
            </a:solidFill>
            <a:prstDash val="solid"/>
          </a:ln>
        </p:spPr>
      </p:sp>
      <p:sp>
        <p:nvSpPr>
          <p:cNvPr id="7" name="Text 5"/>
          <p:cNvSpPr txBox="1"/>
          <p:nvPr/>
        </p:nvSpPr>
        <p:spPr>
          <a:xfrm>
            <a:off x="640080" y="1783080"/>
            <a:ext cx="3108960" cy="658368"/>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Question</a:t>
            </a:r>
            <a:endParaRPr lang="en-US" sz="1600" dirty="0"/>
          </a:p>
        </p:txBody>
      </p:sp>
      <p:sp>
        <p:nvSpPr>
          <p:cNvPr id="8" name="Shape 6"/>
          <p:cNvSpPr/>
          <p:nvPr/>
        </p:nvSpPr>
        <p:spPr>
          <a:xfrm>
            <a:off x="2194560" y="2459736"/>
            <a:ext cx="914" cy="283464"/>
          </a:xfrm>
          <a:prstGeom prst="line">
            <a:avLst/>
          </a:prstGeom>
          <a:noFill/>
          <a:ln w="22225">
            <a:solidFill>
              <a:srgbClr val="5B6678"/>
            </a:solidFill>
            <a:prstDash val="solid"/>
            <a:tailEnd type="triangle"/>
          </a:ln>
        </p:spPr>
      </p:sp>
      <p:sp>
        <p:nvSpPr>
          <p:cNvPr id="9" name="Shape 7"/>
          <p:cNvSpPr/>
          <p:nvPr/>
        </p:nvSpPr>
        <p:spPr>
          <a:xfrm>
            <a:off x="548640" y="2761488"/>
            <a:ext cx="3291840" cy="658368"/>
          </a:xfrm>
          <a:prstGeom prst="roundRect">
            <a:avLst>
              <a:gd name="adj" fmla="val 16667"/>
            </a:avLst>
          </a:prstGeom>
          <a:solidFill>
            <a:srgbClr val="E2F3F0"/>
          </a:solidFill>
          <a:ln w="12700">
            <a:solidFill>
              <a:srgbClr val="0E9384"/>
            </a:solidFill>
            <a:prstDash val="solid"/>
          </a:ln>
        </p:spPr>
      </p:sp>
      <p:sp>
        <p:nvSpPr>
          <p:cNvPr id="10" name="Text 8"/>
          <p:cNvSpPr txBox="1"/>
          <p:nvPr/>
        </p:nvSpPr>
        <p:spPr>
          <a:xfrm>
            <a:off x="640080" y="2761488"/>
            <a:ext cx="3108960" cy="658368"/>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Search</a:t>
            </a:r>
            <a:endParaRPr lang="en-US" sz="1600" dirty="0"/>
          </a:p>
        </p:txBody>
      </p:sp>
      <p:sp>
        <p:nvSpPr>
          <p:cNvPr id="11" name="Shape 9"/>
          <p:cNvSpPr/>
          <p:nvPr/>
        </p:nvSpPr>
        <p:spPr>
          <a:xfrm>
            <a:off x="2194560" y="3438144"/>
            <a:ext cx="914" cy="283464"/>
          </a:xfrm>
          <a:prstGeom prst="line">
            <a:avLst/>
          </a:prstGeom>
          <a:noFill/>
          <a:ln w="22225">
            <a:solidFill>
              <a:srgbClr val="5B6678"/>
            </a:solidFill>
            <a:prstDash val="solid"/>
            <a:tailEnd type="triangle"/>
          </a:ln>
        </p:spPr>
      </p:sp>
      <p:sp>
        <p:nvSpPr>
          <p:cNvPr id="12" name="Shape 10"/>
          <p:cNvSpPr/>
          <p:nvPr/>
        </p:nvSpPr>
        <p:spPr>
          <a:xfrm>
            <a:off x="548640" y="3739896"/>
            <a:ext cx="3291840" cy="658368"/>
          </a:xfrm>
          <a:prstGeom prst="roundRect">
            <a:avLst>
              <a:gd name="adj" fmla="val 16667"/>
            </a:avLst>
          </a:prstGeom>
          <a:solidFill>
            <a:srgbClr val="E2F3F0"/>
          </a:solidFill>
          <a:ln w="12700">
            <a:solidFill>
              <a:srgbClr val="0E9384"/>
            </a:solidFill>
            <a:prstDash val="solid"/>
          </a:ln>
        </p:spPr>
      </p:sp>
      <p:sp>
        <p:nvSpPr>
          <p:cNvPr id="13" name="Text 11"/>
          <p:cNvSpPr txBox="1"/>
          <p:nvPr/>
        </p:nvSpPr>
        <p:spPr>
          <a:xfrm>
            <a:off x="640080" y="3739896"/>
            <a:ext cx="3108960" cy="658368"/>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Relevant Document</a:t>
            </a:r>
            <a:endParaRPr lang="en-US" sz="1600" dirty="0"/>
          </a:p>
        </p:txBody>
      </p:sp>
      <p:sp>
        <p:nvSpPr>
          <p:cNvPr id="14" name="Shape 12"/>
          <p:cNvSpPr/>
          <p:nvPr/>
        </p:nvSpPr>
        <p:spPr>
          <a:xfrm>
            <a:off x="2194560" y="4416552"/>
            <a:ext cx="914" cy="283464"/>
          </a:xfrm>
          <a:prstGeom prst="line">
            <a:avLst/>
          </a:prstGeom>
          <a:noFill/>
          <a:ln w="22225">
            <a:solidFill>
              <a:srgbClr val="5B6678"/>
            </a:solidFill>
            <a:prstDash val="solid"/>
            <a:tailEnd type="triangle"/>
          </a:ln>
        </p:spPr>
      </p:sp>
      <p:sp>
        <p:nvSpPr>
          <p:cNvPr id="15" name="Shape 13"/>
          <p:cNvSpPr/>
          <p:nvPr/>
        </p:nvSpPr>
        <p:spPr>
          <a:xfrm>
            <a:off x="548640" y="4718304"/>
            <a:ext cx="3291840" cy="658368"/>
          </a:xfrm>
          <a:prstGeom prst="roundRect">
            <a:avLst>
              <a:gd name="adj" fmla="val 16667"/>
            </a:avLst>
          </a:prstGeom>
          <a:solidFill>
            <a:srgbClr val="E2F3F0"/>
          </a:solidFill>
          <a:ln w="12700">
            <a:solidFill>
              <a:srgbClr val="0E9384"/>
            </a:solidFill>
            <a:prstDash val="solid"/>
          </a:ln>
        </p:spPr>
      </p:sp>
      <p:sp>
        <p:nvSpPr>
          <p:cNvPr id="16" name="Text 14"/>
          <p:cNvSpPr txBox="1"/>
          <p:nvPr/>
        </p:nvSpPr>
        <p:spPr>
          <a:xfrm>
            <a:off x="640080" y="4718304"/>
            <a:ext cx="3108960" cy="658368"/>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Relevant Information</a:t>
            </a:r>
            <a:endParaRPr lang="en-US" sz="1600" dirty="0"/>
          </a:p>
        </p:txBody>
      </p:sp>
      <p:sp>
        <p:nvSpPr>
          <p:cNvPr id="17" name="Shape 15"/>
          <p:cNvSpPr/>
          <p:nvPr/>
        </p:nvSpPr>
        <p:spPr>
          <a:xfrm>
            <a:off x="4480560" y="1783080"/>
            <a:ext cx="7159752" cy="3931920"/>
          </a:xfrm>
          <a:prstGeom prst="roundRect">
            <a:avLst>
              <a:gd name="adj" fmla="val 2791"/>
            </a:avLst>
          </a:prstGeom>
          <a:solidFill>
            <a:srgbClr val="F4F7FA"/>
          </a:solidFill>
          <a:ln w="12700">
            <a:solidFill>
              <a:srgbClr val="CBD4DE"/>
            </a:solidFill>
            <a:prstDash val="solid"/>
          </a:ln>
        </p:spPr>
      </p:sp>
      <p:sp>
        <p:nvSpPr>
          <p:cNvPr id="18" name="Text 16"/>
          <p:cNvSpPr txBox="1"/>
          <p:nvPr/>
        </p:nvSpPr>
        <p:spPr>
          <a:xfrm>
            <a:off x="4800600" y="1965960"/>
            <a:ext cx="4572000" cy="274320"/>
          </a:xfrm>
          <a:prstGeom prst="rect">
            <a:avLst/>
          </a:prstGeom>
          <a:noFill/>
          <a:ln/>
        </p:spPr>
        <p:txBody>
          <a:bodyPr wrap="square" lIns="0" tIns="0" rIns="0" bIns="0" rtlCol="0" anchor="ctr"/>
          <a:lstStyle/>
          <a:p>
            <a:pPr marL="0" indent="0">
              <a:buNone/>
            </a:pPr>
            <a:r>
              <a:rPr lang="en-US" sz="1200" b="1" kern="0" spc="100" dirty="0">
                <a:solidFill>
                  <a:srgbClr val="0E9384"/>
                </a:solidFill>
                <a:latin typeface="Calibri" pitchFamily="34" charset="0"/>
                <a:ea typeface="Calibri" pitchFamily="34" charset="-122"/>
                <a:cs typeface="Calibri" pitchFamily="34" charset="-120"/>
              </a:rPr>
              <a:t>EXAMPLE SEARCH RESULT</a:t>
            </a:r>
            <a:endParaRPr lang="en-US" sz="1200" dirty="0"/>
          </a:p>
        </p:txBody>
      </p:sp>
      <p:sp>
        <p:nvSpPr>
          <p:cNvPr id="19" name="Shape 17"/>
          <p:cNvSpPr/>
          <p:nvPr/>
        </p:nvSpPr>
        <p:spPr>
          <a:xfrm>
            <a:off x="4800600" y="2377440"/>
            <a:ext cx="548640" cy="548640"/>
          </a:xfrm>
          <a:prstGeom prst="ellipse">
            <a:avLst/>
          </a:prstGeom>
          <a:solidFill>
            <a:srgbClr val="C0392B"/>
          </a:solidFill>
          <a:ln w="12700">
            <a:solidFill>
              <a:srgbClr val="C0392B"/>
            </a:solidFill>
            <a:prstDash val="solid"/>
          </a:ln>
        </p:spPr>
      </p:sp>
      <p:pic>
        <p:nvPicPr>
          <p:cNvPr id="20" name="Image 0" descr="preencoded.png"/>
          <p:cNvPicPr>
            <a:picLocks noChangeAspect="1"/>
          </p:cNvPicPr>
          <p:nvPr/>
        </p:nvPicPr>
        <p:blipFill>
          <a:blip r:embed="rId3"/>
          <a:stretch>
            <a:fillRect/>
          </a:stretch>
        </p:blipFill>
        <p:spPr>
          <a:xfrm>
            <a:off x="4943246" y="2520086"/>
            <a:ext cx="263347" cy="263347"/>
          </a:xfrm>
          <a:prstGeom prst="rect">
            <a:avLst/>
          </a:prstGeom>
        </p:spPr>
      </p:pic>
      <p:sp>
        <p:nvSpPr>
          <p:cNvPr id="21" name="Text 18"/>
          <p:cNvSpPr txBox="1"/>
          <p:nvPr/>
        </p:nvSpPr>
        <p:spPr>
          <a:xfrm>
            <a:off x="5532120" y="2395728"/>
            <a:ext cx="2743200" cy="320040"/>
          </a:xfrm>
          <a:prstGeom prst="rect">
            <a:avLst/>
          </a:prstGeom>
          <a:noFill/>
          <a:ln/>
        </p:spPr>
        <p:txBody>
          <a:bodyPr wrap="square" lIns="0" tIns="0" rIns="0" bIns="0" rtlCol="0" anchor="ctr"/>
          <a:lstStyle/>
          <a:p>
            <a:pPr marL="0" indent="0">
              <a:buNone/>
            </a:pPr>
            <a:r>
              <a:rPr lang="en-US" sz="1800" b="1" dirty="0">
                <a:solidFill>
                  <a:srgbClr val="1B2433"/>
                </a:solidFill>
                <a:latin typeface="Calibri" pitchFamily="34" charset="0"/>
                <a:ea typeface="Calibri" pitchFamily="34" charset="-122"/>
                <a:cs typeface="Calibri" pitchFamily="34" charset="-120"/>
              </a:rPr>
              <a:t>FAQ.pdf</a:t>
            </a:r>
            <a:endParaRPr lang="en-US" sz="1800" dirty="0"/>
          </a:p>
        </p:txBody>
      </p:sp>
      <p:sp>
        <p:nvSpPr>
          <p:cNvPr id="22" name="Text 19"/>
          <p:cNvSpPr txBox="1"/>
          <p:nvPr/>
        </p:nvSpPr>
        <p:spPr>
          <a:xfrm>
            <a:off x="5532120" y="2697480"/>
            <a:ext cx="3200400" cy="274320"/>
          </a:xfrm>
          <a:prstGeom prst="rect">
            <a:avLst/>
          </a:prstGeom>
          <a:noFill/>
          <a:ln/>
        </p:spPr>
        <p:txBody>
          <a:bodyPr wrap="square" lIns="0" tIns="0" rIns="0" bIns="0" rtlCol="0" anchor="ctr"/>
          <a:lstStyle/>
          <a:p>
            <a:pPr marL="0" indent="0">
              <a:buNone/>
            </a:pPr>
            <a:r>
              <a:rPr lang="en-US" sz="1200" dirty="0">
                <a:solidFill>
                  <a:srgbClr val="5B6678"/>
                </a:solidFill>
                <a:latin typeface="Calibri" pitchFamily="34" charset="0"/>
                <a:ea typeface="Calibri" pitchFamily="34" charset="-122"/>
                <a:cs typeface="Calibri" pitchFamily="34" charset="-120"/>
              </a:rPr>
              <a:t>Most relevant document</a:t>
            </a:r>
            <a:endParaRPr lang="en-US" sz="1200" dirty="0"/>
          </a:p>
        </p:txBody>
      </p:sp>
      <p:sp>
        <p:nvSpPr>
          <p:cNvPr id="23" name="Shape 20"/>
          <p:cNvSpPr/>
          <p:nvPr/>
        </p:nvSpPr>
        <p:spPr>
          <a:xfrm>
            <a:off x="4800600" y="3200400"/>
            <a:ext cx="6519672" cy="1417320"/>
          </a:xfrm>
          <a:prstGeom prst="roundRect">
            <a:avLst>
              <a:gd name="adj" fmla="val 7742"/>
            </a:avLst>
          </a:prstGeom>
          <a:solidFill>
            <a:srgbClr val="FFFFFF"/>
          </a:solidFill>
          <a:ln w="12700">
            <a:solidFill>
              <a:srgbClr val="CBD4DE"/>
            </a:solidFill>
            <a:prstDash val="solid"/>
          </a:ln>
        </p:spPr>
      </p:sp>
      <p:sp>
        <p:nvSpPr>
          <p:cNvPr id="24" name="Text 21"/>
          <p:cNvSpPr txBox="1"/>
          <p:nvPr/>
        </p:nvSpPr>
        <p:spPr>
          <a:xfrm>
            <a:off x="4983480" y="3291840"/>
            <a:ext cx="6172200" cy="1234440"/>
          </a:xfrm>
          <a:prstGeom prst="rect">
            <a:avLst/>
          </a:prstGeom>
          <a:noFill/>
          <a:ln/>
        </p:spPr>
        <p:txBody>
          <a:bodyPr wrap="square" lIns="0" tIns="0" rIns="0" bIns="0" rtlCol="0" anchor="ctr"/>
          <a:lstStyle/>
          <a:p>
            <a:pPr marL="0" indent="0">
              <a:buNone/>
            </a:pPr>
            <a:r>
              <a:rPr lang="en-US" sz="1400" i="1" dirty="0">
                <a:solidFill>
                  <a:srgbClr val="1B2433"/>
                </a:solidFill>
                <a:latin typeface="Calibri" pitchFamily="34" charset="0"/>
                <a:ea typeface="Calibri" pitchFamily="34" charset="-122"/>
                <a:cs typeface="Calibri" pitchFamily="34" charset="-120"/>
              </a:rPr>
              <a:t>“Q: How do I reset my password?</a:t>
            </a:r>
            <a:endParaRPr lang="en-US" sz="1400" dirty="0"/>
          </a:p>
          <a:p>
            <a:pPr marL="0" indent="0">
              <a:buNone/>
            </a:pPr>
            <a:r>
              <a:rPr lang="en-US" sz="1400" i="1" dirty="0">
                <a:solidFill>
                  <a:srgbClr val="1B2433"/>
                </a:solidFill>
                <a:latin typeface="Calibri" pitchFamily="34" charset="0"/>
                <a:ea typeface="Calibri" pitchFamily="34" charset="-122"/>
                <a:cs typeface="Calibri" pitchFamily="34" charset="-120"/>
              </a:rPr>
              <a:t>A: Go to the login page. Click Forgot Password. Enter your registered email. Follow the reset instructions.”</a:t>
            </a:r>
            <a:endParaRPr lang="en-US" sz="1400" dirty="0"/>
          </a:p>
        </p:txBody>
      </p:sp>
      <p:sp>
        <p:nvSpPr>
          <p:cNvPr id="25" name="Text 22"/>
          <p:cNvSpPr txBox="1"/>
          <p:nvPr/>
        </p:nvSpPr>
        <p:spPr>
          <a:xfrm>
            <a:off x="4800600" y="4846320"/>
            <a:ext cx="6492240" cy="640080"/>
          </a:xfrm>
          <a:prstGeom prst="rect">
            <a:avLst/>
          </a:prstGeom>
          <a:noFill/>
          <a:ln/>
        </p:spPr>
        <p:txBody>
          <a:bodyPr wrap="square" lIns="0" tIns="0" rIns="0" bIns="0" rtlCol="0" anchor="ctr"/>
          <a:lstStyle/>
          <a:p>
            <a:pPr marL="0" indent="0">
              <a:buNone/>
            </a:pPr>
            <a:r>
              <a:rPr lang="en-US" sz="1400" dirty="0">
                <a:solidFill>
                  <a:srgbClr val="5B6678"/>
                </a:solidFill>
                <a:latin typeface="Calibri" pitchFamily="34" charset="0"/>
                <a:ea typeface="Calibri" pitchFamily="34" charset="-122"/>
                <a:cs typeface="Calibri" pitchFamily="34" charset="-120"/>
              </a:rPr>
              <a:t>Only information that genuinely matches the question is used. Everything else is ignored.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10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How the AI writes the answer</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The AI combines the question with the knowledge that was found</a:t>
            </a:r>
            <a:endParaRPr lang="en-US" sz="1600" dirty="0"/>
          </a:p>
        </p:txBody>
      </p:sp>
      <p:sp>
        <p:nvSpPr>
          <p:cNvPr id="6" name="Shape 4"/>
          <p:cNvSpPr/>
          <p:nvPr/>
        </p:nvSpPr>
        <p:spPr>
          <a:xfrm>
            <a:off x="548640" y="1920240"/>
            <a:ext cx="3108960" cy="1600200"/>
          </a:xfrm>
          <a:prstGeom prst="roundRect">
            <a:avLst>
              <a:gd name="adj" fmla="val 6857"/>
            </a:avLst>
          </a:prstGeom>
          <a:solidFill>
            <a:srgbClr val="F4F7FA"/>
          </a:solidFill>
          <a:ln w="12700">
            <a:solidFill>
              <a:srgbClr val="CBD4DE"/>
            </a:solidFill>
            <a:prstDash val="solid"/>
          </a:ln>
        </p:spPr>
      </p:sp>
      <p:sp>
        <p:nvSpPr>
          <p:cNvPr id="7" name="Text 5"/>
          <p:cNvSpPr txBox="1"/>
          <p:nvPr/>
        </p:nvSpPr>
        <p:spPr>
          <a:xfrm>
            <a:off x="822960" y="2103120"/>
            <a:ext cx="2560320" cy="274320"/>
          </a:xfrm>
          <a:prstGeom prst="rect">
            <a:avLst/>
          </a:prstGeom>
          <a:noFill/>
          <a:ln/>
        </p:spPr>
        <p:txBody>
          <a:bodyPr wrap="square" lIns="0" tIns="0" rIns="0" bIns="0" rtlCol="0" anchor="ctr"/>
          <a:lstStyle/>
          <a:p>
            <a:pPr marL="0" indent="0">
              <a:buNone/>
            </a:pPr>
            <a:r>
              <a:rPr lang="en-US" sz="1200" b="1" kern="0" spc="100" dirty="0">
                <a:solidFill>
                  <a:srgbClr val="0E9384"/>
                </a:solidFill>
                <a:latin typeface="Calibri" pitchFamily="34" charset="0"/>
                <a:ea typeface="Calibri" pitchFamily="34" charset="-122"/>
                <a:cs typeface="Calibri" pitchFamily="34" charset="-120"/>
              </a:rPr>
              <a:t>USER QUESTION</a:t>
            </a:r>
            <a:endParaRPr lang="en-US" sz="1200" dirty="0"/>
          </a:p>
        </p:txBody>
      </p:sp>
      <p:sp>
        <p:nvSpPr>
          <p:cNvPr id="8" name="Text 6"/>
          <p:cNvSpPr txBox="1"/>
          <p:nvPr/>
        </p:nvSpPr>
        <p:spPr>
          <a:xfrm>
            <a:off x="822960" y="2423160"/>
            <a:ext cx="2560320" cy="914400"/>
          </a:xfrm>
          <a:prstGeom prst="rect">
            <a:avLst/>
          </a:prstGeom>
          <a:noFill/>
          <a:ln/>
        </p:spPr>
        <p:txBody>
          <a:bodyPr wrap="square" lIns="0" tIns="0" rIns="0" bIns="0" rtlCol="0" anchor="t"/>
          <a:lstStyle/>
          <a:p>
            <a:pPr marL="0" indent="0">
              <a:buNone/>
            </a:pPr>
            <a:r>
              <a:rPr lang="en-US" sz="1600" i="1" dirty="0">
                <a:solidFill>
                  <a:srgbClr val="1B2433"/>
                </a:solidFill>
                <a:latin typeface="Calibri" pitchFamily="34" charset="0"/>
                <a:ea typeface="Calibri" pitchFamily="34" charset="-122"/>
                <a:cs typeface="Calibri" pitchFamily="34" charset="-120"/>
              </a:rPr>
              <a:t>How can I reset my password?</a:t>
            </a:r>
            <a:endParaRPr lang="en-US" sz="1600" dirty="0"/>
          </a:p>
        </p:txBody>
      </p:sp>
      <p:sp>
        <p:nvSpPr>
          <p:cNvPr id="9" name="Text 7"/>
          <p:cNvSpPr txBox="1"/>
          <p:nvPr/>
        </p:nvSpPr>
        <p:spPr>
          <a:xfrm>
            <a:off x="3703320" y="1920240"/>
            <a:ext cx="548640" cy="1600200"/>
          </a:xfrm>
          <a:prstGeom prst="rect">
            <a:avLst/>
          </a:prstGeom>
          <a:noFill/>
          <a:ln/>
        </p:spPr>
        <p:txBody>
          <a:bodyPr wrap="square" lIns="0" tIns="0" rIns="0" bIns="0" rtlCol="0" anchor="ctr"/>
          <a:lstStyle/>
          <a:p>
            <a:pPr marL="0" indent="0" algn="ctr">
              <a:buNone/>
            </a:pPr>
            <a:r>
              <a:rPr lang="en-US" sz="4000" b="1" dirty="0">
                <a:solidFill>
                  <a:srgbClr val="5B6678"/>
                </a:solidFill>
                <a:latin typeface="Calibri" pitchFamily="34" charset="0"/>
                <a:ea typeface="Calibri" pitchFamily="34" charset="-122"/>
                <a:cs typeface="Calibri" pitchFamily="34" charset="-120"/>
              </a:rPr>
              <a:t>+</a:t>
            </a:r>
            <a:endParaRPr lang="en-US" sz="4000" dirty="0"/>
          </a:p>
        </p:txBody>
      </p:sp>
      <p:sp>
        <p:nvSpPr>
          <p:cNvPr id="10" name="Shape 8"/>
          <p:cNvSpPr/>
          <p:nvPr/>
        </p:nvSpPr>
        <p:spPr>
          <a:xfrm>
            <a:off x="4297680" y="1920240"/>
            <a:ext cx="3108960" cy="1600200"/>
          </a:xfrm>
          <a:prstGeom prst="roundRect">
            <a:avLst>
              <a:gd name="adj" fmla="val 6857"/>
            </a:avLst>
          </a:prstGeom>
          <a:solidFill>
            <a:srgbClr val="F4F7FA"/>
          </a:solidFill>
          <a:ln w="12700">
            <a:solidFill>
              <a:srgbClr val="CBD4DE"/>
            </a:solidFill>
            <a:prstDash val="solid"/>
          </a:ln>
        </p:spPr>
      </p:sp>
      <p:sp>
        <p:nvSpPr>
          <p:cNvPr id="11" name="Text 9"/>
          <p:cNvSpPr txBox="1"/>
          <p:nvPr/>
        </p:nvSpPr>
        <p:spPr>
          <a:xfrm>
            <a:off x="4572000" y="2103120"/>
            <a:ext cx="2560320" cy="274320"/>
          </a:xfrm>
          <a:prstGeom prst="rect">
            <a:avLst/>
          </a:prstGeom>
          <a:noFill/>
          <a:ln/>
        </p:spPr>
        <p:txBody>
          <a:bodyPr wrap="square" lIns="0" tIns="0" rIns="0" bIns="0" rtlCol="0" anchor="ctr"/>
          <a:lstStyle/>
          <a:p>
            <a:pPr marL="0" indent="0">
              <a:buNone/>
            </a:pPr>
            <a:r>
              <a:rPr lang="en-US" sz="1200" b="1" kern="0" spc="100" dirty="0">
                <a:solidFill>
                  <a:srgbClr val="0E9384"/>
                </a:solidFill>
                <a:latin typeface="Calibri" pitchFamily="34" charset="0"/>
                <a:ea typeface="Calibri" pitchFamily="34" charset="-122"/>
                <a:cs typeface="Calibri" pitchFamily="34" charset="-120"/>
              </a:rPr>
              <a:t>RELEVANT KNOWLEDGE</a:t>
            </a:r>
            <a:endParaRPr lang="en-US" sz="1200" dirty="0"/>
          </a:p>
        </p:txBody>
      </p:sp>
      <p:sp>
        <p:nvSpPr>
          <p:cNvPr id="12" name="Text 10"/>
          <p:cNvSpPr txBox="1"/>
          <p:nvPr/>
        </p:nvSpPr>
        <p:spPr>
          <a:xfrm>
            <a:off x="4572000" y="2423160"/>
            <a:ext cx="2560320" cy="914400"/>
          </a:xfrm>
          <a:prstGeom prst="rect">
            <a:avLst/>
          </a:prstGeom>
          <a:noFill/>
          <a:ln/>
        </p:spPr>
        <p:txBody>
          <a:bodyPr wrap="square" lIns="0" tIns="0" rIns="0" bIns="0" rtlCol="0" anchor="t"/>
          <a:lstStyle/>
          <a:p>
            <a:pPr marL="0" indent="0">
              <a:buNone/>
            </a:pPr>
            <a:r>
              <a:rPr lang="en-US" sz="1600" i="1" dirty="0">
                <a:solidFill>
                  <a:srgbClr val="1B2433"/>
                </a:solidFill>
                <a:latin typeface="Calibri" pitchFamily="34" charset="0"/>
                <a:ea typeface="Calibri" pitchFamily="34" charset="-122"/>
                <a:cs typeface="Calibri" pitchFamily="34" charset="-120"/>
              </a:rPr>
              <a:t>FAQ.pdf: “Click Forgot Password…”</a:t>
            </a:r>
            <a:endParaRPr lang="en-US" sz="1600" dirty="0"/>
          </a:p>
        </p:txBody>
      </p:sp>
      <p:sp>
        <p:nvSpPr>
          <p:cNvPr id="13" name="Text 11"/>
          <p:cNvSpPr txBox="1"/>
          <p:nvPr/>
        </p:nvSpPr>
        <p:spPr>
          <a:xfrm>
            <a:off x="7452360" y="1920240"/>
            <a:ext cx="548640" cy="1600200"/>
          </a:xfrm>
          <a:prstGeom prst="rect">
            <a:avLst/>
          </a:prstGeom>
          <a:noFill/>
          <a:ln/>
        </p:spPr>
        <p:txBody>
          <a:bodyPr wrap="square" lIns="0" tIns="0" rIns="0" bIns="0" rtlCol="0" anchor="ctr"/>
          <a:lstStyle/>
          <a:p>
            <a:pPr marL="0" indent="0" algn="ctr">
              <a:buNone/>
            </a:pPr>
            <a:r>
              <a:rPr lang="en-US" sz="4000" b="1" dirty="0">
                <a:solidFill>
                  <a:srgbClr val="5B6678"/>
                </a:solidFill>
                <a:latin typeface="Calibri" pitchFamily="34" charset="0"/>
                <a:ea typeface="Calibri" pitchFamily="34" charset="-122"/>
                <a:cs typeface="Calibri" pitchFamily="34" charset="-120"/>
              </a:rPr>
              <a:t>=</a:t>
            </a:r>
            <a:endParaRPr lang="en-US" sz="4000" dirty="0"/>
          </a:p>
        </p:txBody>
      </p:sp>
      <p:sp>
        <p:nvSpPr>
          <p:cNvPr id="14" name="Shape 12"/>
          <p:cNvSpPr/>
          <p:nvPr/>
        </p:nvSpPr>
        <p:spPr>
          <a:xfrm>
            <a:off x="8046720" y="1920240"/>
            <a:ext cx="3593592" cy="1600200"/>
          </a:xfrm>
          <a:prstGeom prst="roundRect">
            <a:avLst>
              <a:gd name="adj" fmla="val 6857"/>
            </a:avLst>
          </a:prstGeom>
          <a:solidFill>
            <a:srgbClr val="FCEFDF"/>
          </a:solidFill>
          <a:ln w="12700">
            <a:solidFill>
              <a:srgbClr val="CBD4DE"/>
            </a:solidFill>
            <a:prstDash val="solid"/>
          </a:ln>
        </p:spPr>
      </p:sp>
      <p:sp>
        <p:nvSpPr>
          <p:cNvPr id="15" name="Text 13"/>
          <p:cNvSpPr txBox="1"/>
          <p:nvPr/>
        </p:nvSpPr>
        <p:spPr>
          <a:xfrm>
            <a:off x="8321040" y="2103120"/>
            <a:ext cx="3044952" cy="274320"/>
          </a:xfrm>
          <a:prstGeom prst="rect">
            <a:avLst/>
          </a:prstGeom>
          <a:noFill/>
          <a:ln/>
        </p:spPr>
        <p:txBody>
          <a:bodyPr wrap="square" lIns="0" tIns="0" rIns="0" bIns="0" rtlCol="0" anchor="ctr"/>
          <a:lstStyle/>
          <a:p>
            <a:pPr marL="0" indent="0">
              <a:buNone/>
            </a:pPr>
            <a:r>
              <a:rPr lang="en-US" sz="1200" b="1" kern="0" spc="100" dirty="0">
                <a:solidFill>
                  <a:srgbClr val="D97F1E"/>
                </a:solidFill>
                <a:latin typeface="Calibri" pitchFamily="34" charset="0"/>
                <a:ea typeface="Calibri" pitchFamily="34" charset="-122"/>
                <a:cs typeface="Calibri" pitchFamily="34" charset="-120"/>
              </a:rPr>
              <a:t>CLEAR ANSWER</a:t>
            </a:r>
            <a:endParaRPr lang="en-US" sz="1200" dirty="0"/>
          </a:p>
        </p:txBody>
      </p:sp>
      <p:sp>
        <p:nvSpPr>
          <p:cNvPr id="16" name="Text 14"/>
          <p:cNvSpPr txBox="1"/>
          <p:nvPr/>
        </p:nvSpPr>
        <p:spPr>
          <a:xfrm>
            <a:off x="8321040" y="2423160"/>
            <a:ext cx="3044952" cy="914400"/>
          </a:xfrm>
          <a:prstGeom prst="rect">
            <a:avLst/>
          </a:prstGeom>
          <a:noFill/>
          <a:ln/>
        </p:spPr>
        <p:txBody>
          <a:bodyPr wrap="square" lIns="0" tIns="0" rIns="0" bIns="0" rtlCol="0" anchor="t"/>
          <a:lstStyle/>
          <a:p>
            <a:pPr marL="0" indent="0">
              <a:buNone/>
            </a:pPr>
            <a:r>
              <a:rPr lang="en-US" sz="1500" dirty="0">
                <a:solidFill>
                  <a:srgbClr val="1B2433"/>
                </a:solidFill>
                <a:latin typeface="Calibri" pitchFamily="34" charset="0"/>
                <a:ea typeface="Calibri" pitchFamily="34" charset="-122"/>
                <a:cs typeface="Calibri" pitchFamily="34" charset="-120"/>
              </a:rPr>
              <a:t>Select “Forgot Password” on the login page and follow the emailed instructions.</a:t>
            </a:r>
            <a:endParaRPr lang="en-US" sz="1500" dirty="0"/>
          </a:p>
        </p:txBody>
      </p:sp>
      <p:sp>
        <p:nvSpPr>
          <p:cNvPr id="17" name="Shape 15"/>
          <p:cNvSpPr/>
          <p:nvPr/>
        </p:nvSpPr>
        <p:spPr>
          <a:xfrm>
            <a:off x="548640" y="4023360"/>
            <a:ext cx="11091672" cy="1691640"/>
          </a:xfrm>
          <a:prstGeom prst="roundRect">
            <a:avLst>
              <a:gd name="adj" fmla="val 6486"/>
            </a:avLst>
          </a:prstGeom>
          <a:solidFill>
            <a:srgbClr val="E2F3F0"/>
          </a:solidFill>
          <a:ln w="12700">
            <a:solidFill>
              <a:srgbClr val="E2F3F0"/>
            </a:solidFill>
            <a:prstDash val="solid"/>
          </a:ln>
        </p:spPr>
      </p:sp>
      <p:sp>
        <p:nvSpPr>
          <p:cNvPr id="18" name="Shape 16"/>
          <p:cNvSpPr/>
          <p:nvPr/>
        </p:nvSpPr>
        <p:spPr>
          <a:xfrm>
            <a:off x="868680" y="4315968"/>
            <a:ext cx="731520" cy="731520"/>
          </a:xfrm>
          <a:prstGeom prst="ellipse">
            <a:avLst/>
          </a:prstGeom>
          <a:solidFill>
            <a:srgbClr val="0E9384"/>
          </a:solidFill>
          <a:ln w="12700">
            <a:solidFill>
              <a:srgbClr val="0E9384"/>
            </a:solidFill>
            <a:prstDash val="solid"/>
          </a:ln>
        </p:spPr>
      </p:sp>
      <p:pic>
        <p:nvPicPr>
          <p:cNvPr id="19" name="Image 0" descr="preencoded.png"/>
          <p:cNvPicPr>
            <a:picLocks noChangeAspect="1"/>
          </p:cNvPicPr>
          <p:nvPr/>
        </p:nvPicPr>
        <p:blipFill>
          <a:blip r:embed="rId3"/>
          <a:stretch>
            <a:fillRect/>
          </a:stretch>
        </p:blipFill>
        <p:spPr>
          <a:xfrm>
            <a:off x="1058875" y="4506163"/>
            <a:ext cx="351130" cy="351130"/>
          </a:xfrm>
          <a:prstGeom prst="rect">
            <a:avLst/>
          </a:prstGeom>
        </p:spPr>
      </p:pic>
      <p:sp>
        <p:nvSpPr>
          <p:cNvPr id="20" name="Text 17"/>
          <p:cNvSpPr txBox="1"/>
          <p:nvPr/>
        </p:nvSpPr>
        <p:spPr>
          <a:xfrm>
            <a:off x="1828800" y="4251960"/>
            <a:ext cx="9509760" cy="457200"/>
          </a:xfrm>
          <a:prstGeom prst="rect">
            <a:avLst/>
          </a:prstGeom>
          <a:noFill/>
          <a:ln/>
        </p:spPr>
        <p:txBody>
          <a:bodyPr wrap="square" lIns="0" tIns="0" rIns="0" bIns="0" rtlCol="0" anchor="ctr"/>
          <a:lstStyle/>
          <a:p>
            <a:pPr marL="0" indent="0">
              <a:buNone/>
            </a:pPr>
            <a:r>
              <a:rPr lang="en-US" sz="2000" b="1" dirty="0">
                <a:solidFill>
                  <a:srgbClr val="1B2433"/>
                </a:solidFill>
                <a:latin typeface="Calibri" pitchFamily="34" charset="0"/>
                <a:ea typeface="Calibri" pitchFamily="34" charset="-122"/>
                <a:cs typeface="Calibri" pitchFamily="34" charset="-120"/>
              </a:rPr>
              <a:t>The AI answers only from the knowledge it was given</a:t>
            </a:r>
            <a:endParaRPr lang="en-US" sz="2000" dirty="0"/>
          </a:p>
        </p:txBody>
      </p:sp>
      <p:sp>
        <p:nvSpPr>
          <p:cNvPr id="21" name="Text 18"/>
          <p:cNvSpPr txBox="1"/>
          <p:nvPr/>
        </p:nvSpPr>
        <p:spPr>
          <a:xfrm>
            <a:off x="1828800" y="4709160"/>
            <a:ext cx="9509760" cy="731520"/>
          </a:xfrm>
          <a:prstGeom prst="rect">
            <a:avLst/>
          </a:prstGeom>
          <a:noFill/>
          <a:ln/>
        </p:spPr>
        <p:txBody>
          <a:bodyPr wrap="square" lIns="0" tIns="0" rIns="0" bIns="0" rtlCol="0" anchor="ctr"/>
          <a:lstStyle/>
          <a:p>
            <a:pPr marL="0" indent="0">
              <a:buNone/>
            </a:pPr>
            <a:r>
              <a:rPr lang="en-US" sz="1500" dirty="0">
                <a:solidFill>
                  <a:srgbClr val="5B6678"/>
                </a:solidFill>
                <a:latin typeface="Calibri" pitchFamily="34" charset="0"/>
                <a:ea typeface="Calibri" pitchFamily="34" charset="-122"/>
                <a:cs typeface="Calibri" pitchFamily="34" charset="-120"/>
              </a:rPr>
              <a:t>It is instructed not to make up facts, prices, dates or policies. A quality check reviews each reply before it becomes a draft.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11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When the answer is not in the documents</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No fake answers — the question goes to a person</a:t>
            </a:r>
            <a:endParaRPr lang="en-US" sz="1600" dirty="0"/>
          </a:p>
        </p:txBody>
      </p:sp>
      <p:sp>
        <p:nvSpPr>
          <p:cNvPr id="6" name="Shape 4"/>
          <p:cNvSpPr/>
          <p:nvPr/>
        </p:nvSpPr>
        <p:spPr>
          <a:xfrm>
            <a:off x="548640" y="1828800"/>
            <a:ext cx="2526716" cy="960120"/>
          </a:xfrm>
          <a:prstGeom prst="roundRect">
            <a:avLst>
              <a:gd name="adj" fmla="val 11429"/>
            </a:avLst>
          </a:prstGeom>
          <a:solidFill>
            <a:srgbClr val="E2F3F0"/>
          </a:solidFill>
          <a:ln w="12700">
            <a:solidFill>
              <a:srgbClr val="0E9384"/>
            </a:solidFill>
            <a:prstDash val="solid"/>
          </a:ln>
        </p:spPr>
      </p:sp>
      <p:sp>
        <p:nvSpPr>
          <p:cNvPr id="7" name="Text 5"/>
          <p:cNvSpPr txBox="1"/>
          <p:nvPr/>
        </p:nvSpPr>
        <p:spPr>
          <a:xfrm>
            <a:off x="594360" y="1828800"/>
            <a:ext cx="2435276" cy="960120"/>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Question</a:t>
            </a:r>
            <a:endParaRPr lang="en-US" sz="1600" dirty="0"/>
          </a:p>
        </p:txBody>
      </p:sp>
      <p:sp>
        <p:nvSpPr>
          <p:cNvPr id="8" name="Shape 6"/>
          <p:cNvSpPr/>
          <p:nvPr/>
        </p:nvSpPr>
        <p:spPr>
          <a:xfrm>
            <a:off x="3111932" y="2308860"/>
            <a:ext cx="256032" cy="914"/>
          </a:xfrm>
          <a:prstGeom prst="line">
            <a:avLst/>
          </a:prstGeom>
          <a:noFill/>
          <a:ln w="22225">
            <a:solidFill>
              <a:srgbClr val="5B6678"/>
            </a:solidFill>
            <a:prstDash val="solid"/>
            <a:tailEnd type="triangle"/>
          </a:ln>
        </p:spPr>
      </p:sp>
      <p:sp>
        <p:nvSpPr>
          <p:cNvPr id="9" name="Shape 7"/>
          <p:cNvSpPr/>
          <p:nvPr/>
        </p:nvSpPr>
        <p:spPr>
          <a:xfrm>
            <a:off x="3404540" y="1828800"/>
            <a:ext cx="2526716" cy="960120"/>
          </a:xfrm>
          <a:prstGeom prst="roundRect">
            <a:avLst>
              <a:gd name="adj" fmla="val 11429"/>
            </a:avLst>
          </a:prstGeom>
          <a:solidFill>
            <a:srgbClr val="FBE9E7"/>
          </a:solidFill>
          <a:ln w="12700">
            <a:solidFill>
              <a:srgbClr val="C0392B"/>
            </a:solidFill>
            <a:prstDash val="solid"/>
          </a:ln>
        </p:spPr>
      </p:sp>
      <p:sp>
        <p:nvSpPr>
          <p:cNvPr id="10" name="Text 8"/>
          <p:cNvSpPr txBox="1"/>
          <p:nvPr/>
        </p:nvSpPr>
        <p:spPr>
          <a:xfrm>
            <a:off x="3450260" y="1828800"/>
            <a:ext cx="2435276" cy="960120"/>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No Relevant Knowledge</a:t>
            </a:r>
            <a:endParaRPr lang="en-US" sz="1600" dirty="0"/>
          </a:p>
        </p:txBody>
      </p:sp>
      <p:sp>
        <p:nvSpPr>
          <p:cNvPr id="11" name="Shape 9"/>
          <p:cNvSpPr/>
          <p:nvPr/>
        </p:nvSpPr>
        <p:spPr>
          <a:xfrm>
            <a:off x="5967832" y="2308860"/>
            <a:ext cx="256032" cy="914"/>
          </a:xfrm>
          <a:prstGeom prst="line">
            <a:avLst/>
          </a:prstGeom>
          <a:noFill/>
          <a:ln w="22225">
            <a:solidFill>
              <a:srgbClr val="5B6678"/>
            </a:solidFill>
            <a:prstDash val="solid"/>
            <a:tailEnd type="triangle"/>
          </a:ln>
        </p:spPr>
      </p:sp>
      <p:sp>
        <p:nvSpPr>
          <p:cNvPr id="12" name="Shape 10"/>
          <p:cNvSpPr/>
          <p:nvPr/>
        </p:nvSpPr>
        <p:spPr>
          <a:xfrm>
            <a:off x="6260440" y="1828800"/>
            <a:ext cx="2526716" cy="960120"/>
          </a:xfrm>
          <a:prstGeom prst="roundRect">
            <a:avLst>
              <a:gd name="adj" fmla="val 11429"/>
            </a:avLst>
          </a:prstGeom>
          <a:solidFill>
            <a:srgbClr val="FBE9E7"/>
          </a:solidFill>
          <a:ln w="12700">
            <a:solidFill>
              <a:srgbClr val="C0392B"/>
            </a:solidFill>
            <a:prstDash val="solid"/>
          </a:ln>
        </p:spPr>
      </p:sp>
      <p:sp>
        <p:nvSpPr>
          <p:cNvPr id="13" name="Text 11"/>
          <p:cNvSpPr txBox="1"/>
          <p:nvPr/>
        </p:nvSpPr>
        <p:spPr>
          <a:xfrm>
            <a:off x="6306160" y="1828800"/>
            <a:ext cx="2435276" cy="960120"/>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No Fake Answer</a:t>
            </a:r>
            <a:endParaRPr lang="en-US" sz="1600" dirty="0"/>
          </a:p>
        </p:txBody>
      </p:sp>
      <p:sp>
        <p:nvSpPr>
          <p:cNvPr id="14" name="Shape 12"/>
          <p:cNvSpPr/>
          <p:nvPr/>
        </p:nvSpPr>
        <p:spPr>
          <a:xfrm>
            <a:off x="8823731" y="2308860"/>
            <a:ext cx="256032" cy="914"/>
          </a:xfrm>
          <a:prstGeom prst="line">
            <a:avLst/>
          </a:prstGeom>
          <a:noFill/>
          <a:ln w="22225">
            <a:solidFill>
              <a:srgbClr val="5B6678"/>
            </a:solidFill>
            <a:prstDash val="solid"/>
            <a:tailEnd type="triangle"/>
          </a:ln>
        </p:spPr>
      </p:sp>
      <p:sp>
        <p:nvSpPr>
          <p:cNvPr id="15" name="Shape 13"/>
          <p:cNvSpPr/>
          <p:nvPr/>
        </p:nvSpPr>
        <p:spPr>
          <a:xfrm>
            <a:off x="9116339" y="1828800"/>
            <a:ext cx="2526716" cy="960120"/>
          </a:xfrm>
          <a:prstGeom prst="roundRect">
            <a:avLst>
              <a:gd name="adj" fmla="val 11429"/>
            </a:avLst>
          </a:prstGeom>
          <a:solidFill>
            <a:srgbClr val="FCEFDF"/>
          </a:solidFill>
          <a:ln w="12700">
            <a:solidFill>
              <a:srgbClr val="D97F1E"/>
            </a:solidFill>
            <a:prstDash val="solid"/>
          </a:ln>
        </p:spPr>
      </p:sp>
      <p:sp>
        <p:nvSpPr>
          <p:cNvPr id="16" name="Text 14"/>
          <p:cNvSpPr txBox="1"/>
          <p:nvPr/>
        </p:nvSpPr>
        <p:spPr>
          <a:xfrm>
            <a:off x="9162059" y="1828800"/>
            <a:ext cx="2435276" cy="960120"/>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Human Review</a:t>
            </a:r>
            <a:endParaRPr lang="en-US" sz="1600" dirty="0"/>
          </a:p>
        </p:txBody>
      </p:sp>
      <p:sp>
        <p:nvSpPr>
          <p:cNvPr id="17" name="Shape 15"/>
          <p:cNvSpPr/>
          <p:nvPr/>
        </p:nvSpPr>
        <p:spPr>
          <a:xfrm>
            <a:off x="548640" y="3291840"/>
            <a:ext cx="5120640" cy="1280160"/>
          </a:xfrm>
          <a:prstGeom prst="roundRect">
            <a:avLst>
              <a:gd name="adj" fmla="val 8571"/>
            </a:avLst>
          </a:prstGeom>
          <a:solidFill>
            <a:srgbClr val="F4F7FA"/>
          </a:solidFill>
          <a:ln w="12700">
            <a:solidFill>
              <a:srgbClr val="CBD4DE"/>
            </a:solidFill>
            <a:prstDash val="solid"/>
          </a:ln>
        </p:spPr>
      </p:sp>
      <p:sp>
        <p:nvSpPr>
          <p:cNvPr id="18" name="Text 16"/>
          <p:cNvSpPr txBox="1"/>
          <p:nvPr/>
        </p:nvSpPr>
        <p:spPr>
          <a:xfrm>
            <a:off x="822960" y="3474720"/>
            <a:ext cx="4572000" cy="274320"/>
          </a:xfrm>
          <a:prstGeom prst="rect">
            <a:avLst/>
          </a:prstGeom>
          <a:noFill/>
          <a:ln/>
        </p:spPr>
        <p:txBody>
          <a:bodyPr wrap="square" lIns="0" tIns="0" rIns="0" bIns="0" rtlCol="0" anchor="ctr"/>
          <a:lstStyle/>
          <a:p>
            <a:pPr marL="0" indent="0">
              <a:buNone/>
            </a:pPr>
            <a:r>
              <a:rPr lang="en-US" sz="1200" b="1" kern="0" spc="100" dirty="0">
                <a:solidFill>
                  <a:srgbClr val="0E9384"/>
                </a:solidFill>
                <a:latin typeface="Calibri" pitchFamily="34" charset="0"/>
                <a:ea typeface="Calibri" pitchFamily="34" charset="-122"/>
                <a:cs typeface="Calibri" pitchFamily="34" charset="-120"/>
              </a:rPr>
              <a:t>EXAMPLE QUESTION</a:t>
            </a:r>
            <a:endParaRPr lang="en-US" sz="1200" dirty="0"/>
          </a:p>
        </p:txBody>
      </p:sp>
      <p:sp>
        <p:nvSpPr>
          <p:cNvPr id="19" name="Text 17"/>
          <p:cNvSpPr txBox="1"/>
          <p:nvPr/>
        </p:nvSpPr>
        <p:spPr>
          <a:xfrm>
            <a:off x="822960" y="3794760"/>
            <a:ext cx="4572000" cy="594360"/>
          </a:xfrm>
          <a:prstGeom prst="rect">
            <a:avLst/>
          </a:prstGeom>
          <a:noFill/>
          <a:ln/>
        </p:spPr>
        <p:txBody>
          <a:bodyPr wrap="square" lIns="0" tIns="0" rIns="0" bIns="0" rtlCol="0" anchor="t"/>
          <a:lstStyle/>
          <a:p>
            <a:pPr marL="0" indent="0">
              <a:buNone/>
            </a:pPr>
            <a:r>
              <a:rPr lang="en-US" sz="1800" i="1" dirty="0">
                <a:solidFill>
                  <a:srgbClr val="1B2433"/>
                </a:solidFill>
                <a:latin typeface="Calibri" pitchFamily="34" charset="0"/>
                <a:ea typeface="Calibri" pitchFamily="34" charset="-122"/>
                <a:cs typeface="Calibri" pitchFamily="34" charset="-120"/>
              </a:rPr>
              <a:t>“What is the CEO's personal phone number?”</a:t>
            </a:r>
            <a:endParaRPr lang="en-US" sz="1800" dirty="0"/>
          </a:p>
        </p:txBody>
      </p:sp>
      <p:sp>
        <p:nvSpPr>
          <p:cNvPr id="20" name="Shape 18"/>
          <p:cNvSpPr/>
          <p:nvPr/>
        </p:nvSpPr>
        <p:spPr>
          <a:xfrm>
            <a:off x="6153912" y="3291840"/>
            <a:ext cx="5486400" cy="1280160"/>
          </a:xfrm>
          <a:prstGeom prst="roundRect">
            <a:avLst>
              <a:gd name="adj" fmla="val 8571"/>
            </a:avLst>
          </a:prstGeom>
          <a:solidFill>
            <a:srgbClr val="FCEFDF"/>
          </a:solidFill>
          <a:ln w="12700">
            <a:solidFill>
              <a:srgbClr val="CBD4DE"/>
            </a:solidFill>
            <a:prstDash val="solid"/>
          </a:ln>
        </p:spPr>
      </p:sp>
      <p:sp>
        <p:nvSpPr>
          <p:cNvPr id="21" name="Text 19"/>
          <p:cNvSpPr txBox="1"/>
          <p:nvPr/>
        </p:nvSpPr>
        <p:spPr>
          <a:xfrm>
            <a:off x="6428232" y="3474720"/>
            <a:ext cx="4937760" cy="274320"/>
          </a:xfrm>
          <a:prstGeom prst="rect">
            <a:avLst/>
          </a:prstGeom>
          <a:noFill/>
          <a:ln/>
        </p:spPr>
        <p:txBody>
          <a:bodyPr wrap="square" lIns="0" tIns="0" rIns="0" bIns="0" rtlCol="0" anchor="ctr"/>
          <a:lstStyle/>
          <a:p>
            <a:pPr marL="0" indent="0">
              <a:buNone/>
            </a:pPr>
            <a:r>
              <a:rPr lang="en-US" sz="1200" b="1" kern="0" spc="100" dirty="0">
                <a:solidFill>
                  <a:srgbClr val="D97F1E"/>
                </a:solidFill>
                <a:latin typeface="Calibri" pitchFamily="34" charset="0"/>
                <a:ea typeface="Calibri" pitchFamily="34" charset="-122"/>
                <a:cs typeface="Calibri" pitchFamily="34" charset="-120"/>
              </a:rPr>
              <a:t>SYSTEM RESPONSE</a:t>
            </a:r>
            <a:endParaRPr lang="en-US" sz="1200" dirty="0"/>
          </a:p>
        </p:txBody>
      </p:sp>
      <p:sp>
        <p:nvSpPr>
          <p:cNvPr id="22" name="Text 20"/>
          <p:cNvSpPr txBox="1"/>
          <p:nvPr/>
        </p:nvSpPr>
        <p:spPr>
          <a:xfrm>
            <a:off x="6428232" y="3794760"/>
            <a:ext cx="4937760" cy="594360"/>
          </a:xfrm>
          <a:prstGeom prst="rect">
            <a:avLst/>
          </a:prstGeom>
          <a:noFill/>
          <a:ln/>
        </p:spPr>
        <p:txBody>
          <a:bodyPr wrap="square" lIns="0" tIns="0" rIns="0" bIns="0" rtlCol="0" anchor="t"/>
          <a:lstStyle/>
          <a:p>
            <a:pPr marL="0" indent="0">
              <a:buNone/>
            </a:pPr>
            <a:r>
              <a:rPr lang="en-US" sz="1500" dirty="0">
                <a:solidFill>
                  <a:srgbClr val="1B2433"/>
                </a:solidFill>
                <a:latin typeface="Calibri" pitchFamily="34" charset="0"/>
                <a:ea typeface="Calibri" pitchFamily="34" charset="-122"/>
                <a:cs typeface="Calibri" pitchFamily="34" charset="-120"/>
              </a:rPr>
              <a:t>No relevant information was found in the knowledge base. Please review this question manually.</a:t>
            </a:r>
            <a:endParaRPr lang="en-US" sz="1500" dirty="0"/>
          </a:p>
        </p:txBody>
      </p:sp>
      <p:sp>
        <p:nvSpPr>
          <p:cNvPr id="23" name="Shape 21"/>
          <p:cNvSpPr/>
          <p:nvPr/>
        </p:nvSpPr>
        <p:spPr>
          <a:xfrm>
            <a:off x="548640" y="5029200"/>
            <a:ext cx="502920" cy="502920"/>
          </a:xfrm>
          <a:prstGeom prst="ellipse">
            <a:avLst/>
          </a:prstGeom>
          <a:solidFill>
            <a:srgbClr val="C0392B"/>
          </a:solidFill>
          <a:ln w="12700">
            <a:solidFill>
              <a:srgbClr val="C0392B"/>
            </a:solidFill>
            <a:prstDash val="solid"/>
          </a:ln>
        </p:spPr>
      </p:sp>
      <p:pic>
        <p:nvPicPr>
          <p:cNvPr id="24" name="Image 0" descr="preencoded.png"/>
          <p:cNvPicPr>
            <a:picLocks noChangeAspect="1"/>
          </p:cNvPicPr>
          <p:nvPr/>
        </p:nvPicPr>
        <p:blipFill>
          <a:blip r:embed="rId3"/>
          <a:stretch>
            <a:fillRect/>
          </a:stretch>
        </p:blipFill>
        <p:spPr>
          <a:xfrm>
            <a:off x="679399" y="5159959"/>
            <a:ext cx="241402" cy="241402"/>
          </a:xfrm>
          <a:prstGeom prst="rect">
            <a:avLst/>
          </a:prstGeom>
        </p:spPr>
      </p:pic>
      <p:sp>
        <p:nvSpPr>
          <p:cNvPr id="25" name="Text 22"/>
          <p:cNvSpPr txBox="1"/>
          <p:nvPr/>
        </p:nvSpPr>
        <p:spPr>
          <a:xfrm>
            <a:off x="1252728" y="5010912"/>
            <a:ext cx="10268712" cy="502920"/>
          </a:xfrm>
          <a:prstGeom prst="rect">
            <a:avLst/>
          </a:prstGeom>
          <a:noFill/>
          <a:ln/>
        </p:spPr>
        <p:txBody>
          <a:bodyPr wrap="square" lIns="0" tIns="0" rIns="0" bIns="0" rtlCol="0" anchor="ctr"/>
          <a:lstStyle/>
          <a:p>
            <a:pPr marL="0" indent="0">
              <a:buNone/>
            </a:pPr>
            <a:r>
              <a:rPr lang="en-US" sz="1700" b="1" dirty="0">
                <a:solidFill>
                  <a:srgbClr val="1B2433"/>
                </a:solidFill>
                <a:latin typeface="Calibri" pitchFamily="34" charset="0"/>
                <a:ea typeface="Calibri" pitchFamily="34" charset="-122"/>
                <a:cs typeface="Calibri" pitchFamily="34" charset="-120"/>
              </a:rPr>
              <a:t>This prevents incorrect or made-up responses from ever reaching a customer.</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12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Reading emails from Gmail</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What happens when Gmail is connected</a:t>
            </a:r>
            <a:endParaRPr lang="en-US" sz="1600" dirty="0"/>
          </a:p>
        </p:txBody>
      </p:sp>
      <p:sp>
        <p:nvSpPr>
          <p:cNvPr id="6" name="Shape 4"/>
          <p:cNvSpPr/>
          <p:nvPr/>
        </p:nvSpPr>
        <p:spPr>
          <a:xfrm>
            <a:off x="548640" y="1737360"/>
            <a:ext cx="3840480" cy="548640"/>
          </a:xfrm>
          <a:prstGeom prst="roundRect">
            <a:avLst>
              <a:gd name="adj" fmla="val 20000"/>
            </a:avLst>
          </a:prstGeom>
          <a:solidFill>
            <a:srgbClr val="E2F3F0"/>
          </a:solidFill>
          <a:ln w="12700">
            <a:solidFill>
              <a:srgbClr val="0E9384"/>
            </a:solidFill>
            <a:prstDash val="solid"/>
          </a:ln>
        </p:spPr>
      </p:sp>
      <p:sp>
        <p:nvSpPr>
          <p:cNvPr id="7" name="Text 5"/>
          <p:cNvSpPr txBox="1"/>
          <p:nvPr/>
        </p:nvSpPr>
        <p:spPr>
          <a:xfrm>
            <a:off x="640080" y="1737360"/>
            <a:ext cx="3657600" cy="54864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Connect Gmail</a:t>
            </a:r>
            <a:endParaRPr lang="en-US" sz="1500" dirty="0"/>
          </a:p>
        </p:txBody>
      </p:sp>
      <p:sp>
        <p:nvSpPr>
          <p:cNvPr id="8" name="Shape 6"/>
          <p:cNvSpPr/>
          <p:nvPr/>
        </p:nvSpPr>
        <p:spPr>
          <a:xfrm>
            <a:off x="2468880" y="2304288"/>
            <a:ext cx="914" cy="219456"/>
          </a:xfrm>
          <a:prstGeom prst="line">
            <a:avLst/>
          </a:prstGeom>
          <a:noFill/>
          <a:ln w="22225">
            <a:solidFill>
              <a:srgbClr val="5B6678"/>
            </a:solidFill>
            <a:prstDash val="solid"/>
            <a:tailEnd type="triangle"/>
          </a:ln>
        </p:spPr>
      </p:sp>
      <p:sp>
        <p:nvSpPr>
          <p:cNvPr id="9" name="Shape 7"/>
          <p:cNvSpPr/>
          <p:nvPr/>
        </p:nvSpPr>
        <p:spPr>
          <a:xfrm>
            <a:off x="548640" y="2542032"/>
            <a:ext cx="3840480" cy="548640"/>
          </a:xfrm>
          <a:prstGeom prst="roundRect">
            <a:avLst>
              <a:gd name="adj" fmla="val 20000"/>
            </a:avLst>
          </a:prstGeom>
          <a:solidFill>
            <a:srgbClr val="E2F3F0"/>
          </a:solidFill>
          <a:ln w="12700">
            <a:solidFill>
              <a:srgbClr val="0E9384"/>
            </a:solidFill>
            <a:prstDash val="solid"/>
          </a:ln>
        </p:spPr>
      </p:sp>
      <p:sp>
        <p:nvSpPr>
          <p:cNvPr id="10" name="Text 8"/>
          <p:cNvSpPr txBox="1"/>
          <p:nvPr/>
        </p:nvSpPr>
        <p:spPr>
          <a:xfrm>
            <a:off x="640080" y="2542032"/>
            <a:ext cx="3657600" cy="54864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Read Incoming Email</a:t>
            </a:r>
            <a:endParaRPr lang="en-US" sz="1500" dirty="0"/>
          </a:p>
        </p:txBody>
      </p:sp>
      <p:sp>
        <p:nvSpPr>
          <p:cNvPr id="11" name="Shape 9"/>
          <p:cNvSpPr/>
          <p:nvPr/>
        </p:nvSpPr>
        <p:spPr>
          <a:xfrm>
            <a:off x="2468880" y="3108960"/>
            <a:ext cx="914" cy="219456"/>
          </a:xfrm>
          <a:prstGeom prst="line">
            <a:avLst/>
          </a:prstGeom>
          <a:noFill/>
          <a:ln w="22225">
            <a:solidFill>
              <a:srgbClr val="5B6678"/>
            </a:solidFill>
            <a:prstDash val="solid"/>
            <a:tailEnd type="triangle"/>
          </a:ln>
        </p:spPr>
      </p:sp>
      <p:sp>
        <p:nvSpPr>
          <p:cNvPr id="12" name="Shape 10"/>
          <p:cNvSpPr/>
          <p:nvPr/>
        </p:nvSpPr>
        <p:spPr>
          <a:xfrm>
            <a:off x="548640" y="3346704"/>
            <a:ext cx="3840480" cy="548640"/>
          </a:xfrm>
          <a:prstGeom prst="roundRect">
            <a:avLst>
              <a:gd name="adj" fmla="val 20000"/>
            </a:avLst>
          </a:prstGeom>
          <a:solidFill>
            <a:srgbClr val="E2F3F0"/>
          </a:solidFill>
          <a:ln w="12700">
            <a:solidFill>
              <a:srgbClr val="0E9384"/>
            </a:solidFill>
            <a:prstDash val="solid"/>
          </a:ln>
        </p:spPr>
      </p:sp>
      <p:sp>
        <p:nvSpPr>
          <p:cNvPr id="13" name="Text 11"/>
          <p:cNvSpPr txBox="1"/>
          <p:nvPr/>
        </p:nvSpPr>
        <p:spPr>
          <a:xfrm>
            <a:off x="640080" y="3346704"/>
            <a:ext cx="3657600" cy="54864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Identify Question</a:t>
            </a:r>
            <a:endParaRPr lang="en-US" sz="1500" dirty="0"/>
          </a:p>
        </p:txBody>
      </p:sp>
      <p:sp>
        <p:nvSpPr>
          <p:cNvPr id="14" name="Shape 12"/>
          <p:cNvSpPr/>
          <p:nvPr/>
        </p:nvSpPr>
        <p:spPr>
          <a:xfrm>
            <a:off x="2468880" y="3913632"/>
            <a:ext cx="914" cy="219456"/>
          </a:xfrm>
          <a:prstGeom prst="line">
            <a:avLst/>
          </a:prstGeom>
          <a:noFill/>
          <a:ln w="22225">
            <a:solidFill>
              <a:srgbClr val="5B6678"/>
            </a:solidFill>
            <a:prstDash val="solid"/>
            <a:tailEnd type="triangle"/>
          </a:ln>
        </p:spPr>
      </p:sp>
      <p:sp>
        <p:nvSpPr>
          <p:cNvPr id="15" name="Shape 13"/>
          <p:cNvSpPr/>
          <p:nvPr/>
        </p:nvSpPr>
        <p:spPr>
          <a:xfrm>
            <a:off x="548640" y="4151376"/>
            <a:ext cx="3840480" cy="548640"/>
          </a:xfrm>
          <a:prstGeom prst="roundRect">
            <a:avLst>
              <a:gd name="adj" fmla="val 20000"/>
            </a:avLst>
          </a:prstGeom>
          <a:solidFill>
            <a:srgbClr val="E2F3F0"/>
          </a:solidFill>
          <a:ln w="12700">
            <a:solidFill>
              <a:srgbClr val="0E9384"/>
            </a:solidFill>
            <a:prstDash val="solid"/>
          </a:ln>
        </p:spPr>
      </p:sp>
      <p:sp>
        <p:nvSpPr>
          <p:cNvPr id="16" name="Text 14"/>
          <p:cNvSpPr txBox="1"/>
          <p:nvPr/>
        </p:nvSpPr>
        <p:spPr>
          <a:xfrm>
            <a:off x="640080" y="4151376"/>
            <a:ext cx="3657600" cy="54864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Search Knowledge</a:t>
            </a:r>
            <a:endParaRPr lang="en-US" sz="1500" dirty="0"/>
          </a:p>
        </p:txBody>
      </p:sp>
      <p:sp>
        <p:nvSpPr>
          <p:cNvPr id="17" name="Shape 15"/>
          <p:cNvSpPr/>
          <p:nvPr/>
        </p:nvSpPr>
        <p:spPr>
          <a:xfrm>
            <a:off x="2468880" y="4718304"/>
            <a:ext cx="914" cy="219456"/>
          </a:xfrm>
          <a:prstGeom prst="line">
            <a:avLst/>
          </a:prstGeom>
          <a:noFill/>
          <a:ln w="22225">
            <a:solidFill>
              <a:srgbClr val="5B6678"/>
            </a:solidFill>
            <a:prstDash val="solid"/>
            <a:tailEnd type="triangle"/>
          </a:ln>
        </p:spPr>
      </p:sp>
      <p:sp>
        <p:nvSpPr>
          <p:cNvPr id="18" name="Shape 16"/>
          <p:cNvSpPr/>
          <p:nvPr/>
        </p:nvSpPr>
        <p:spPr>
          <a:xfrm>
            <a:off x="548640" y="4956048"/>
            <a:ext cx="3840480" cy="548640"/>
          </a:xfrm>
          <a:prstGeom prst="roundRect">
            <a:avLst>
              <a:gd name="adj" fmla="val 20000"/>
            </a:avLst>
          </a:prstGeom>
          <a:solidFill>
            <a:srgbClr val="E2F3F0"/>
          </a:solidFill>
          <a:ln w="12700">
            <a:solidFill>
              <a:srgbClr val="0E9384"/>
            </a:solidFill>
            <a:prstDash val="solid"/>
          </a:ln>
        </p:spPr>
      </p:sp>
      <p:sp>
        <p:nvSpPr>
          <p:cNvPr id="19" name="Text 17"/>
          <p:cNvSpPr txBox="1"/>
          <p:nvPr/>
        </p:nvSpPr>
        <p:spPr>
          <a:xfrm>
            <a:off x="640080" y="4956048"/>
            <a:ext cx="3657600" cy="54864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Generate Response</a:t>
            </a:r>
            <a:endParaRPr lang="en-US" sz="1500" dirty="0"/>
          </a:p>
        </p:txBody>
      </p:sp>
      <p:sp>
        <p:nvSpPr>
          <p:cNvPr id="20" name="Text 18"/>
          <p:cNvSpPr txBox="1"/>
          <p:nvPr/>
        </p:nvSpPr>
        <p:spPr>
          <a:xfrm>
            <a:off x="5212080" y="1737360"/>
            <a:ext cx="6400800" cy="457200"/>
          </a:xfrm>
          <a:prstGeom prst="rect">
            <a:avLst/>
          </a:prstGeom>
          <a:noFill/>
          <a:ln/>
        </p:spPr>
        <p:txBody>
          <a:bodyPr wrap="square" lIns="0" tIns="0" rIns="0" bIns="0" rtlCol="0" anchor="ctr"/>
          <a:lstStyle/>
          <a:p>
            <a:pPr marL="0" indent="0">
              <a:buNone/>
            </a:pPr>
            <a:r>
              <a:rPr lang="en-US" sz="2100" b="1" dirty="0">
                <a:solidFill>
                  <a:srgbClr val="1B2433"/>
                </a:solidFill>
                <a:latin typeface="Calibri" pitchFamily="34" charset="0"/>
                <a:ea typeface="Calibri" pitchFamily="34" charset="-122"/>
                <a:cs typeface="Calibri" pitchFamily="34" charset="-120"/>
              </a:rPr>
              <a:t>Information taken from each email</a:t>
            </a:r>
            <a:endParaRPr lang="en-US" sz="2100" dirty="0"/>
          </a:p>
        </p:txBody>
      </p:sp>
      <p:sp>
        <p:nvSpPr>
          <p:cNvPr id="21" name="Shape 19"/>
          <p:cNvSpPr/>
          <p:nvPr/>
        </p:nvSpPr>
        <p:spPr>
          <a:xfrm>
            <a:off x="5212080" y="2377440"/>
            <a:ext cx="530352" cy="530352"/>
          </a:xfrm>
          <a:prstGeom prst="ellipse">
            <a:avLst/>
          </a:prstGeom>
          <a:solidFill>
            <a:srgbClr val="0E9384"/>
          </a:solidFill>
          <a:ln w="12700">
            <a:solidFill>
              <a:srgbClr val="0E9384"/>
            </a:solidFill>
            <a:prstDash val="solid"/>
          </a:ln>
        </p:spPr>
      </p:sp>
      <p:pic>
        <p:nvPicPr>
          <p:cNvPr id="22" name="Image 0" descr="preencoded.png"/>
          <p:cNvPicPr>
            <a:picLocks noChangeAspect="1"/>
          </p:cNvPicPr>
          <p:nvPr/>
        </p:nvPicPr>
        <p:blipFill>
          <a:blip r:embed="rId3"/>
          <a:stretch>
            <a:fillRect/>
          </a:stretch>
        </p:blipFill>
        <p:spPr>
          <a:xfrm>
            <a:off x="5349972" y="2515332"/>
            <a:ext cx="254569" cy="254569"/>
          </a:xfrm>
          <a:prstGeom prst="rect">
            <a:avLst/>
          </a:prstGeom>
        </p:spPr>
      </p:pic>
      <p:sp>
        <p:nvSpPr>
          <p:cNvPr id="23" name="Text 20"/>
          <p:cNvSpPr txBox="1"/>
          <p:nvPr/>
        </p:nvSpPr>
        <p:spPr>
          <a:xfrm>
            <a:off x="5943600" y="2359152"/>
            <a:ext cx="5669280" cy="310896"/>
          </a:xfrm>
          <a:prstGeom prst="rect">
            <a:avLst/>
          </a:prstGeom>
          <a:noFill/>
          <a:ln/>
        </p:spPr>
        <p:txBody>
          <a:bodyPr wrap="square" lIns="0" tIns="0" rIns="0" bIns="0" rtlCol="0" anchor="t"/>
          <a:lstStyle/>
          <a:p>
            <a:pPr marL="0" indent="0">
              <a:buNone/>
            </a:pPr>
            <a:r>
              <a:rPr lang="en-US" sz="1600" b="1" dirty="0">
                <a:solidFill>
                  <a:srgbClr val="1B2433"/>
                </a:solidFill>
                <a:latin typeface="Calibri" pitchFamily="34" charset="0"/>
                <a:ea typeface="Calibri" pitchFamily="34" charset="-122"/>
                <a:cs typeface="Calibri" pitchFamily="34" charset="-120"/>
              </a:rPr>
              <a:t>Sender</a:t>
            </a:r>
            <a:endParaRPr lang="en-US" sz="1600" dirty="0"/>
          </a:p>
        </p:txBody>
      </p:sp>
      <p:sp>
        <p:nvSpPr>
          <p:cNvPr id="24" name="Text 21"/>
          <p:cNvSpPr txBox="1"/>
          <p:nvPr/>
        </p:nvSpPr>
        <p:spPr>
          <a:xfrm>
            <a:off x="5943600" y="2670048"/>
            <a:ext cx="5669280" cy="38404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Who the email is from, so the reply is addressed correctly.</a:t>
            </a:r>
            <a:endParaRPr lang="en-US" sz="1300" dirty="0"/>
          </a:p>
        </p:txBody>
      </p:sp>
      <p:sp>
        <p:nvSpPr>
          <p:cNvPr id="25" name="Shape 22"/>
          <p:cNvSpPr/>
          <p:nvPr/>
        </p:nvSpPr>
        <p:spPr>
          <a:xfrm>
            <a:off x="5212080" y="3310128"/>
            <a:ext cx="530352" cy="530352"/>
          </a:xfrm>
          <a:prstGeom prst="ellipse">
            <a:avLst/>
          </a:prstGeom>
          <a:solidFill>
            <a:srgbClr val="0E9384"/>
          </a:solidFill>
          <a:ln w="12700">
            <a:solidFill>
              <a:srgbClr val="0E9384"/>
            </a:solidFill>
            <a:prstDash val="solid"/>
          </a:ln>
        </p:spPr>
      </p:sp>
      <p:pic>
        <p:nvPicPr>
          <p:cNvPr id="26" name="Image 1" descr="preencoded.png"/>
          <p:cNvPicPr>
            <a:picLocks noChangeAspect="1"/>
          </p:cNvPicPr>
          <p:nvPr/>
        </p:nvPicPr>
        <p:blipFill>
          <a:blip r:embed="rId4"/>
          <a:stretch>
            <a:fillRect/>
          </a:stretch>
        </p:blipFill>
        <p:spPr>
          <a:xfrm>
            <a:off x="5349972" y="3448020"/>
            <a:ext cx="254569" cy="254569"/>
          </a:xfrm>
          <a:prstGeom prst="rect">
            <a:avLst/>
          </a:prstGeom>
        </p:spPr>
      </p:pic>
      <p:sp>
        <p:nvSpPr>
          <p:cNvPr id="27" name="Text 23"/>
          <p:cNvSpPr txBox="1"/>
          <p:nvPr/>
        </p:nvSpPr>
        <p:spPr>
          <a:xfrm>
            <a:off x="5943600" y="3291840"/>
            <a:ext cx="5669280" cy="310896"/>
          </a:xfrm>
          <a:prstGeom prst="rect">
            <a:avLst/>
          </a:prstGeom>
          <a:noFill/>
          <a:ln/>
        </p:spPr>
        <p:txBody>
          <a:bodyPr wrap="square" lIns="0" tIns="0" rIns="0" bIns="0" rtlCol="0" anchor="t"/>
          <a:lstStyle/>
          <a:p>
            <a:pPr marL="0" indent="0">
              <a:buNone/>
            </a:pPr>
            <a:r>
              <a:rPr lang="en-US" sz="1600" b="1" dirty="0">
                <a:solidFill>
                  <a:srgbClr val="1B2433"/>
                </a:solidFill>
                <a:latin typeface="Calibri" pitchFamily="34" charset="0"/>
                <a:ea typeface="Calibri" pitchFamily="34" charset="-122"/>
                <a:cs typeface="Calibri" pitchFamily="34" charset="-120"/>
              </a:rPr>
              <a:t>Subject</a:t>
            </a:r>
            <a:endParaRPr lang="en-US" sz="1600" dirty="0"/>
          </a:p>
        </p:txBody>
      </p:sp>
      <p:sp>
        <p:nvSpPr>
          <p:cNvPr id="28" name="Text 24"/>
          <p:cNvSpPr txBox="1"/>
          <p:nvPr/>
        </p:nvSpPr>
        <p:spPr>
          <a:xfrm>
            <a:off x="5943600" y="3602736"/>
            <a:ext cx="5669280" cy="38404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The topic of the email.</a:t>
            </a:r>
            <a:endParaRPr lang="en-US" sz="1300" dirty="0"/>
          </a:p>
        </p:txBody>
      </p:sp>
      <p:sp>
        <p:nvSpPr>
          <p:cNvPr id="29" name="Shape 25"/>
          <p:cNvSpPr/>
          <p:nvPr/>
        </p:nvSpPr>
        <p:spPr>
          <a:xfrm>
            <a:off x="5212080" y="4242816"/>
            <a:ext cx="530352" cy="530352"/>
          </a:xfrm>
          <a:prstGeom prst="ellipse">
            <a:avLst/>
          </a:prstGeom>
          <a:solidFill>
            <a:srgbClr val="0E9384"/>
          </a:solidFill>
          <a:ln w="12700">
            <a:solidFill>
              <a:srgbClr val="0E9384"/>
            </a:solidFill>
            <a:prstDash val="solid"/>
          </a:ln>
        </p:spPr>
      </p:sp>
      <p:pic>
        <p:nvPicPr>
          <p:cNvPr id="30" name="Image 2" descr="preencoded.png"/>
          <p:cNvPicPr>
            <a:picLocks noChangeAspect="1"/>
          </p:cNvPicPr>
          <p:nvPr/>
        </p:nvPicPr>
        <p:blipFill>
          <a:blip r:embed="rId5"/>
          <a:stretch>
            <a:fillRect/>
          </a:stretch>
        </p:blipFill>
        <p:spPr>
          <a:xfrm>
            <a:off x="5349972" y="4380708"/>
            <a:ext cx="254569" cy="254569"/>
          </a:xfrm>
          <a:prstGeom prst="rect">
            <a:avLst/>
          </a:prstGeom>
        </p:spPr>
      </p:pic>
      <p:sp>
        <p:nvSpPr>
          <p:cNvPr id="31" name="Text 26"/>
          <p:cNvSpPr txBox="1"/>
          <p:nvPr/>
        </p:nvSpPr>
        <p:spPr>
          <a:xfrm>
            <a:off x="5943600" y="4224528"/>
            <a:ext cx="5669280" cy="310896"/>
          </a:xfrm>
          <a:prstGeom prst="rect">
            <a:avLst/>
          </a:prstGeom>
          <a:noFill/>
          <a:ln/>
        </p:spPr>
        <p:txBody>
          <a:bodyPr wrap="square" lIns="0" tIns="0" rIns="0" bIns="0" rtlCol="0" anchor="t"/>
          <a:lstStyle/>
          <a:p>
            <a:pPr marL="0" indent="0">
              <a:buNone/>
            </a:pPr>
            <a:r>
              <a:rPr lang="en-US" sz="1600" b="1" dirty="0">
                <a:solidFill>
                  <a:srgbClr val="1B2433"/>
                </a:solidFill>
                <a:latin typeface="Calibri" pitchFamily="34" charset="0"/>
                <a:ea typeface="Calibri" pitchFamily="34" charset="-122"/>
                <a:cs typeface="Calibri" pitchFamily="34" charset="-120"/>
              </a:rPr>
              <a:t>Email body</a:t>
            </a:r>
            <a:endParaRPr lang="en-US" sz="1600" dirty="0"/>
          </a:p>
        </p:txBody>
      </p:sp>
      <p:sp>
        <p:nvSpPr>
          <p:cNvPr id="32" name="Text 27"/>
          <p:cNvSpPr txBox="1"/>
          <p:nvPr/>
        </p:nvSpPr>
        <p:spPr>
          <a:xfrm>
            <a:off x="5943600" y="4535424"/>
            <a:ext cx="5669280" cy="38404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The message itself, where the question is found.</a:t>
            </a:r>
            <a:endParaRPr lang="en-US" sz="1300" dirty="0"/>
          </a:p>
        </p:txBody>
      </p:sp>
      <p:sp>
        <p:nvSpPr>
          <p:cNvPr id="33" name="Shape 28"/>
          <p:cNvSpPr/>
          <p:nvPr/>
        </p:nvSpPr>
        <p:spPr>
          <a:xfrm>
            <a:off x="5212080" y="5175504"/>
            <a:ext cx="530352" cy="530352"/>
          </a:xfrm>
          <a:prstGeom prst="ellipse">
            <a:avLst/>
          </a:prstGeom>
          <a:solidFill>
            <a:srgbClr val="0E9384"/>
          </a:solidFill>
          <a:ln w="12700">
            <a:solidFill>
              <a:srgbClr val="0E9384"/>
            </a:solidFill>
            <a:prstDash val="solid"/>
          </a:ln>
        </p:spPr>
      </p:sp>
      <p:pic>
        <p:nvPicPr>
          <p:cNvPr id="34" name="Image 3" descr="preencoded.png"/>
          <p:cNvPicPr>
            <a:picLocks noChangeAspect="1"/>
          </p:cNvPicPr>
          <p:nvPr/>
        </p:nvPicPr>
        <p:blipFill>
          <a:blip r:embed="rId6"/>
          <a:stretch>
            <a:fillRect/>
          </a:stretch>
        </p:blipFill>
        <p:spPr>
          <a:xfrm>
            <a:off x="5349972" y="5313396"/>
            <a:ext cx="254569" cy="254569"/>
          </a:xfrm>
          <a:prstGeom prst="rect">
            <a:avLst/>
          </a:prstGeom>
        </p:spPr>
      </p:pic>
      <p:sp>
        <p:nvSpPr>
          <p:cNvPr id="35" name="Text 29"/>
          <p:cNvSpPr txBox="1"/>
          <p:nvPr/>
        </p:nvSpPr>
        <p:spPr>
          <a:xfrm>
            <a:off x="5943600" y="5157216"/>
            <a:ext cx="5669280" cy="310896"/>
          </a:xfrm>
          <a:prstGeom prst="rect">
            <a:avLst/>
          </a:prstGeom>
          <a:noFill/>
          <a:ln/>
        </p:spPr>
        <p:txBody>
          <a:bodyPr wrap="square" lIns="0" tIns="0" rIns="0" bIns="0" rtlCol="0" anchor="t"/>
          <a:lstStyle/>
          <a:p>
            <a:pPr marL="0" indent="0">
              <a:buNone/>
            </a:pPr>
            <a:r>
              <a:rPr lang="en-US" sz="1600" b="1" dirty="0">
                <a:solidFill>
                  <a:srgbClr val="1B2433"/>
                </a:solidFill>
                <a:latin typeface="Calibri" pitchFamily="34" charset="0"/>
                <a:ea typeface="Calibri" pitchFamily="34" charset="-122"/>
                <a:cs typeface="Calibri" pitchFamily="34" charset="-120"/>
              </a:rPr>
              <a:t>Conversation thread</a:t>
            </a:r>
            <a:endParaRPr lang="en-US" sz="1600" dirty="0"/>
          </a:p>
        </p:txBody>
      </p:sp>
      <p:sp>
        <p:nvSpPr>
          <p:cNvPr id="36" name="Text 30"/>
          <p:cNvSpPr txBox="1"/>
          <p:nvPr/>
        </p:nvSpPr>
        <p:spPr>
          <a:xfrm>
            <a:off x="5943600" y="5468112"/>
            <a:ext cx="5669280" cy="38404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Earlier messages, so the reply stays in the same conversation.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13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Creating the Gmail draft</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The reply is saved as a draft — never sent automatically</a:t>
            </a:r>
            <a:endParaRPr lang="en-US" sz="1600" dirty="0"/>
          </a:p>
        </p:txBody>
      </p:sp>
      <p:sp>
        <p:nvSpPr>
          <p:cNvPr id="6" name="Shape 4"/>
          <p:cNvSpPr/>
          <p:nvPr/>
        </p:nvSpPr>
        <p:spPr>
          <a:xfrm>
            <a:off x="1463040" y="1920240"/>
            <a:ext cx="2599944" cy="1143000"/>
          </a:xfrm>
          <a:prstGeom prst="roundRect">
            <a:avLst>
              <a:gd name="adj" fmla="val 9600"/>
            </a:avLst>
          </a:prstGeom>
          <a:solidFill>
            <a:srgbClr val="E2F3F0"/>
          </a:solidFill>
          <a:ln w="12700">
            <a:solidFill>
              <a:srgbClr val="0E9384"/>
            </a:solidFill>
            <a:prstDash val="solid"/>
          </a:ln>
        </p:spPr>
      </p:sp>
      <p:sp>
        <p:nvSpPr>
          <p:cNvPr id="7" name="Text 5"/>
          <p:cNvSpPr txBox="1"/>
          <p:nvPr/>
        </p:nvSpPr>
        <p:spPr>
          <a:xfrm>
            <a:off x="1508760" y="1920240"/>
            <a:ext cx="2508504" cy="1143000"/>
          </a:xfrm>
          <a:prstGeom prst="rect">
            <a:avLst/>
          </a:prstGeom>
          <a:noFill/>
          <a:ln/>
        </p:spPr>
        <p:txBody>
          <a:bodyPr wrap="square" lIns="0" tIns="0" rIns="0" bIns="0" rtlCol="0" anchor="ctr"/>
          <a:lstStyle/>
          <a:p>
            <a:pPr marL="0" indent="0" algn="ctr">
              <a:buNone/>
            </a:pPr>
            <a:r>
              <a:rPr lang="en-US" sz="1900" b="1" dirty="0">
                <a:solidFill>
                  <a:srgbClr val="1B2433"/>
                </a:solidFill>
                <a:latin typeface="Calibri" pitchFamily="34" charset="0"/>
                <a:ea typeface="Calibri" pitchFamily="34" charset="-122"/>
                <a:cs typeface="Calibri" pitchFamily="34" charset="-120"/>
              </a:rPr>
              <a:t>AI Response</a:t>
            </a:r>
            <a:endParaRPr lang="en-US" sz="1900" dirty="0"/>
          </a:p>
        </p:txBody>
      </p:sp>
      <p:sp>
        <p:nvSpPr>
          <p:cNvPr id="8" name="Shape 6"/>
          <p:cNvSpPr/>
          <p:nvPr/>
        </p:nvSpPr>
        <p:spPr>
          <a:xfrm>
            <a:off x="4099560" y="2491740"/>
            <a:ext cx="658368" cy="914"/>
          </a:xfrm>
          <a:prstGeom prst="line">
            <a:avLst/>
          </a:prstGeom>
          <a:noFill/>
          <a:ln w="22225">
            <a:solidFill>
              <a:srgbClr val="5B6678"/>
            </a:solidFill>
            <a:prstDash val="solid"/>
            <a:tailEnd type="triangle"/>
          </a:ln>
        </p:spPr>
      </p:sp>
      <p:sp>
        <p:nvSpPr>
          <p:cNvPr id="9" name="Shape 7"/>
          <p:cNvSpPr/>
          <p:nvPr/>
        </p:nvSpPr>
        <p:spPr>
          <a:xfrm>
            <a:off x="4794504" y="1920240"/>
            <a:ext cx="2599944" cy="1143000"/>
          </a:xfrm>
          <a:prstGeom prst="roundRect">
            <a:avLst>
              <a:gd name="adj" fmla="val 9600"/>
            </a:avLst>
          </a:prstGeom>
          <a:solidFill>
            <a:srgbClr val="E2F3F0"/>
          </a:solidFill>
          <a:ln w="12700">
            <a:solidFill>
              <a:srgbClr val="0E9384"/>
            </a:solidFill>
            <a:prstDash val="solid"/>
          </a:ln>
        </p:spPr>
      </p:sp>
      <p:sp>
        <p:nvSpPr>
          <p:cNvPr id="10" name="Text 8"/>
          <p:cNvSpPr txBox="1"/>
          <p:nvPr/>
        </p:nvSpPr>
        <p:spPr>
          <a:xfrm>
            <a:off x="4840224" y="1920240"/>
            <a:ext cx="2508504" cy="1143000"/>
          </a:xfrm>
          <a:prstGeom prst="rect">
            <a:avLst/>
          </a:prstGeom>
          <a:noFill/>
          <a:ln/>
        </p:spPr>
        <p:txBody>
          <a:bodyPr wrap="square" lIns="0" tIns="0" rIns="0" bIns="0" rtlCol="0" anchor="ctr"/>
          <a:lstStyle/>
          <a:p>
            <a:pPr marL="0" indent="0" algn="ctr">
              <a:buNone/>
            </a:pPr>
            <a:r>
              <a:rPr lang="en-US" sz="1900" b="1" dirty="0">
                <a:solidFill>
                  <a:srgbClr val="1B2433"/>
                </a:solidFill>
                <a:latin typeface="Calibri" pitchFamily="34" charset="0"/>
                <a:ea typeface="Calibri" pitchFamily="34" charset="-122"/>
                <a:cs typeface="Calibri" pitchFamily="34" charset="-120"/>
              </a:rPr>
              <a:t>Gmail Draft</a:t>
            </a:r>
            <a:endParaRPr lang="en-US" sz="1900" dirty="0"/>
          </a:p>
        </p:txBody>
      </p:sp>
      <p:sp>
        <p:nvSpPr>
          <p:cNvPr id="11" name="Shape 9"/>
          <p:cNvSpPr/>
          <p:nvPr/>
        </p:nvSpPr>
        <p:spPr>
          <a:xfrm>
            <a:off x="7431024" y="2491740"/>
            <a:ext cx="658368" cy="914"/>
          </a:xfrm>
          <a:prstGeom prst="line">
            <a:avLst/>
          </a:prstGeom>
          <a:noFill/>
          <a:ln w="22225">
            <a:solidFill>
              <a:srgbClr val="5B6678"/>
            </a:solidFill>
            <a:prstDash val="solid"/>
            <a:tailEnd type="triangle"/>
          </a:ln>
        </p:spPr>
      </p:sp>
      <p:sp>
        <p:nvSpPr>
          <p:cNvPr id="12" name="Shape 10"/>
          <p:cNvSpPr/>
          <p:nvPr/>
        </p:nvSpPr>
        <p:spPr>
          <a:xfrm>
            <a:off x="8125968" y="1920240"/>
            <a:ext cx="2599944" cy="1143000"/>
          </a:xfrm>
          <a:prstGeom prst="roundRect">
            <a:avLst>
              <a:gd name="adj" fmla="val 9600"/>
            </a:avLst>
          </a:prstGeom>
          <a:solidFill>
            <a:srgbClr val="FCEFDF"/>
          </a:solidFill>
          <a:ln w="12700">
            <a:solidFill>
              <a:srgbClr val="D97F1E"/>
            </a:solidFill>
            <a:prstDash val="solid"/>
          </a:ln>
        </p:spPr>
      </p:sp>
      <p:sp>
        <p:nvSpPr>
          <p:cNvPr id="13" name="Text 11"/>
          <p:cNvSpPr txBox="1"/>
          <p:nvPr/>
        </p:nvSpPr>
        <p:spPr>
          <a:xfrm>
            <a:off x="8171688" y="1920240"/>
            <a:ext cx="2508504" cy="1143000"/>
          </a:xfrm>
          <a:prstGeom prst="rect">
            <a:avLst/>
          </a:prstGeom>
          <a:noFill/>
          <a:ln/>
        </p:spPr>
        <p:txBody>
          <a:bodyPr wrap="square" lIns="0" tIns="0" rIns="0" bIns="0" rtlCol="0" anchor="ctr"/>
          <a:lstStyle/>
          <a:p>
            <a:pPr marL="0" indent="0" algn="ctr">
              <a:buNone/>
            </a:pPr>
            <a:r>
              <a:rPr lang="en-US" sz="1900" b="1" dirty="0">
                <a:solidFill>
                  <a:srgbClr val="1B2433"/>
                </a:solidFill>
                <a:latin typeface="Calibri" pitchFamily="34" charset="0"/>
                <a:ea typeface="Calibri" pitchFamily="34" charset="-122"/>
                <a:cs typeface="Calibri" pitchFamily="34" charset="-120"/>
              </a:rPr>
              <a:t>Human Review</a:t>
            </a:r>
            <a:endParaRPr lang="en-US" sz="1900" dirty="0"/>
          </a:p>
        </p:txBody>
      </p:sp>
      <p:sp>
        <p:nvSpPr>
          <p:cNvPr id="14" name="Shape 12"/>
          <p:cNvSpPr/>
          <p:nvPr/>
        </p:nvSpPr>
        <p:spPr>
          <a:xfrm>
            <a:off x="548640" y="3566160"/>
            <a:ext cx="3538728" cy="2148840"/>
          </a:xfrm>
          <a:prstGeom prst="roundRect">
            <a:avLst>
              <a:gd name="adj" fmla="val 5106"/>
            </a:avLst>
          </a:prstGeom>
          <a:solidFill>
            <a:srgbClr val="F4F7FA"/>
          </a:solidFill>
          <a:ln w="12700">
            <a:solidFill>
              <a:srgbClr val="F4F7FA"/>
            </a:solidFill>
            <a:prstDash val="solid"/>
          </a:ln>
        </p:spPr>
      </p:sp>
      <p:sp>
        <p:nvSpPr>
          <p:cNvPr id="15" name="Shape 13"/>
          <p:cNvSpPr/>
          <p:nvPr/>
        </p:nvSpPr>
        <p:spPr>
          <a:xfrm>
            <a:off x="777240" y="3794760"/>
            <a:ext cx="566928" cy="566928"/>
          </a:xfrm>
          <a:prstGeom prst="ellipse">
            <a:avLst/>
          </a:prstGeom>
          <a:solidFill>
            <a:srgbClr val="0E9384"/>
          </a:solidFill>
          <a:ln w="12700">
            <a:solidFill>
              <a:srgbClr val="0E9384"/>
            </a:solidFill>
            <a:prstDash val="solid"/>
          </a:ln>
        </p:spPr>
      </p:sp>
      <p:pic>
        <p:nvPicPr>
          <p:cNvPr id="16" name="Image 0" descr="preencoded.png"/>
          <p:cNvPicPr>
            <a:picLocks noChangeAspect="1"/>
          </p:cNvPicPr>
          <p:nvPr/>
        </p:nvPicPr>
        <p:blipFill>
          <a:blip r:embed="rId3"/>
          <a:stretch>
            <a:fillRect/>
          </a:stretch>
        </p:blipFill>
        <p:spPr>
          <a:xfrm>
            <a:off x="924641" y="3942161"/>
            <a:ext cx="272125" cy="272125"/>
          </a:xfrm>
          <a:prstGeom prst="rect">
            <a:avLst/>
          </a:prstGeom>
        </p:spPr>
      </p:pic>
      <p:sp>
        <p:nvSpPr>
          <p:cNvPr id="17" name="Text 14"/>
          <p:cNvSpPr txBox="1"/>
          <p:nvPr/>
        </p:nvSpPr>
        <p:spPr>
          <a:xfrm>
            <a:off x="777240" y="4471416"/>
            <a:ext cx="3081528" cy="365760"/>
          </a:xfrm>
          <a:prstGeom prst="rect">
            <a:avLst/>
          </a:prstGeom>
          <a:noFill/>
          <a:ln/>
        </p:spPr>
        <p:txBody>
          <a:bodyPr wrap="square" lIns="0" tIns="0" rIns="0" bIns="0" rtlCol="0" anchor="ctr"/>
          <a:lstStyle/>
          <a:p>
            <a:pPr marL="0" indent="0">
              <a:buNone/>
            </a:pPr>
            <a:r>
              <a:rPr lang="en-US" sz="1600" b="1" dirty="0">
                <a:solidFill>
                  <a:srgbClr val="1B2433"/>
                </a:solidFill>
                <a:latin typeface="Calibri" pitchFamily="34" charset="0"/>
                <a:ea typeface="Calibri" pitchFamily="34" charset="-122"/>
                <a:cs typeface="Calibri" pitchFamily="34" charset="-120"/>
              </a:rPr>
              <a:t>Same conversation</a:t>
            </a:r>
            <a:endParaRPr lang="en-US" sz="1600" dirty="0"/>
          </a:p>
        </p:txBody>
      </p:sp>
      <p:sp>
        <p:nvSpPr>
          <p:cNvPr id="18" name="Text 15"/>
          <p:cNvSpPr txBox="1"/>
          <p:nvPr/>
        </p:nvSpPr>
        <p:spPr>
          <a:xfrm>
            <a:off x="777240" y="4864608"/>
            <a:ext cx="3081528" cy="758952"/>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The draft is attached to the original email thread in Gmail.</a:t>
            </a:r>
            <a:endParaRPr lang="en-US" sz="1300" dirty="0"/>
          </a:p>
        </p:txBody>
      </p:sp>
      <p:sp>
        <p:nvSpPr>
          <p:cNvPr id="19" name="Shape 16"/>
          <p:cNvSpPr/>
          <p:nvPr/>
        </p:nvSpPr>
        <p:spPr>
          <a:xfrm>
            <a:off x="4325112" y="3566160"/>
            <a:ext cx="3538728" cy="2148840"/>
          </a:xfrm>
          <a:prstGeom prst="roundRect">
            <a:avLst>
              <a:gd name="adj" fmla="val 5106"/>
            </a:avLst>
          </a:prstGeom>
          <a:solidFill>
            <a:srgbClr val="F4F7FA"/>
          </a:solidFill>
          <a:ln w="12700">
            <a:solidFill>
              <a:srgbClr val="F4F7FA"/>
            </a:solidFill>
            <a:prstDash val="solid"/>
          </a:ln>
        </p:spPr>
      </p:sp>
      <p:sp>
        <p:nvSpPr>
          <p:cNvPr id="20" name="Shape 17"/>
          <p:cNvSpPr/>
          <p:nvPr/>
        </p:nvSpPr>
        <p:spPr>
          <a:xfrm>
            <a:off x="4553712" y="3794760"/>
            <a:ext cx="566928" cy="566928"/>
          </a:xfrm>
          <a:prstGeom prst="ellipse">
            <a:avLst/>
          </a:prstGeom>
          <a:solidFill>
            <a:srgbClr val="0E9384"/>
          </a:solidFill>
          <a:ln w="12700">
            <a:solidFill>
              <a:srgbClr val="0E9384"/>
            </a:solidFill>
            <a:prstDash val="solid"/>
          </a:ln>
        </p:spPr>
      </p:sp>
      <p:pic>
        <p:nvPicPr>
          <p:cNvPr id="21" name="Image 1" descr="preencoded.png"/>
          <p:cNvPicPr>
            <a:picLocks noChangeAspect="1"/>
          </p:cNvPicPr>
          <p:nvPr/>
        </p:nvPicPr>
        <p:blipFill>
          <a:blip r:embed="rId4"/>
          <a:stretch>
            <a:fillRect/>
          </a:stretch>
        </p:blipFill>
        <p:spPr>
          <a:xfrm>
            <a:off x="4701113" y="3942161"/>
            <a:ext cx="272125" cy="272125"/>
          </a:xfrm>
          <a:prstGeom prst="rect">
            <a:avLst/>
          </a:prstGeom>
        </p:spPr>
      </p:pic>
      <p:sp>
        <p:nvSpPr>
          <p:cNvPr id="22" name="Text 18"/>
          <p:cNvSpPr txBox="1"/>
          <p:nvPr/>
        </p:nvSpPr>
        <p:spPr>
          <a:xfrm>
            <a:off x="4553712" y="4471416"/>
            <a:ext cx="3081528" cy="365760"/>
          </a:xfrm>
          <a:prstGeom prst="rect">
            <a:avLst/>
          </a:prstGeom>
          <a:noFill/>
          <a:ln/>
        </p:spPr>
        <p:txBody>
          <a:bodyPr wrap="square" lIns="0" tIns="0" rIns="0" bIns="0" rtlCol="0" anchor="ctr"/>
          <a:lstStyle/>
          <a:p>
            <a:pPr marL="0" indent="0">
              <a:buNone/>
            </a:pPr>
            <a:r>
              <a:rPr lang="en-US" sz="1600" b="1" dirty="0">
                <a:solidFill>
                  <a:srgbClr val="1B2433"/>
                </a:solidFill>
                <a:latin typeface="Calibri" pitchFamily="34" charset="0"/>
                <a:ea typeface="Calibri" pitchFamily="34" charset="-122"/>
                <a:cs typeface="Calibri" pitchFamily="34" charset="-120"/>
              </a:rPr>
              <a:t>Fully editable</a:t>
            </a:r>
            <a:endParaRPr lang="en-US" sz="1600" dirty="0"/>
          </a:p>
        </p:txBody>
      </p:sp>
      <p:sp>
        <p:nvSpPr>
          <p:cNvPr id="23" name="Text 19"/>
          <p:cNvSpPr txBox="1"/>
          <p:nvPr/>
        </p:nvSpPr>
        <p:spPr>
          <a:xfrm>
            <a:off x="4553712" y="4864608"/>
            <a:ext cx="3081528" cy="758952"/>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It can be changed in the app or directly in Gmail.</a:t>
            </a:r>
            <a:endParaRPr lang="en-US" sz="1300" dirty="0"/>
          </a:p>
        </p:txBody>
      </p:sp>
      <p:sp>
        <p:nvSpPr>
          <p:cNvPr id="24" name="Shape 20"/>
          <p:cNvSpPr/>
          <p:nvPr/>
        </p:nvSpPr>
        <p:spPr>
          <a:xfrm>
            <a:off x="8101584" y="3566160"/>
            <a:ext cx="3538728" cy="2148840"/>
          </a:xfrm>
          <a:prstGeom prst="roundRect">
            <a:avLst>
              <a:gd name="adj" fmla="val 5106"/>
            </a:avLst>
          </a:prstGeom>
          <a:solidFill>
            <a:srgbClr val="F4F7FA"/>
          </a:solidFill>
          <a:ln w="12700">
            <a:solidFill>
              <a:srgbClr val="F4F7FA"/>
            </a:solidFill>
            <a:prstDash val="solid"/>
          </a:ln>
        </p:spPr>
      </p:sp>
      <p:sp>
        <p:nvSpPr>
          <p:cNvPr id="25" name="Shape 21"/>
          <p:cNvSpPr/>
          <p:nvPr/>
        </p:nvSpPr>
        <p:spPr>
          <a:xfrm>
            <a:off x="8330184" y="3794760"/>
            <a:ext cx="566928" cy="566928"/>
          </a:xfrm>
          <a:prstGeom prst="ellipse">
            <a:avLst/>
          </a:prstGeom>
          <a:solidFill>
            <a:srgbClr val="D97F1E"/>
          </a:solidFill>
          <a:ln w="12700">
            <a:solidFill>
              <a:srgbClr val="D97F1E"/>
            </a:solidFill>
            <a:prstDash val="solid"/>
          </a:ln>
        </p:spPr>
      </p:sp>
      <p:pic>
        <p:nvPicPr>
          <p:cNvPr id="26" name="Image 2" descr="preencoded.png"/>
          <p:cNvPicPr>
            <a:picLocks noChangeAspect="1"/>
          </p:cNvPicPr>
          <p:nvPr/>
        </p:nvPicPr>
        <p:blipFill>
          <a:blip r:embed="rId5"/>
          <a:stretch>
            <a:fillRect/>
          </a:stretch>
        </p:blipFill>
        <p:spPr>
          <a:xfrm>
            <a:off x="8477585" y="3942161"/>
            <a:ext cx="272125" cy="272125"/>
          </a:xfrm>
          <a:prstGeom prst="rect">
            <a:avLst/>
          </a:prstGeom>
        </p:spPr>
      </p:pic>
      <p:sp>
        <p:nvSpPr>
          <p:cNvPr id="27" name="Text 22"/>
          <p:cNvSpPr txBox="1"/>
          <p:nvPr/>
        </p:nvSpPr>
        <p:spPr>
          <a:xfrm>
            <a:off x="8330184" y="4471416"/>
            <a:ext cx="3081528" cy="365760"/>
          </a:xfrm>
          <a:prstGeom prst="rect">
            <a:avLst/>
          </a:prstGeom>
          <a:noFill/>
          <a:ln/>
        </p:spPr>
        <p:txBody>
          <a:bodyPr wrap="square" lIns="0" tIns="0" rIns="0" bIns="0" rtlCol="0" anchor="ctr"/>
          <a:lstStyle/>
          <a:p>
            <a:pPr marL="0" indent="0">
              <a:buNone/>
            </a:pPr>
            <a:r>
              <a:rPr lang="en-US" sz="1600" b="1" dirty="0">
                <a:solidFill>
                  <a:srgbClr val="1B2433"/>
                </a:solidFill>
                <a:latin typeface="Calibri" pitchFamily="34" charset="0"/>
                <a:ea typeface="Calibri" pitchFamily="34" charset="-122"/>
                <a:cs typeface="Calibri" pitchFamily="34" charset="-120"/>
              </a:rPr>
              <a:t>Nothing is sent</a:t>
            </a:r>
            <a:endParaRPr lang="en-US" sz="1600" dirty="0"/>
          </a:p>
        </p:txBody>
      </p:sp>
      <p:sp>
        <p:nvSpPr>
          <p:cNvPr id="28" name="Text 23"/>
          <p:cNvSpPr txBox="1"/>
          <p:nvPr/>
        </p:nvSpPr>
        <p:spPr>
          <a:xfrm>
            <a:off x="8330184" y="4864608"/>
            <a:ext cx="3081528" cy="758952"/>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The system has no ability to press Send.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14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Human approval</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Final sending decision always remains with the human</a:t>
            </a:r>
            <a:endParaRPr lang="en-US" sz="1600" dirty="0"/>
          </a:p>
        </p:txBody>
      </p:sp>
      <p:sp>
        <p:nvSpPr>
          <p:cNvPr id="6" name="Shape 4"/>
          <p:cNvSpPr/>
          <p:nvPr/>
        </p:nvSpPr>
        <p:spPr>
          <a:xfrm>
            <a:off x="548640" y="1874520"/>
            <a:ext cx="1955536" cy="1005840"/>
          </a:xfrm>
          <a:prstGeom prst="roundRect">
            <a:avLst>
              <a:gd name="adj" fmla="val 10909"/>
            </a:avLst>
          </a:prstGeom>
          <a:solidFill>
            <a:srgbClr val="E2F3F0"/>
          </a:solidFill>
          <a:ln w="12700">
            <a:solidFill>
              <a:srgbClr val="0E9384"/>
            </a:solidFill>
            <a:prstDash val="solid"/>
          </a:ln>
        </p:spPr>
      </p:sp>
      <p:sp>
        <p:nvSpPr>
          <p:cNvPr id="7" name="Text 5"/>
          <p:cNvSpPr txBox="1"/>
          <p:nvPr/>
        </p:nvSpPr>
        <p:spPr>
          <a:xfrm>
            <a:off x="594360" y="1874520"/>
            <a:ext cx="1864096" cy="1005840"/>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AI Creates Draft</a:t>
            </a:r>
            <a:endParaRPr lang="en-US" sz="1600" dirty="0"/>
          </a:p>
        </p:txBody>
      </p:sp>
      <p:sp>
        <p:nvSpPr>
          <p:cNvPr id="8" name="Shape 6"/>
          <p:cNvSpPr/>
          <p:nvPr/>
        </p:nvSpPr>
        <p:spPr>
          <a:xfrm>
            <a:off x="2540752" y="2377440"/>
            <a:ext cx="256032" cy="914"/>
          </a:xfrm>
          <a:prstGeom prst="line">
            <a:avLst/>
          </a:prstGeom>
          <a:noFill/>
          <a:ln w="22225">
            <a:solidFill>
              <a:srgbClr val="5B6678"/>
            </a:solidFill>
            <a:prstDash val="solid"/>
            <a:tailEnd type="triangle"/>
          </a:ln>
        </p:spPr>
      </p:sp>
      <p:sp>
        <p:nvSpPr>
          <p:cNvPr id="9" name="Shape 7"/>
          <p:cNvSpPr/>
          <p:nvPr/>
        </p:nvSpPr>
        <p:spPr>
          <a:xfrm>
            <a:off x="2833360" y="1874520"/>
            <a:ext cx="1955536" cy="1005840"/>
          </a:xfrm>
          <a:prstGeom prst="roundRect">
            <a:avLst>
              <a:gd name="adj" fmla="val 10909"/>
            </a:avLst>
          </a:prstGeom>
          <a:solidFill>
            <a:srgbClr val="FCEFDF"/>
          </a:solidFill>
          <a:ln w="12700">
            <a:solidFill>
              <a:srgbClr val="D97F1E"/>
            </a:solidFill>
            <a:prstDash val="solid"/>
          </a:ln>
        </p:spPr>
      </p:sp>
      <p:sp>
        <p:nvSpPr>
          <p:cNvPr id="10" name="Text 8"/>
          <p:cNvSpPr txBox="1"/>
          <p:nvPr/>
        </p:nvSpPr>
        <p:spPr>
          <a:xfrm>
            <a:off x="2879080" y="1874520"/>
            <a:ext cx="1864096" cy="1005840"/>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Human Opens Draft</a:t>
            </a:r>
            <a:endParaRPr lang="en-US" sz="1600" dirty="0"/>
          </a:p>
        </p:txBody>
      </p:sp>
      <p:sp>
        <p:nvSpPr>
          <p:cNvPr id="11" name="Shape 9"/>
          <p:cNvSpPr/>
          <p:nvPr/>
        </p:nvSpPr>
        <p:spPr>
          <a:xfrm>
            <a:off x="4825472" y="2377440"/>
            <a:ext cx="256032" cy="914"/>
          </a:xfrm>
          <a:prstGeom prst="line">
            <a:avLst/>
          </a:prstGeom>
          <a:noFill/>
          <a:ln w="22225">
            <a:solidFill>
              <a:srgbClr val="5B6678"/>
            </a:solidFill>
            <a:prstDash val="solid"/>
            <a:tailEnd type="triangle"/>
          </a:ln>
        </p:spPr>
      </p:sp>
      <p:sp>
        <p:nvSpPr>
          <p:cNvPr id="12" name="Shape 10"/>
          <p:cNvSpPr/>
          <p:nvPr/>
        </p:nvSpPr>
        <p:spPr>
          <a:xfrm>
            <a:off x="5118080" y="1874520"/>
            <a:ext cx="1955536" cy="1005840"/>
          </a:xfrm>
          <a:prstGeom prst="roundRect">
            <a:avLst>
              <a:gd name="adj" fmla="val 10909"/>
            </a:avLst>
          </a:prstGeom>
          <a:solidFill>
            <a:srgbClr val="FCEFDF"/>
          </a:solidFill>
          <a:ln w="12700">
            <a:solidFill>
              <a:srgbClr val="D97F1E"/>
            </a:solidFill>
            <a:prstDash val="solid"/>
          </a:ln>
        </p:spPr>
      </p:sp>
      <p:sp>
        <p:nvSpPr>
          <p:cNvPr id="13" name="Text 11"/>
          <p:cNvSpPr txBox="1"/>
          <p:nvPr/>
        </p:nvSpPr>
        <p:spPr>
          <a:xfrm>
            <a:off x="5163800" y="1874520"/>
            <a:ext cx="1864096" cy="1005840"/>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Human Reviews</a:t>
            </a:r>
            <a:endParaRPr lang="en-US" sz="1600" dirty="0"/>
          </a:p>
        </p:txBody>
      </p:sp>
      <p:sp>
        <p:nvSpPr>
          <p:cNvPr id="14" name="Shape 12"/>
          <p:cNvSpPr/>
          <p:nvPr/>
        </p:nvSpPr>
        <p:spPr>
          <a:xfrm>
            <a:off x="7110192" y="2377440"/>
            <a:ext cx="256032" cy="914"/>
          </a:xfrm>
          <a:prstGeom prst="line">
            <a:avLst/>
          </a:prstGeom>
          <a:noFill/>
          <a:ln w="22225">
            <a:solidFill>
              <a:srgbClr val="5B6678"/>
            </a:solidFill>
            <a:prstDash val="solid"/>
            <a:tailEnd type="triangle"/>
          </a:ln>
        </p:spPr>
      </p:sp>
      <p:sp>
        <p:nvSpPr>
          <p:cNvPr id="15" name="Shape 13"/>
          <p:cNvSpPr/>
          <p:nvPr/>
        </p:nvSpPr>
        <p:spPr>
          <a:xfrm>
            <a:off x="7402800" y="1874520"/>
            <a:ext cx="1955536" cy="1005840"/>
          </a:xfrm>
          <a:prstGeom prst="roundRect">
            <a:avLst>
              <a:gd name="adj" fmla="val 10909"/>
            </a:avLst>
          </a:prstGeom>
          <a:solidFill>
            <a:srgbClr val="FCEFDF"/>
          </a:solidFill>
          <a:ln w="12700">
            <a:solidFill>
              <a:srgbClr val="D97F1E"/>
            </a:solidFill>
            <a:prstDash val="solid"/>
          </a:ln>
        </p:spPr>
      </p:sp>
      <p:sp>
        <p:nvSpPr>
          <p:cNvPr id="16" name="Text 14"/>
          <p:cNvSpPr txBox="1"/>
          <p:nvPr/>
        </p:nvSpPr>
        <p:spPr>
          <a:xfrm>
            <a:off x="7448520" y="1874520"/>
            <a:ext cx="1864096" cy="1005840"/>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Human Edits if Required</a:t>
            </a:r>
            <a:endParaRPr lang="en-US" sz="1600" dirty="0"/>
          </a:p>
        </p:txBody>
      </p:sp>
      <p:sp>
        <p:nvSpPr>
          <p:cNvPr id="17" name="Shape 15"/>
          <p:cNvSpPr/>
          <p:nvPr/>
        </p:nvSpPr>
        <p:spPr>
          <a:xfrm>
            <a:off x="9394911" y="2377440"/>
            <a:ext cx="256032" cy="914"/>
          </a:xfrm>
          <a:prstGeom prst="line">
            <a:avLst/>
          </a:prstGeom>
          <a:noFill/>
          <a:ln w="22225">
            <a:solidFill>
              <a:srgbClr val="5B6678"/>
            </a:solidFill>
            <a:prstDash val="solid"/>
            <a:tailEnd type="triangle"/>
          </a:ln>
        </p:spPr>
      </p:sp>
      <p:sp>
        <p:nvSpPr>
          <p:cNvPr id="18" name="Shape 16"/>
          <p:cNvSpPr/>
          <p:nvPr/>
        </p:nvSpPr>
        <p:spPr>
          <a:xfrm>
            <a:off x="9687519" y="1874520"/>
            <a:ext cx="1955536" cy="1005840"/>
          </a:xfrm>
          <a:prstGeom prst="roundRect">
            <a:avLst>
              <a:gd name="adj" fmla="val 10909"/>
            </a:avLst>
          </a:prstGeom>
          <a:solidFill>
            <a:srgbClr val="FCEFDF"/>
          </a:solidFill>
          <a:ln w="12700">
            <a:solidFill>
              <a:srgbClr val="D97F1E"/>
            </a:solidFill>
            <a:prstDash val="solid"/>
          </a:ln>
        </p:spPr>
      </p:sp>
      <p:sp>
        <p:nvSpPr>
          <p:cNvPr id="19" name="Text 17"/>
          <p:cNvSpPr txBox="1"/>
          <p:nvPr/>
        </p:nvSpPr>
        <p:spPr>
          <a:xfrm>
            <a:off x="9733239" y="1874520"/>
            <a:ext cx="1864096" cy="1005840"/>
          </a:xfrm>
          <a:prstGeom prst="rect">
            <a:avLst/>
          </a:prstGeom>
          <a:noFill/>
          <a:ln/>
        </p:spPr>
        <p:txBody>
          <a:bodyPr wrap="square" lIns="0" tIns="0" rIns="0" bIns="0" rtlCol="0" anchor="ctr"/>
          <a:lstStyle/>
          <a:p>
            <a:pPr marL="0" indent="0" algn="ctr">
              <a:buNone/>
            </a:pPr>
            <a:r>
              <a:rPr lang="en-US" sz="1600" b="1" dirty="0">
                <a:solidFill>
                  <a:srgbClr val="1B2433"/>
                </a:solidFill>
                <a:latin typeface="Calibri" pitchFamily="34" charset="0"/>
                <a:ea typeface="Calibri" pitchFamily="34" charset="-122"/>
                <a:cs typeface="Calibri" pitchFamily="34" charset="-120"/>
              </a:rPr>
              <a:t>Human Clicks Send</a:t>
            </a:r>
            <a:endParaRPr lang="en-US" sz="1600" dirty="0"/>
          </a:p>
        </p:txBody>
      </p:sp>
      <p:sp>
        <p:nvSpPr>
          <p:cNvPr id="20" name="Shape 18"/>
          <p:cNvSpPr/>
          <p:nvPr/>
        </p:nvSpPr>
        <p:spPr>
          <a:xfrm>
            <a:off x="548640" y="3383280"/>
            <a:ext cx="11091672" cy="2286000"/>
          </a:xfrm>
          <a:prstGeom prst="roundRect">
            <a:avLst>
              <a:gd name="adj" fmla="val 4800"/>
            </a:avLst>
          </a:prstGeom>
          <a:solidFill>
            <a:srgbClr val="FCEFDF"/>
          </a:solidFill>
          <a:ln w="12700">
            <a:solidFill>
              <a:srgbClr val="FCEFDF"/>
            </a:solidFill>
            <a:prstDash val="solid"/>
          </a:ln>
        </p:spPr>
      </p:sp>
      <p:sp>
        <p:nvSpPr>
          <p:cNvPr id="21" name="Shape 19"/>
          <p:cNvSpPr/>
          <p:nvPr/>
        </p:nvSpPr>
        <p:spPr>
          <a:xfrm>
            <a:off x="914400" y="3749040"/>
            <a:ext cx="1005840" cy="1005840"/>
          </a:xfrm>
          <a:prstGeom prst="ellipse">
            <a:avLst/>
          </a:prstGeom>
          <a:solidFill>
            <a:srgbClr val="D97F1E"/>
          </a:solidFill>
          <a:ln w="12700">
            <a:solidFill>
              <a:srgbClr val="D97F1E"/>
            </a:solidFill>
            <a:prstDash val="solid"/>
          </a:ln>
        </p:spPr>
      </p:sp>
      <p:pic>
        <p:nvPicPr>
          <p:cNvPr id="22" name="Image 0" descr="preencoded.png"/>
          <p:cNvPicPr>
            <a:picLocks noChangeAspect="1"/>
          </p:cNvPicPr>
          <p:nvPr/>
        </p:nvPicPr>
        <p:blipFill>
          <a:blip r:embed="rId3"/>
          <a:stretch>
            <a:fillRect/>
          </a:stretch>
        </p:blipFill>
        <p:spPr>
          <a:xfrm>
            <a:off x="1175918" y="4010558"/>
            <a:ext cx="482803" cy="482803"/>
          </a:xfrm>
          <a:prstGeom prst="rect">
            <a:avLst/>
          </a:prstGeom>
        </p:spPr>
      </p:pic>
      <p:sp>
        <p:nvSpPr>
          <p:cNvPr id="23" name="Text 20"/>
          <p:cNvSpPr txBox="1"/>
          <p:nvPr/>
        </p:nvSpPr>
        <p:spPr>
          <a:xfrm>
            <a:off x="2194560" y="3703320"/>
            <a:ext cx="9144000" cy="502920"/>
          </a:xfrm>
          <a:prstGeom prst="rect">
            <a:avLst/>
          </a:prstGeom>
          <a:noFill/>
          <a:ln/>
        </p:spPr>
        <p:txBody>
          <a:bodyPr wrap="square" lIns="0" tIns="0" rIns="0" bIns="0" rtlCol="0" anchor="ctr"/>
          <a:lstStyle/>
          <a:p>
            <a:pPr marL="0" indent="0">
              <a:buNone/>
            </a:pPr>
            <a:r>
              <a:rPr lang="en-US" sz="2400" b="1" dirty="0">
                <a:solidFill>
                  <a:srgbClr val="1B2433"/>
                </a:solidFill>
                <a:latin typeface="Calibri" pitchFamily="34" charset="0"/>
                <a:ea typeface="Calibri" pitchFamily="34" charset="-122"/>
                <a:cs typeface="Calibri" pitchFamily="34" charset="-120"/>
              </a:rPr>
              <a:t>A person is always in control</a:t>
            </a:r>
            <a:endParaRPr lang="en-US" sz="2400" dirty="0"/>
          </a:p>
        </p:txBody>
      </p:sp>
      <p:sp>
        <p:nvSpPr>
          <p:cNvPr id="24" name="Text 21"/>
          <p:cNvSpPr txBox="1"/>
          <p:nvPr/>
        </p:nvSpPr>
        <p:spPr>
          <a:xfrm>
            <a:off x="2194560" y="4251960"/>
            <a:ext cx="9235440" cy="1234440"/>
          </a:xfrm>
          <a:prstGeom prst="rect">
            <a:avLst/>
          </a:prstGeom>
          <a:noFill/>
          <a:ln/>
        </p:spPr>
        <p:txBody>
          <a:bodyPr wrap="square" lIns="0" tIns="0" rIns="0" bIns="0" rtlCol="0" anchor="ctr"/>
          <a:lstStyle/>
          <a:p>
            <a:pPr marL="0" indent="0">
              <a:spcAft>
                <a:spcPts val="400"/>
              </a:spcAft>
              <a:buNone/>
            </a:pPr>
            <a:r>
              <a:rPr lang="en-US" sz="1500" b="1" dirty="0">
                <a:solidFill>
                  <a:srgbClr val="5B6678"/>
                </a:solidFill>
                <a:latin typeface="Calibri" pitchFamily="34" charset="0"/>
                <a:ea typeface="Calibri" pitchFamily="34" charset="-122"/>
                <a:cs typeface="Calibri" pitchFamily="34" charset="-120"/>
              </a:rPr>
              <a:t>Approve</a:t>
            </a:r>
            <a:r>
              <a:rPr lang="en-US" sz="1500" dirty="0">
                <a:solidFill>
                  <a:srgbClr val="5B6678"/>
                </a:solidFill>
                <a:latin typeface="Calibri" pitchFamily="34" charset="0"/>
                <a:ea typeface="Calibri" pitchFamily="34" charset="-122"/>
                <a:cs typeface="Calibri" pitchFamily="34" charset="-120"/>
              </a:rPr>
              <a:t> — the draft is ready; the person then sends it from Gmail.</a:t>
            </a:r>
            <a:endParaRPr lang="en-US" sz="1500" dirty="0"/>
          </a:p>
          <a:p>
            <a:pPr marL="0" indent="0">
              <a:spcAft>
                <a:spcPts val="400"/>
              </a:spcAft>
              <a:buNone/>
            </a:pPr>
            <a:r>
              <a:rPr lang="en-US" sz="1500" b="1" dirty="0">
                <a:solidFill>
                  <a:srgbClr val="5B6678"/>
                </a:solidFill>
                <a:latin typeface="Calibri" pitchFamily="34" charset="0"/>
                <a:ea typeface="Calibri" pitchFamily="34" charset="-122"/>
                <a:cs typeface="Calibri" pitchFamily="34" charset="-120"/>
              </a:rPr>
              <a:t>Edit</a:t>
            </a:r>
            <a:r>
              <a:rPr lang="en-US" sz="1500" dirty="0">
                <a:solidFill>
                  <a:srgbClr val="5B6678"/>
                </a:solidFill>
                <a:latin typeface="Calibri" pitchFamily="34" charset="0"/>
                <a:ea typeface="Calibri" pitchFamily="34" charset="-122"/>
                <a:cs typeface="Calibri" pitchFamily="34" charset="-120"/>
              </a:rPr>
              <a:t> — changes are saved into the Gmail draft.</a:t>
            </a:r>
            <a:endParaRPr lang="en-US" sz="1500" dirty="0"/>
          </a:p>
          <a:p>
            <a:pPr marL="0" indent="0">
              <a:spcAft>
                <a:spcPts val="400"/>
              </a:spcAft>
              <a:buNone/>
            </a:pPr>
            <a:r>
              <a:rPr lang="en-US" sz="1500" b="1" dirty="0">
                <a:solidFill>
                  <a:srgbClr val="5B6678"/>
                </a:solidFill>
                <a:latin typeface="Calibri" pitchFamily="34" charset="0"/>
                <a:ea typeface="Calibri" pitchFamily="34" charset="-122"/>
                <a:cs typeface="Calibri" pitchFamily="34" charset="-120"/>
              </a:rPr>
              <a:t>Reject</a:t>
            </a:r>
            <a:r>
              <a:rPr lang="en-US" sz="1500" dirty="0">
                <a:solidFill>
                  <a:srgbClr val="5B6678"/>
                </a:solidFill>
                <a:latin typeface="Calibri" pitchFamily="34" charset="0"/>
                <a:ea typeface="Calibri" pitchFamily="34" charset="-122"/>
                <a:cs typeface="Calibri" pitchFamily="34" charset="-120"/>
              </a:rPr>
              <a:t> — the draft is removed; the person replies personally.</a:t>
            </a:r>
            <a:endParaRPr lang="en-US" sz="1500" dirty="0"/>
          </a:p>
        </p:txBody>
      </p:sp>
      <p:sp>
        <p:nvSpPr>
          <p:cNvPr id="25" name="Shape 22"/>
          <p:cNvSpPr/>
          <p:nvPr/>
        </p:nvSpPr>
        <p:spPr>
          <a:xfrm>
            <a:off x="548640" y="5897880"/>
            <a:ext cx="256032" cy="201168"/>
          </a:xfrm>
          <a:prstGeom prst="roundRect">
            <a:avLst>
              <a:gd name="adj" fmla="val 54545"/>
            </a:avLst>
          </a:prstGeom>
          <a:solidFill>
            <a:srgbClr val="E2F3F0"/>
          </a:solidFill>
          <a:ln w="12700">
            <a:solidFill>
              <a:srgbClr val="0E9384"/>
            </a:solidFill>
            <a:prstDash val="solid"/>
          </a:ln>
        </p:spPr>
      </p:sp>
      <p:sp>
        <p:nvSpPr>
          <p:cNvPr id="26" name="Text 23"/>
          <p:cNvSpPr txBox="1"/>
          <p:nvPr/>
        </p:nvSpPr>
        <p:spPr>
          <a:xfrm>
            <a:off x="896112" y="5861304"/>
            <a:ext cx="1463040" cy="274320"/>
          </a:xfrm>
          <a:prstGeom prst="rect">
            <a:avLst/>
          </a:prstGeom>
          <a:noFill/>
          <a:ln/>
        </p:spPr>
        <p:txBody>
          <a:bodyPr wrap="square" lIns="0" tIns="0" rIns="0" bIns="0" rtlCol="0" anchor="ctr"/>
          <a:lstStyle/>
          <a:p>
            <a:pPr marL="0" indent="0">
              <a:buNone/>
            </a:pPr>
            <a:r>
              <a:rPr lang="en-US" sz="1200" dirty="0">
                <a:solidFill>
                  <a:srgbClr val="5B6678"/>
                </a:solidFill>
                <a:latin typeface="Calibri" pitchFamily="34" charset="0"/>
                <a:ea typeface="Calibri" pitchFamily="34" charset="-122"/>
                <a:cs typeface="Calibri" pitchFamily="34" charset="-120"/>
              </a:rPr>
              <a:t>AI does this</a:t>
            </a:r>
            <a:endParaRPr lang="en-US" sz="1200" dirty="0"/>
          </a:p>
        </p:txBody>
      </p:sp>
      <p:sp>
        <p:nvSpPr>
          <p:cNvPr id="27" name="Shape 24"/>
          <p:cNvSpPr/>
          <p:nvPr/>
        </p:nvSpPr>
        <p:spPr>
          <a:xfrm>
            <a:off x="2377440" y="5897880"/>
            <a:ext cx="256032" cy="201168"/>
          </a:xfrm>
          <a:prstGeom prst="roundRect">
            <a:avLst>
              <a:gd name="adj" fmla="val 54545"/>
            </a:avLst>
          </a:prstGeom>
          <a:solidFill>
            <a:srgbClr val="FCEFDF"/>
          </a:solidFill>
          <a:ln w="12700">
            <a:solidFill>
              <a:srgbClr val="D97F1E"/>
            </a:solidFill>
            <a:prstDash val="solid"/>
          </a:ln>
        </p:spPr>
      </p:sp>
      <p:sp>
        <p:nvSpPr>
          <p:cNvPr id="28" name="Text 25"/>
          <p:cNvSpPr txBox="1"/>
          <p:nvPr/>
        </p:nvSpPr>
        <p:spPr>
          <a:xfrm>
            <a:off x="2724912" y="5861304"/>
            <a:ext cx="2011680" cy="274320"/>
          </a:xfrm>
          <a:prstGeom prst="rect">
            <a:avLst/>
          </a:prstGeom>
          <a:noFill/>
          <a:ln/>
        </p:spPr>
        <p:txBody>
          <a:bodyPr wrap="square" lIns="0" tIns="0" rIns="0" bIns="0" rtlCol="0" anchor="ctr"/>
          <a:lstStyle/>
          <a:p>
            <a:pPr marL="0" indent="0">
              <a:buNone/>
            </a:pPr>
            <a:r>
              <a:rPr lang="en-US" sz="1200" dirty="0">
                <a:solidFill>
                  <a:srgbClr val="5B6678"/>
                </a:solidFill>
                <a:latin typeface="Calibri" pitchFamily="34" charset="0"/>
                <a:ea typeface="Calibri" pitchFamily="34" charset="-122"/>
                <a:cs typeface="Calibri" pitchFamily="34" charset="-120"/>
              </a:rPr>
              <a:t>A person does this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18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Complete example, start to finish</a:t>
            </a:r>
            <a:endParaRPr lang="en-US" sz="3200" dirty="0"/>
          </a:p>
        </p:txBody>
      </p:sp>
      <p:sp>
        <p:nvSpPr>
          <p:cNvPr id="5" name="Shape 3"/>
          <p:cNvSpPr/>
          <p:nvPr/>
        </p:nvSpPr>
        <p:spPr>
          <a:xfrm>
            <a:off x="548640" y="1325880"/>
            <a:ext cx="11091672" cy="1005840"/>
          </a:xfrm>
          <a:prstGeom prst="roundRect">
            <a:avLst>
              <a:gd name="adj" fmla="val 10909"/>
            </a:avLst>
          </a:prstGeom>
          <a:solidFill>
            <a:srgbClr val="F4F7FA"/>
          </a:solidFill>
          <a:ln w="12700">
            <a:solidFill>
              <a:srgbClr val="CBD4DE"/>
            </a:solidFill>
            <a:prstDash val="solid"/>
          </a:ln>
        </p:spPr>
      </p:sp>
      <p:sp>
        <p:nvSpPr>
          <p:cNvPr id="6" name="Text 4"/>
          <p:cNvSpPr txBox="1"/>
          <p:nvPr/>
        </p:nvSpPr>
        <p:spPr>
          <a:xfrm>
            <a:off x="822960" y="1508760"/>
            <a:ext cx="10543032" cy="274320"/>
          </a:xfrm>
          <a:prstGeom prst="rect">
            <a:avLst/>
          </a:prstGeom>
          <a:noFill/>
          <a:ln/>
        </p:spPr>
        <p:txBody>
          <a:bodyPr wrap="square" lIns="0" tIns="0" rIns="0" bIns="0" rtlCol="0" anchor="ctr"/>
          <a:lstStyle/>
          <a:p>
            <a:pPr marL="0" indent="0">
              <a:buNone/>
            </a:pPr>
            <a:r>
              <a:rPr lang="en-US" sz="1200" b="1" kern="0" spc="100" dirty="0">
                <a:solidFill>
                  <a:srgbClr val="0E9384"/>
                </a:solidFill>
                <a:latin typeface="Calibri" pitchFamily="34" charset="0"/>
                <a:ea typeface="Calibri" pitchFamily="34" charset="-122"/>
                <a:cs typeface="Calibri" pitchFamily="34" charset="-120"/>
              </a:rPr>
              <a:t>CUSTOMER EMAIL</a:t>
            </a:r>
            <a:endParaRPr lang="en-US" sz="1200" dirty="0"/>
          </a:p>
        </p:txBody>
      </p:sp>
      <p:sp>
        <p:nvSpPr>
          <p:cNvPr id="7" name="Text 5"/>
          <p:cNvSpPr txBox="1"/>
          <p:nvPr/>
        </p:nvSpPr>
        <p:spPr>
          <a:xfrm>
            <a:off x="822960" y="1828800"/>
            <a:ext cx="10543032" cy="320040"/>
          </a:xfrm>
          <a:prstGeom prst="rect">
            <a:avLst/>
          </a:prstGeom>
          <a:noFill/>
          <a:ln/>
        </p:spPr>
        <p:txBody>
          <a:bodyPr wrap="square" lIns="0" tIns="0" rIns="0" bIns="0" rtlCol="0" anchor="t"/>
          <a:lstStyle/>
          <a:p>
            <a:pPr marL="0" indent="0">
              <a:buNone/>
            </a:pPr>
            <a:r>
              <a:rPr lang="en-US" sz="1800" i="1" dirty="0">
                <a:solidFill>
                  <a:srgbClr val="1B2433"/>
                </a:solidFill>
                <a:latin typeface="Calibri" pitchFamily="34" charset="0"/>
                <a:ea typeface="Calibri" pitchFamily="34" charset="-122"/>
                <a:cs typeface="Calibri" pitchFamily="34" charset="-120"/>
              </a:rPr>
              <a:t>“Hi Team, I forgot my password. How can I reset it?”</a:t>
            </a:r>
            <a:endParaRPr lang="en-US" sz="1800" dirty="0"/>
          </a:p>
        </p:txBody>
      </p:sp>
      <p:sp>
        <p:nvSpPr>
          <p:cNvPr id="8" name="Shape 6"/>
          <p:cNvSpPr/>
          <p:nvPr/>
        </p:nvSpPr>
        <p:spPr>
          <a:xfrm>
            <a:off x="548640" y="2743200"/>
            <a:ext cx="1955536" cy="960120"/>
          </a:xfrm>
          <a:prstGeom prst="roundRect">
            <a:avLst>
              <a:gd name="adj" fmla="val 11429"/>
            </a:avLst>
          </a:prstGeom>
          <a:solidFill>
            <a:srgbClr val="E2F3F0"/>
          </a:solidFill>
          <a:ln w="12700">
            <a:solidFill>
              <a:srgbClr val="0E9384"/>
            </a:solidFill>
            <a:prstDash val="solid"/>
          </a:ln>
        </p:spPr>
      </p:sp>
      <p:sp>
        <p:nvSpPr>
          <p:cNvPr id="9" name="Text 7"/>
          <p:cNvSpPr txBox="1"/>
          <p:nvPr/>
        </p:nvSpPr>
        <p:spPr>
          <a:xfrm>
            <a:off x="594360" y="2743200"/>
            <a:ext cx="1864096" cy="960120"/>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Gmail</a:t>
            </a:r>
            <a:endParaRPr lang="en-US" sz="1400" dirty="0"/>
          </a:p>
        </p:txBody>
      </p:sp>
      <p:sp>
        <p:nvSpPr>
          <p:cNvPr id="10" name="Shape 8"/>
          <p:cNvSpPr/>
          <p:nvPr/>
        </p:nvSpPr>
        <p:spPr>
          <a:xfrm>
            <a:off x="2540752" y="3223260"/>
            <a:ext cx="256032" cy="914"/>
          </a:xfrm>
          <a:prstGeom prst="line">
            <a:avLst/>
          </a:prstGeom>
          <a:noFill/>
          <a:ln w="22225">
            <a:solidFill>
              <a:srgbClr val="5B6678"/>
            </a:solidFill>
            <a:prstDash val="solid"/>
            <a:tailEnd type="triangle"/>
          </a:ln>
        </p:spPr>
      </p:sp>
      <p:sp>
        <p:nvSpPr>
          <p:cNvPr id="11" name="Shape 9"/>
          <p:cNvSpPr/>
          <p:nvPr/>
        </p:nvSpPr>
        <p:spPr>
          <a:xfrm>
            <a:off x="2833360" y="2743200"/>
            <a:ext cx="1955536" cy="960120"/>
          </a:xfrm>
          <a:prstGeom prst="roundRect">
            <a:avLst>
              <a:gd name="adj" fmla="val 11429"/>
            </a:avLst>
          </a:prstGeom>
          <a:solidFill>
            <a:srgbClr val="E2F3F0"/>
          </a:solidFill>
          <a:ln w="12700">
            <a:solidFill>
              <a:srgbClr val="0E9384"/>
            </a:solidFill>
            <a:prstDash val="solid"/>
          </a:ln>
        </p:spPr>
      </p:sp>
      <p:sp>
        <p:nvSpPr>
          <p:cNvPr id="12" name="Text 10"/>
          <p:cNvSpPr txBox="1"/>
          <p:nvPr/>
        </p:nvSpPr>
        <p:spPr>
          <a:xfrm>
            <a:off x="2879080" y="2743200"/>
            <a:ext cx="1864096" cy="960120"/>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Email Understanding</a:t>
            </a:r>
            <a:endParaRPr lang="en-US" sz="1400" dirty="0"/>
          </a:p>
        </p:txBody>
      </p:sp>
      <p:sp>
        <p:nvSpPr>
          <p:cNvPr id="13" name="Shape 11"/>
          <p:cNvSpPr/>
          <p:nvPr/>
        </p:nvSpPr>
        <p:spPr>
          <a:xfrm>
            <a:off x="4825472" y="3223260"/>
            <a:ext cx="256032" cy="914"/>
          </a:xfrm>
          <a:prstGeom prst="line">
            <a:avLst/>
          </a:prstGeom>
          <a:noFill/>
          <a:ln w="22225">
            <a:solidFill>
              <a:srgbClr val="5B6678"/>
            </a:solidFill>
            <a:prstDash val="solid"/>
            <a:tailEnd type="triangle"/>
          </a:ln>
        </p:spPr>
      </p:sp>
      <p:sp>
        <p:nvSpPr>
          <p:cNvPr id="14" name="Shape 12"/>
          <p:cNvSpPr/>
          <p:nvPr/>
        </p:nvSpPr>
        <p:spPr>
          <a:xfrm>
            <a:off x="5118080" y="2743200"/>
            <a:ext cx="1955536" cy="960120"/>
          </a:xfrm>
          <a:prstGeom prst="roundRect">
            <a:avLst>
              <a:gd name="adj" fmla="val 11429"/>
            </a:avLst>
          </a:prstGeom>
          <a:solidFill>
            <a:srgbClr val="E2F3F0"/>
          </a:solidFill>
          <a:ln w="12700">
            <a:solidFill>
              <a:srgbClr val="0E9384"/>
            </a:solidFill>
            <a:prstDash val="solid"/>
          </a:ln>
        </p:spPr>
      </p:sp>
      <p:sp>
        <p:nvSpPr>
          <p:cNvPr id="15" name="Text 13"/>
          <p:cNvSpPr txBox="1"/>
          <p:nvPr/>
        </p:nvSpPr>
        <p:spPr>
          <a:xfrm>
            <a:off x="5163800" y="2743200"/>
            <a:ext cx="1864096" cy="960120"/>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Question: How can I reset my password?</a:t>
            </a:r>
            <a:endParaRPr lang="en-US" sz="1400" dirty="0"/>
          </a:p>
        </p:txBody>
      </p:sp>
      <p:sp>
        <p:nvSpPr>
          <p:cNvPr id="16" name="Shape 14"/>
          <p:cNvSpPr/>
          <p:nvPr/>
        </p:nvSpPr>
        <p:spPr>
          <a:xfrm>
            <a:off x="7110192" y="3223260"/>
            <a:ext cx="256032" cy="914"/>
          </a:xfrm>
          <a:prstGeom prst="line">
            <a:avLst/>
          </a:prstGeom>
          <a:noFill/>
          <a:ln w="22225">
            <a:solidFill>
              <a:srgbClr val="5B6678"/>
            </a:solidFill>
            <a:prstDash val="solid"/>
            <a:tailEnd type="triangle"/>
          </a:ln>
        </p:spPr>
      </p:sp>
      <p:sp>
        <p:nvSpPr>
          <p:cNvPr id="17" name="Shape 15"/>
          <p:cNvSpPr/>
          <p:nvPr/>
        </p:nvSpPr>
        <p:spPr>
          <a:xfrm>
            <a:off x="7402800" y="2743200"/>
            <a:ext cx="1955536" cy="960120"/>
          </a:xfrm>
          <a:prstGeom prst="roundRect">
            <a:avLst>
              <a:gd name="adj" fmla="val 11429"/>
            </a:avLst>
          </a:prstGeom>
          <a:solidFill>
            <a:srgbClr val="E2F3F0"/>
          </a:solidFill>
          <a:ln w="12700">
            <a:solidFill>
              <a:srgbClr val="0E9384"/>
            </a:solidFill>
            <a:prstDash val="solid"/>
          </a:ln>
        </p:spPr>
      </p:sp>
      <p:sp>
        <p:nvSpPr>
          <p:cNvPr id="18" name="Text 16"/>
          <p:cNvSpPr txBox="1"/>
          <p:nvPr/>
        </p:nvSpPr>
        <p:spPr>
          <a:xfrm>
            <a:off x="7448520" y="2743200"/>
            <a:ext cx="1864096" cy="960120"/>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Knowledge Search</a:t>
            </a:r>
            <a:endParaRPr lang="en-US" sz="1400" dirty="0"/>
          </a:p>
        </p:txBody>
      </p:sp>
      <p:sp>
        <p:nvSpPr>
          <p:cNvPr id="19" name="Shape 17"/>
          <p:cNvSpPr/>
          <p:nvPr/>
        </p:nvSpPr>
        <p:spPr>
          <a:xfrm>
            <a:off x="9394911" y="3223260"/>
            <a:ext cx="256032" cy="914"/>
          </a:xfrm>
          <a:prstGeom prst="line">
            <a:avLst/>
          </a:prstGeom>
          <a:noFill/>
          <a:ln w="22225">
            <a:solidFill>
              <a:srgbClr val="5B6678"/>
            </a:solidFill>
            <a:prstDash val="solid"/>
            <a:tailEnd type="triangle"/>
          </a:ln>
        </p:spPr>
      </p:sp>
      <p:sp>
        <p:nvSpPr>
          <p:cNvPr id="20" name="Shape 18"/>
          <p:cNvSpPr/>
          <p:nvPr/>
        </p:nvSpPr>
        <p:spPr>
          <a:xfrm>
            <a:off x="9687519" y="2743200"/>
            <a:ext cx="1955536" cy="960120"/>
          </a:xfrm>
          <a:prstGeom prst="roundRect">
            <a:avLst>
              <a:gd name="adj" fmla="val 11429"/>
            </a:avLst>
          </a:prstGeom>
          <a:solidFill>
            <a:srgbClr val="E2F3F0"/>
          </a:solidFill>
          <a:ln w="12700">
            <a:solidFill>
              <a:srgbClr val="0E9384"/>
            </a:solidFill>
            <a:prstDash val="solid"/>
          </a:ln>
        </p:spPr>
      </p:sp>
      <p:sp>
        <p:nvSpPr>
          <p:cNvPr id="21" name="Text 19"/>
          <p:cNvSpPr txBox="1"/>
          <p:nvPr/>
        </p:nvSpPr>
        <p:spPr>
          <a:xfrm>
            <a:off x="9733239" y="2743200"/>
            <a:ext cx="1864096" cy="960120"/>
          </a:xfrm>
          <a:prstGeom prst="rect">
            <a:avLst/>
          </a:prstGeom>
          <a:noFill/>
          <a:ln/>
        </p:spPr>
        <p:txBody>
          <a:bodyPr wrap="square" lIns="0" tIns="0" rIns="0" bIns="0" rtlCol="0" anchor="ctr"/>
          <a:lstStyle/>
          <a:p>
            <a:pPr marL="0" indent="0" algn="ctr">
              <a:buNone/>
            </a:pPr>
            <a:r>
              <a:rPr lang="en-US" sz="1400" b="1" dirty="0">
                <a:solidFill>
                  <a:srgbClr val="1B2433"/>
                </a:solidFill>
                <a:latin typeface="Calibri" pitchFamily="34" charset="0"/>
                <a:ea typeface="Calibri" pitchFamily="34" charset="-122"/>
                <a:cs typeface="Calibri" pitchFamily="34" charset="-120"/>
              </a:rPr>
              <a:t>FAQ.pdf found</a:t>
            </a:r>
            <a:endParaRPr lang="en-US" sz="1400" dirty="0"/>
          </a:p>
        </p:txBody>
      </p:sp>
      <p:sp>
        <p:nvSpPr>
          <p:cNvPr id="22" name="Shape 20"/>
          <p:cNvSpPr/>
          <p:nvPr/>
        </p:nvSpPr>
        <p:spPr>
          <a:xfrm>
            <a:off x="10881360" y="3730752"/>
            <a:ext cx="914" cy="320040"/>
          </a:xfrm>
          <a:prstGeom prst="line">
            <a:avLst/>
          </a:prstGeom>
          <a:noFill/>
          <a:ln w="22225">
            <a:solidFill>
              <a:srgbClr val="5B6678"/>
            </a:solidFill>
            <a:prstDash val="solid"/>
          </a:ln>
        </p:spPr>
      </p:sp>
      <p:sp>
        <p:nvSpPr>
          <p:cNvPr id="23" name="Shape 21"/>
          <p:cNvSpPr/>
          <p:nvPr/>
        </p:nvSpPr>
        <p:spPr>
          <a:xfrm>
            <a:off x="1325880" y="4050792"/>
            <a:ext cx="9555480" cy="914"/>
          </a:xfrm>
          <a:prstGeom prst="line">
            <a:avLst/>
          </a:prstGeom>
          <a:noFill/>
          <a:ln w="22225">
            <a:solidFill>
              <a:srgbClr val="5B6678"/>
            </a:solidFill>
            <a:prstDash val="solid"/>
          </a:ln>
        </p:spPr>
      </p:sp>
      <p:sp>
        <p:nvSpPr>
          <p:cNvPr id="24" name="Shape 22"/>
          <p:cNvSpPr/>
          <p:nvPr/>
        </p:nvSpPr>
        <p:spPr>
          <a:xfrm>
            <a:off x="1325880" y="4050792"/>
            <a:ext cx="914" cy="274320"/>
          </a:xfrm>
          <a:prstGeom prst="line">
            <a:avLst/>
          </a:prstGeom>
          <a:noFill/>
          <a:ln w="22225">
            <a:solidFill>
              <a:srgbClr val="5B6678"/>
            </a:solidFill>
            <a:prstDash val="solid"/>
            <a:tailEnd type="triangle"/>
          </a:ln>
        </p:spPr>
      </p:sp>
      <p:sp>
        <p:nvSpPr>
          <p:cNvPr id="25" name="Shape 23"/>
          <p:cNvSpPr/>
          <p:nvPr/>
        </p:nvSpPr>
        <p:spPr>
          <a:xfrm>
            <a:off x="548640" y="4343400"/>
            <a:ext cx="2526030" cy="960120"/>
          </a:xfrm>
          <a:prstGeom prst="roundRect">
            <a:avLst>
              <a:gd name="adj" fmla="val 11429"/>
            </a:avLst>
          </a:prstGeom>
          <a:solidFill>
            <a:srgbClr val="E2F3F0"/>
          </a:solidFill>
          <a:ln w="12700">
            <a:solidFill>
              <a:srgbClr val="0E9384"/>
            </a:solidFill>
            <a:prstDash val="solid"/>
          </a:ln>
        </p:spPr>
      </p:sp>
      <p:sp>
        <p:nvSpPr>
          <p:cNvPr id="26" name="Text 24"/>
          <p:cNvSpPr txBox="1"/>
          <p:nvPr/>
        </p:nvSpPr>
        <p:spPr>
          <a:xfrm>
            <a:off x="594360" y="4343400"/>
            <a:ext cx="2434590" cy="96012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AI Generates Answer</a:t>
            </a:r>
            <a:endParaRPr lang="en-US" sz="1500" dirty="0"/>
          </a:p>
        </p:txBody>
      </p:sp>
      <p:sp>
        <p:nvSpPr>
          <p:cNvPr id="27" name="Shape 25"/>
          <p:cNvSpPr/>
          <p:nvPr/>
        </p:nvSpPr>
        <p:spPr>
          <a:xfrm>
            <a:off x="3111246" y="4823460"/>
            <a:ext cx="256032" cy="914"/>
          </a:xfrm>
          <a:prstGeom prst="line">
            <a:avLst/>
          </a:prstGeom>
          <a:noFill/>
          <a:ln w="22225">
            <a:solidFill>
              <a:srgbClr val="5B6678"/>
            </a:solidFill>
            <a:prstDash val="solid"/>
            <a:tailEnd type="triangle"/>
          </a:ln>
        </p:spPr>
      </p:sp>
      <p:sp>
        <p:nvSpPr>
          <p:cNvPr id="28" name="Shape 26"/>
          <p:cNvSpPr/>
          <p:nvPr/>
        </p:nvSpPr>
        <p:spPr>
          <a:xfrm>
            <a:off x="3403854" y="4343400"/>
            <a:ext cx="2526030" cy="960120"/>
          </a:xfrm>
          <a:prstGeom prst="roundRect">
            <a:avLst>
              <a:gd name="adj" fmla="val 11429"/>
            </a:avLst>
          </a:prstGeom>
          <a:solidFill>
            <a:srgbClr val="E2F3F0"/>
          </a:solidFill>
          <a:ln w="12700">
            <a:solidFill>
              <a:srgbClr val="0E9384"/>
            </a:solidFill>
            <a:prstDash val="solid"/>
          </a:ln>
        </p:spPr>
      </p:sp>
      <p:sp>
        <p:nvSpPr>
          <p:cNvPr id="29" name="Text 27"/>
          <p:cNvSpPr txBox="1"/>
          <p:nvPr/>
        </p:nvSpPr>
        <p:spPr>
          <a:xfrm>
            <a:off x="3449574" y="4343400"/>
            <a:ext cx="2434590" cy="96012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Gmail Draft</a:t>
            </a:r>
            <a:endParaRPr lang="en-US" sz="1500" dirty="0"/>
          </a:p>
        </p:txBody>
      </p:sp>
      <p:sp>
        <p:nvSpPr>
          <p:cNvPr id="30" name="Shape 28"/>
          <p:cNvSpPr/>
          <p:nvPr/>
        </p:nvSpPr>
        <p:spPr>
          <a:xfrm>
            <a:off x="5966460" y="4823460"/>
            <a:ext cx="256032" cy="914"/>
          </a:xfrm>
          <a:prstGeom prst="line">
            <a:avLst/>
          </a:prstGeom>
          <a:noFill/>
          <a:ln w="22225">
            <a:solidFill>
              <a:srgbClr val="5B6678"/>
            </a:solidFill>
            <a:prstDash val="solid"/>
            <a:tailEnd type="triangle"/>
          </a:ln>
        </p:spPr>
      </p:sp>
      <p:sp>
        <p:nvSpPr>
          <p:cNvPr id="31" name="Shape 29"/>
          <p:cNvSpPr/>
          <p:nvPr/>
        </p:nvSpPr>
        <p:spPr>
          <a:xfrm>
            <a:off x="6259068" y="4343400"/>
            <a:ext cx="2526030" cy="960120"/>
          </a:xfrm>
          <a:prstGeom prst="roundRect">
            <a:avLst>
              <a:gd name="adj" fmla="val 11429"/>
            </a:avLst>
          </a:prstGeom>
          <a:solidFill>
            <a:srgbClr val="FCEFDF"/>
          </a:solidFill>
          <a:ln w="12700">
            <a:solidFill>
              <a:srgbClr val="D97F1E"/>
            </a:solidFill>
            <a:prstDash val="solid"/>
          </a:ln>
        </p:spPr>
      </p:sp>
      <p:sp>
        <p:nvSpPr>
          <p:cNvPr id="32" name="Text 30"/>
          <p:cNvSpPr txBox="1"/>
          <p:nvPr/>
        </p:nvSpPr>
        <p:spPr>
          <a:xfrm>
            <a:off x="6304788" y="4343400"/>
            <a:ext cx="2434590" cy="96012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Human Reviews</a:t>
            </a:r>
            <a:endParaRPr lang="en-US" sz="1500" dirty="0"/>
          </a:p>
        </p:txBody>
      </p:sp>
      <p:sp>
        <p:nvSpPr>
          <p:cNvPr id="33" name="Shape 31"/>
          <p:cNvSpPr/>
          <p:nvPr/>
        </p:nvSpPr>
        <p:spPr>
          <a:xfrm>
            <a:off x="8821674" y="4823460"/>
            <a:ext cx="256032" cy="914"/>
          </a:xfrm>
          <a:prstGeom prst="line">
            <a:avLst/>
          </a:prstGeom>
          <a:noFill/>
          <a:ln w="22225">
            <a:solidFill>
              <a:srgbClr val="5B6678"/>
            </a:solidFill>
            <a:prstDash val="solid"/>
            <a:tailEnd type="triangle"/>
          </a:ln>
        </p:spPr>
      </p:sp>
      <p:sp>
        <p:nvSpPr>
          <p:cNvPr id="34" name="Shape 32"/>
          <p:cNvSpPr/>
          <p:nvPr/>
        </p:nvSpPr>
        <p:spPr>
          <a:xfrm>
            <a:off x="9114282" y="4343400"/>
            <a:ext cx="2526030" cy="960120"/>
          </a:xfrm>
          <a:prstGeom prst="roundRect">
            <a:avLst>
              <a:gd name="adj" fmla="val 11429"/>
            </a:avLst>
          </a:prstGeom>
          <a:solidFill>
            <a:srgbClr val="FCEFDF"/>
          </a:solidFill>
          <a:ln w="12700">
            <a:solidFill>
              <a:srgbClr val="D97F1E"/>
            </a:solidFill>
            <a:prstDash val="solid"/>
          </a:ln>
        </p:spPr>
      </p:sp>
      <p:sp>
        <p:nvSpPr>
          <p:cNvPr id="35" name="Text 33"/>
          <p:cNvSpPr txBox="1"/>
          <p:nvPr/>
        </p:nvSpPr>
        <p:spPr>
          <a:xfrm>
            <a:off x="9160002" y="4343400"/>
            <a:ext cx="2434590" cy="960120"/>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Human Sends</a:t>
            </a:r>
            <a:endParaRPr lang="en-US" sz="1500" dirty="0"/>
          </a:p>
        </p:txBody>
      </p:sp>
      <p:sp>
        <p:nvSpPr>
          <p:cNvPr id="36" name="Shape 34"/>
          <p:cNvSpPr/>
          <p:nvPr/>
        </p:nvSpPr>
        <p:spPr>
          <a:xfrm>
            <a:off x="548640" y="5760720"/>
            <a:ext cx="256032" cy="201168"/>
          </a:xfrm>
          <a:prstGeom prst="roundRect">
            <a:avLst>
              <a:gd name="adj" fmla="val 54545"/>
            </a:avLst>
          </a:prstGeom>
          <a:solidFill>
            <a:srgbClr val="E2F3F0"/>
          </a:solidFill>
          <a:ln w="12700">
            <a:solidFill>
              <a:srgbClr val="0E9384"/>
            </a:solidFill>
            <a:prstDash val="solid"/>
          </a:ln>
        </p:spPr>
      </p:sp>
      <p:sp>
        <p:nvSpPr>
          <p:cNvPr id="37" name="Text 35"/>
          <p:cNvSpPr txBox="1"/>
          <p:nvPr/>
        </p:nvSpPr>
        <p:spPr>
          <a:xfrm>
            <a:off x="896112" y="5724144"/>
            <a:ext cx="1463040" cy="274320"/>
          </a:xfrm>
          <a:prstGeom prst="rect">
            <a:avLst/>
          </a:prstGeom>
          <a:noFill/>
          <a:ln/>
        </p:spPr>
        <p:txBody>
          <a:bodyPr wrap="square" lIns="0" tIns="0" rIns="0" bIns="0" rtlCol="0" anchor="ctr"/>
          <a:lstStyle/>
          <a:p>
            <a:pPr marL="0" indent="0">
              <a:buNone/>
            </a:pPr>
            <a:r>
              <a:rPr lang="en-US" sz="1200" dirty="0">
                <a:solidFill>
                  <a:srgbClr val="5B6678"/>
                </a:solidFill>
                <a:latin typeface="Calibri" pitchFamily="34" charset="0"/>
                <a:ea typeface="Calibri" pitchFamily="34" charset="-122"/>
                <a:cs typeface="Calibri" pitchFamily="34" charset="-120"/>
              </a:rPr>
              <a:t>AI does this</a:t>
            </a:r>
            <a:endParaRPr lang="en-US" sz="1200" dirty="0"/>
          </a:p>
        </p:txBody>
      </p:sp>
      <p:sp>
        <p:nvSpPr>
          <p:cNvPr id="38" name="Shape 36"/>
          <p:cNvSpPr/>
          <p:nvPr/>
        </p:nvSpPr>
        <p:spPr>
          <a:xfrm>
            <a:off x="2377440" y="5760720"/>
            <a:ext cx="256032" cy="201168"/>
          </a:xfrm>
          <a:prstGeom prst="roundRect">
            <a:avLst>
              <a:gd name="adj" fmla="val 54545"/>
            </a:avLst>
          </a:prstGeom>
          <a:solidFill>
            <a:srgbClr val="FCEFDF"/>
          </a:solidFill>
          <a:ln w="12700">
            <a:solidFill>
              <a:srgbClr val="D97F1E"/>
            </a:solidFill>
            <a:prstDash val="solid"/>
          </a:ln>
        </p:spPr>
      </p:sp>
      <p:sp>
        <p:nvSpPr>
          <p:cNvPr id="39" name="Text 37"/>
          <p:cNvSpPr txBox="1"/>
          <p:nvPr/>
        </p:nvSpPr>
        <p:spPr>
          <a:xfrm>
            <a:off x="2724912" y="5724144"/>
            <a:ext cx="2011680" cy="274320"/>
          </a:xfrm>
          <a:prstGeom prst="rect">
            <a:avLst/>
          </a:prstGeom>
          <a:noFill/>
          <a:ln/>
        </p:spPr>
        <p:txBody>
          <a:bodyPr wrap="square" lIns="0" tIns="0" rIns="0" bIns="0" rtlCol="0" anchor="ctr"/>
          <a:lstStyle/>
          <a:p>
            <a:pPr marL="0" indent="0">
              <a:buNone/>
            </a:pPr>
            <a:r>
              <a:rPr lang="en-US" sz="1200" dirty="0">
                <a:solidFill>
                  <a:srgbClr val="5B6678"/>
                </a:solidFill>
                <a:latin typeface="Calibri" pitchFamily="34" charset="0"/>
                <a:ea typeface="Calibri" pitchFamily="34" charset="-122"/>
                <a:cs typeface="Calibri" pitchFamily="34" charset="-120"/>
              </a:rPr>
              <a:t>A person does this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19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Technology architecture</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Simple layers, each with one job</a:t>
            </a:r>
            <a:endParaRPr lang="en-US" sz="1600" dirty="0"/>
          </a:p>
        </p:txBody>
      </p:sp>
      <p:sp>
        <p:nvSpPr>
          <p:cNvPr id="6" name="Shape 4"/>
          <p:cNvSpPr/>
          <p:nvPr/>
        </p:nvSpPr>
        <p:spPr>
          <a:xfrm>
            <a:off x="548640" y="1645920"/>
            <a:ext cx="6492240" cy="603504"/>
          </a:xfrm>
          <a:prstGeom prst="roundRect">
            <a:avLst>
              <a:gd name="adj" fmla="val 18182"/>
            </a:avLst>
          </a:prstGeom>
          <a:solidFill>
            <a:srgbClr val="E2F3F0"/>
          </a:solidFill>
          <a:ln w="12700">
            <a:solidFill>
              <a:srgbClr val="E2F3F0"/>
            </a:solidFill>
            <a:prstDash val="solid"/>
          </a:ln>
        </p:spPr>
      </p:sp>
      <p:sp>
        <p:nvSpPr>
          <p:cNvPr id="7" name="Shape 5"/>
          <p:cNvSpPr/>
          <p:nvPr/>
        </p:nvSpPr>
        <p:spPr>
          <a:xfrm>
            <a:off x="658368" y="1719072"/>
            <a:ext cx="457200" cy="457200"/>
          </a:xfrm>
          <a:prstGeom prst="ellipse">
            <a:avLst/>
          </a:prstGeom>
          <a:solidFill>
            <a:srgbClr val="0E9384"/>
          </a:solidFill>
          <a:ln w="12700">
            <a:solidFill>
              <a:srgbClr val="0E9384"/>
            </a:solidFill>
            <a:prstDash val="solid"/>
          </a:ln>
        </p:spPr>
      </p:sp>
      <p:pic>
        <p:nvPicPr>
          <p:cNvPr id="8" name="Image 0" descr="preencoded.png"/>
          <p:cNvPicPr>
            <a:picLocks noChangeAspect="1"/>
          </p:cNvPicPr>
          <p:nvPr/>
        </p:nvPicPr>
        <p:blipFill>
          <a:blip r:embed="rId3"/>
          <a:stretch>
            <a:fillRect/>
          </a:stretch>
        </p:blipFill>
        <p:spPr>
          <a:xfrm>
            <a:off x="777240" y="1837944"/>
            <a:ext cx="219456" cy="219456"/>
          </a:xfrm>
          <a:prstGeom prst="rect">
            <a:avLst/>
          </a:prstGeom>
        </p:spPr>
      </p:pic>
      <p:sp>
        <p:nvSpPr>
          <p:cNvPr id="9" name="Text 6"/>
          <p:cNvSpPr txBox="1"/>
          <p:nvPr/>
        </p:nvSpPr>
        <p:spPr>
          <a:xfrm>
            <a:off x="1280160" y="1645920"/>
            <a:ext cx="2103120" cy="603504"/>
          </a:xfrm>
          <a:prstGeom prst="rect">
            <a:avLst/>
          </a:prstGeom>
          <a:noFill/>
          <a:ln/>
        </p:spPr>
        <p:txBody>
          <a:bodyPr wrap="square" lIns="0" tIns="0" rIns="0" bIns="0" rtlCol="0" anchor="ctr"/>
          <a:lstStyle/>
          <a:p>
            <a:pPr marL="0" indent="0">
              <a:buNone/>
            </a:pPr>
            <a:r>
              <a:rPr lang="en-US" sz="1600" b="1" dirty="0">
                <a:solidFill>
                  <a:srgbClr val="1B2433"/>
                </a:solidFill>
                <a:latin typeface="Calibri" pitchFamily="34" charset="0"/>
                <a:ea typeface="Calibri" pitchFamily="34" charset="-122"/>
                <a:cs typeface="Calibri" pitchFamily="34" charset="-120"/>
              </a:rPr>
              <a:t>Frontend</a:t>
            </a:r>
            <a:endParaRPr lang="en-US" sz="1600" dirty="0"/>
          </a:p>
        </p:txBody>
      </p:sp>
      <p:sp>
        <p:nvSpPr>
          <p:cNvPr id="10" name="Text 7"/>
          <p:cNvSpPr txBox="1"/>
          <p:nvPr/>
        </p:nvSpPr>
        <p:spPr>
          <a:xfrm>
            <a:off x="3383280" y="1645920"/>
            <a:ext cx="3566160" cy="603504"/>
          </a:xfrm>
          <a:prstGeom prst="rect">
            <a:avLst/>
          </a:prstGeom>
          <a:noFill/>
          <a:ln/>
        </p:spPr>
        <p:txBody>
          <a:bodyPr wrap="square" lIns="0" tIns="0" rIns="0" bIns="0" rtlCol="0" anchor="ctr"/>
          <a:lstStyle/>
          <a:p>
            <a:pPr marL="0" indent="0">
              <a:buNone/>
            </a:pPr>
            <a:r>
              <a:rPr lang="en-US" sz="1300" dirty="0">
                <a:solidFill>
                  <a:srgbClr val="5B6678"/>
                </a:solidFill>
                <a:latin typeface="Calibri" pitchFamily="34" charset="0"/>
                <a:ea typeface="Calibri" pitchFamily="34" charset="-122"/>
                <a:cs typeface="Calibri" pitchFamily="34" charset="-120"/>
              </a:rPr>
              <a:t>The web screens people use</a:t>
            </a:r>
            <a:endParaRPr lang="en-US" sz="1300" dirty="0"/>
          </a:p>
        </p:txBody>
      </p:sp>
      <p:sp>
        <p:nvSpPr>
          <p:cNvPr id="11" name="Text 8"/>
          <p:cNvSpPr txBox="1"/>
          <p:nvPr/>
        </p:nvSpPr>
        <p:spPr>
          <a:xfrm>
            <a:off x="7269480" y="1645920"/>
            <a:ext cx="4389120" cy="603504"/>
          </a:xfrm>
          <a:prstGeom prst="rect">
            <a:avLst/>
          </a:prstGeom>
          <a:noFill/>
          <a:ln/>
        </p:spPr>
        <p:txBody>
          <a:bodyPr wrap="square" lIns="0" tIns="0" rIns="0" bIns="0" rtlCol="0" anchor="ctr"/>
          <a:lstStyle/>
          <a:p>
            <a:pPr marL="0" indent="0">
              <a:buNone/>
            </a:pPr>
            <a:r>
              <a:rPr lang="en-US" sz="1300" b="1" dirty="0">
                <a:solidFill>
                  <a:srgbClr val="1D3357"/>
                </a:solidFill>
                <a:latin typeface="Calibri" pitchFamily="34" charset="0"/>
                <a:ea typeface="Calibri" pitchFamily="34" charset="-122"/>
                <a:cs typeface="Calibri" pitchFamily="34" charset="-120"/>
              </a:rPr>
              <a:t>Web app</a:t>
            </a:r>
            <a:endParaRPr lang="en-US" sz="1300" dirty="0"/>
          </a:p>
        </p:txBody>
      </p:sp>
      <p:sp>
        <p:nvSpPr>
          <p:cNvPr id="12" name="Shape 9"/>
          <p:cNvSpPr/>
          <p:nvPr/>
        </p:nvSpPr>
        <p:spPr>
          <a:xfrm>
            <a:off x="886968" y="2258568"/>
            <a:ext cx="914" cy="128016"/>
          </a:xfrm>
          <a:prstGeom prst="line">
            <a:avLst/>
          </a:prstGeom>
          <a:noFill/>
          <a:ln w="22225">
            <a:solidFill>
              <a:srgbClr val="0E9384"/>
            </a:solidFill>
            <a:prstDash val="solid"/>
            <a:tailEnd type="triangle"/>
          </a:ln>
        </p:spPr>
      </p:sp>
      <p:sp>
        <p:nvSpPr>
          <p:cNvPr id="13" name="Shape 10"/>
          <p:cNvSpPr/>
          <p:nvPr/>
        </p:nvSpPr>
        <p:spPr>
          <a:xfrm>
            <a:off x="548640" y="2395728"/>
            <a:ext cx="6492240" cy="603504"/>
          </a:xfrm>
          <a:prstGeom prst="roundRect">
            <a:avLst>
              <a:gd name="adj" fmla="val 18182"/>
            </a:avLst>
          </a:prstGeom>
          <a:solidFill>
            <a:srgbClr val="F4F7FA"/>
          </a:solidFill>
          <a:ln w="12700">
            <a:solidFill>
              <a:srgbClr val="F4F7FA"/>
            </a:solidFill>
            <a:prstDash val="solid"/>
          </a:ln>
        </p:spPr>
      </p:sp>
      <p:sp>
        <p:nvSpPr>
          <p:cNvPr id="14" name="Shape 11"/>
          <p:cNvSpPr/>
          <p:nvPr/>
        </p:nvSpPr>
        <p:spPr>
          <a:xfrm>
            <a:off x="658368" y="2468880"/>
            <a:ext cx="457200" cy="457200"/>
          </a:xfrm>
          <a:prstGeom prst="ellipse">
            <a:avLst/>
          </a:prstGeom>
          <a:solidFill>
            <a:srgbClr val="0E9384"/>
          </a:solidFill>
          <a:ln w="12700">
            <a:solidFill>
              <a:srgbClr val="0E9384"/>
            </a:solidFill>
            <a:prstDash val="solid"/>
          </a:ln>
        </p:spPr>
      </p:sp>
      <p:pic>
        <p:nvPicPr>
          <p:cNvPr id="15" name="Image 1" descr="preencoded.png"/>
          <p:cNvPicPr>
            <a:picLocks noChangeAspect="1"/>
          </p:cNvPicPr>
          <p:nvPr/>
        </p:nvPicPr>
        <p:blipFill>
          <a:blip r:embed="rId4"/>
          <a:stretch>
            <a:fillRect/>
          </a:stretch>
        </p:blipFill>
        <p:spPr>
          <a:xfrm>
            <a:off x="777240" y="2587752"/>
            <a:ext cx="219456" cy="219456"/>
          </a:xfrm>
          <a:prstGeom prst="rect">
            <a:avLst/>
          </a:prstGeom>
        </p:spPr>
      </p:pic>
      <p:sp>
        <p:nvSpPr>
          <p:cNvPr id="16" name="Text 12"/>
          <p:cNvSpPr txBox="1"/>
          <p:nvPr/>
        </p:nvSpPr>
        <p:spPr>
          <a:xfrm>
            <a:off x="1280160" y="2395728"/>
            <a:ext cx="2103120" cy="603504"/>
          </a:xfrm>
          <a:prstGeom prst="rect">
            <a:avLst/>
          </a:prstGeom>
          <a:noFill/>
          <a:ln/>
        </p:spPr>
        <p:txBody>
          <a:bodyPr wrap="square" lIns="0" tIns="0" rIns="0" bIns="0" rtlCol="0" anchor="ctr"/>
          <a:lstStyle/>
          <a:p>
            <a:pPr marL="0" indent="0">
              <a:buNone/>
            </a:pPr>
            <a:r>
              <a:rPr lang="en-US" sz="1600" b="1" dirty="0">
                <a:solidFill>
                  <a:srgbClr val="1B2433"/>
                </a:solidFill>
                <a:latin typeface="Calibri" pitchFamily="34" charset="0"/>
                <a:ea typeface="Calibri" pitchFamily="34" charset="-122"/>
                <a:cs typeface="Calibri" pitchFamily="34" charset="-120"/>
              </a:rPr>
              <a:t>Backend API</a:t>
            </a:r>
            <a:endParaRPr lang="en-US" sz="1600" dirty="0"/>
          </a:p>
        </p:txBody>
      </p:sp>
      <p:sp>
        <p:nvSpPr>
          <p:cNvPr id="17" name="Text 13"/>
          <p:cNvSpPr txBox="1"/>
          <p:nvPr/>
        </p:nvSpPr>
        <p:spPr>
          <a:xfrm>
            <a:off x="3383280" y="2395728"/>
            <a:ext cx="3566160" cy="603504"/>
          </a:xfrm>
          <a:prstGeom prst="rect">
            <a:avLst/>
          </a:prstGeom>
          <a:noFill/>
          <a:ln/>
        </p:spPr>
        <p:txBody>
          <a:bodyPr wrap="square" lIns="0" tIns="0" rIns="0" bIns="0" rtlCol="0" anchor="ctr"/>
          <a:lstStyle/>
          <a:p>
            <a:pPr marL="0" indent="0">
              <a:buNone/>
            </a:pPr>
            <a:r>
              <a:rPr lang="en-US" sz="1300" dirty="0">
                <a:solidFill>
                  <a:srgbClr val="5B6678"/>
                </a:solidFill>
                <a:latin typeface="Calibri" pitchFamily="34" charset="0"/>
                <a:ea typeface="Calibri" pitchFamily="34" charset="-122"/>
                <a:cs typeface="Calibri" pitchFamily="34" charset="-120"/>
              </a:rPr>
              <a:t>Receives requests, keeps data safe</a:t>
            </a:r>
            <a:endParaRPr lang="en-US" sz="1300" dirty="0"/>
          </a:p>
        </p:txBody>
      </p:sp>
      <p:sp>
        <p:nvSpPr>
          <p:cNvPr id="18" name="Text 14"/>
          <p:cNvSpPr txBox="1"/>
          <p:nvPr/>
        </p:nvSpPr>
        <p:spPr>
          <a:xfrm>
            <a:off x="7269480" y="2395728"/>
            <a:ext cx="4389120" cy="603504"/>
          </a:xfrm>
          <a:prstGeom prst="rect">
            <a:avLst/>
          </a:prstGeom>
          <a:noFill/>
          <a:ln/>
        </p:spPr>
        <p:txBody>
          <a:bodyPr wrap="square" lIns="0" tIns="0" rIns="0" bIns="0" rtlCol="0" anchor="ctr"/>
          <a:lstStyle/>
          <a:p>
            <a:pPr marL="0" indent="0">
              <a:buNone/>
            </a:pPr>
            <a:r>
              <a:rPr lang="en-US" sz="1300" b="1" dirty="0">
                <a:solidFill>
                  <a:srgbClr val="1D3357"/>
                </a:solidFill>
                <a:latin typeface="Calibri" pitchFamily="34" charset="0"/>
                <a:ea typeface="Calibri" pitchFamily="34" charset="-122"/>
                <a:cs typeface="Calibri" pitchFamily="34" charset="-120"/>
              </a:rPr>
              <a:t>Python web server</a:t>
            </a:r>
            <a:endParaRPr lang="en-US" sz="1300" dirty="0"/>
          </a:p>
        </p:txBody>
      </p:sp>
      <p:sp>
        <p:nvSpPr>
          <p:cNvPr id="19" name="Shape 15"/>
          <p:cNvSpPr/>
          <p:nvPr/>
        </p:nvSpPr>
        <p:spPr>
          <a:xfrm>
            <a:off x="886968" y="3008376"/>
            <a:ext cx="914" cy="128016"/>
          </a:xfrm>
          <a:prstGeom prst="line">
            <a:avLst/>
          </a:prstGeom>
          <a:noFill/>
          <a:ln w="22225">
            <a:solidFill>
              <a:srgbClr val="0E9384"/>
            </a:solidFill>
            <a:prstDash val="solid"/>
            <a:tailEnd type="triangle"/>
          </a:ln>
        </p:spPr>
      </p:sp>
      <p:sp>
        <p:nvSpPr>
          <p:cNvPr id="20" name="Shape 16"/>
          <p:cNvSpPr/>
          <p:nvPr/>
        </p:nvSpPr>
        <p:spPr>
          <a:xfrm>
            <a:off x="548640" y="3145536"/>
            <a:ext cx="6492240" cy="603504"/>
          </a:xfrm>
          <a:prstGeom prst="roundRect">
            <a:avLst>
              <a:gd name="adj" fmla="val 18182"/>
            </a:avLst>
          </a:prstGeom>
          <a:solidFill>
            <a:srgbClr val="E2F3F0"/>
          </a:solidFill>
          <a:ln w="12700">
            <a:solidFill>
              <a:srgbClr val="E2F3F0"/>
            </a:solidFill>
            <a:prstDash val="solid"/>
          </a:ln>
        </p:spPr>
      </p:sp>
      <p:sp>
        <p:nvSpPr>
          <p:cNvPr id="21" name="Shape 17"/>
          <p:cNvSpPr/>
          <p:nvPr/>
        </p:nvSpPr>
        <p:spPr>
          <a:xfrm>
            <a:off x="658368" y="3218688"/>
            <a:ext cx="457200" cy="457200"/>
          </a:xfrm>
          <a:prstGeom prst="ellipse">
            <a:avLst/>
          </a:prstGeom>
          <a:solidFill>
            <a:srgbClr val="0E9384"/>
          </a:solidFill>
          <a:ln w="12700">
            <a:solidFill>
              <a:srgbClr val="0E9384"/>
            </a:solidFill>
            <a:prstDash val="solid"/>
          </a:ln>
        </p:spPr>
      </p:sp>
      <p:pic>
        <p:nvPicPr>
          <p:cNvPr id="22" name="Image 2" descr="preencoded.png"/>
          <p:cNvPicPr>
            <a:picLocks noChangeAspect="1"/>
          </p:cNvPicPr>
          <p:nvPr/>
        </p:nvPicPr>
        <p:blipFill>
          <a:blip r:embed="rId5"/>
          <a:stretch>
            <a:fillRect/>
          </a:stretch>
        </p:blipFill>
        <p:spPr>
          <a:xfrm>
            <a:off x="777240" y="3337560"/>
            <a:ext cx="219456" cy="219456"/>
          </a:xfrm>
          <a:prstGeom prst="rect">
            <a:avLst/>
          </a:prstGeom>
        </p:spPr>
      </p:pic>
      <p:sp>
        <p:nvSpPr>
          <p:cNvPr id="23" name="Text 18"/>
          <p:cNvSpPr txBox="1"/>
          <p:nvPr/>
        </p:nvSpPr>
        <p:spPr>
          <a:xfrm>
            <a:off x="1280160" y="3145536"/>
            <a:ext cx="2103120" cy="603504"/>
          </a:xfrm>
          <a:prstGeom prst="rect">
            <a:avLst/>
          </a:prstGeom>
          <a:noFill/>
          <a:ln/>
        </p:spPr>
        <p:txBody>
          <a:bodyPr wrap="square" lIns="0" tIns="0" rIns="0" bIns="0" rtlCol="0" anchor="ctr"/>
          <a:lstStyle/>
          <a:p>
            <a:pPr marL="0" indent="0">
              <a:buNone/>
            </a:pPr>
            <a:r>
              <a:rPr lang="en-US" sz="1600" b="1" dirty="0">
                <a:solidFill>
                  <a:srgbClr val="1B2433"/>
                </a:solidFill>
                <a:latin typeface="Calibri" pitchFamily="34" charset="0"/>
                <a:ea typeface="Calibri" pitchFamily="34" charset="-122"/>
                <a:cs typeface="Calibri" pitchFamily="34" charset="-120"/>
              </a:rPr>
              <a:t>Workflow</a:t>
            </a:r>
            <a:endParaRPr lang="en-US" sz="1600" dirty="0"/>
          </a:p>
        </p:txBody>
      </p:sp>
      <p:sp>
        <p:nvSpPr>
          <p:cNvPr id="24" name="Text 19"/>
          <p:cNvSpPr txBox="1"/>
          <p:nvPr/>
        </p:nvSpPr>
        <p:spPr>
          <a:xfrm>
            <a:off x="3383280" y="3145536"/>
            <a:ext cx="3566160" cy="603504"/>
          </a:xfrm>
          <a:prstGeom prst="rect">
            <a:avLst/>
          </a:prstGeom>
          <a:noFill/>
          <a:ln/>
        </p:spPr>
        <p:txBody>
          <a:bodyPr wrap="square" lIns="0" tIns="0" rIns="0" bIns="0" rtlCol="0" anchor="ctr"/>
          <a:lstStyle/>
          <a:p>
            <a:pPr marL="0" indent="0">
              <a:buNone/>
            </a:pPr>
            <a:r>
              <a:rPr lang="en-US" sz="1300" dirty="0">
                <a:solidFill>
                  <a:srgbClr val="5B6678"/>
                </a:solidFill>
                <a:latin typeface="Calibri" pitchFamily="34" charset="0"/>
                <a:ea typeface="Calibri" pitchFamily="34" charset="-122"/>
                <a:cs typeface="Calibri" pitchFamily="34" charset="-120"/>
              </a:rPr>
              <a:t>Runs the steps in the right order</a:t>
            </a:r>
            <a:endParaRPr lang="en-US" sz="1300" dirty="0"/>
          </a:p>
        </p:txBody>
      </p:sp>
      <p:sp>
        <p:nvSpPr>
          <p:cNvPr id="25" name="Text 20"/>
          <p:cNvSpPr txBox="1"/>
          <p:nvPr/>
        </p:nvSpPr>
        <p:spPr>
          <a:xfrm>
            <a:off x="7269480" y="3145536"/>
            <a:ext cx="4389120" cy="603504"/>
          </a:xfrm>
          <a:prstGeom prst="rect">
            <a:avLst/>
          </a:prstGeom>
          <a:noFill/>
          <a:ln/>
        </p:spPr>
        <p:txBody>
          <a:bodyPr wrap="square" lIns="0" tIns="0" rIns="0" bIns="0" rtlCol="0" anchor="ctr"/>
          <a:lstStyle/>
          <a:p>
            <a:pPr marL="0" indent="0">
              <a:buNone/>
            </a:pPr>
            <a:r>
              <a:rPr lang="en-US" sz="1300" b="1" dirty="0">
                <a:solidFill>
                  <a:srgbClr val="1D3357"/>
                </a:solidFill>
                <a:latin typeface="Calibri" pitchFamily="34" charset="0"/>
                <a:ea typeface="Calibri" pitchFamily="34" charset="-122"/>
                <a:cs typeface="Calibri" pitchFamily="34" charset="-120"/>
              </a:rPr>
              <a:t>LangGraph</a:t>
            </a:r>
            <a:endParaRPr lang="en-US" sz="1300" dirty="0"/>
          </a:p>
        </p:txBody>
      </p:sp>
      <p:sp>
        <p:nvSpPr>
          <p:cNvPr id="26" name="Shape 21"/>
          <p:cNvSpPr/>
          <p:nvPr/>
        </p:nvSpPr>
        <p:spPr>
          <a:xfrm>
            <a:off x="886968" y="3758184"/>
            <a:ext cx="914" cy="128016"/>
          </a:xfrm>
          <a:prstGeom prst="line">
            <a:avLst/>
          </a:prstGeom>
          <a:noFill/>
          <a:ln w="22225">
            <a:solidFill>
              <a:srgbClr val="0E9384"/>
            </a:solidFill>
            <a:prstDash val="solid"/>
            <a:tailEnd type="triangle"/>
          </a:ln>
        </p:spPr>
      </p:sp>
      <p:sp>
        <p:nvSpPr>
          <p:cNvPr id="27" name="Shape 22"/>
          <p:cNvSpPr/>
          <p:nvPr/>
        </p:nvSpPr>
        <p:spPr>
          <a:xfrm>
            <a:off x="548640" y="3895344"/>
            <a:ext cx="6492240" cy="603504"/>
          </a:xfrm>
          <a:prstGeom prst="roundRect">
            <a:avLst>
              <a:gd name="adj" fmla="val 18182"/>
            </a:avLst>
          </a:prstGeom>
          <a:solidFill>
            <a:srgbClr val="F4F7FA"/>
          </a:solidFill>
          <a:ln w="12700">
            <a:solidFill>
              <a:srgbClr val="F4F7FA"/>
            </a:solidFill>
            <a:prstDash val="solid"/>
          </a:ln>
        </p:spPr>
      </p:sp>
      <p:sp>
        <p:nvSpPr>
          <p:cNvPr id="28" name="Shape 23"/>
          <p:cNvSpPr/>
          <p:nvPr/>
        </p:nvSpPr>
        <p:spPr>
          <a:xfrm>
            <a:off x="658368" y="3968496"/>
            <a:ext cx="457200" cy="457200"/>
          </a:xfrm>
          <a:prstGeom prst="ellipse">
            <a:avLst/>
          </a:prstGeom>
          <a:solidFill>
            <a:srgbClr val="0E9384"/>
          </a:solidFill>
          <a:ln w="12700">
            <a:solidFill>
              <a:srgbClr val="0E9384"/>
            </a:solidFill>
            <a:prstDash val="solid"/>
          </a:ln>
        </p:spPr>
      </p:sp>
      <p:pic>
        <p:nvPicPr>
          <p:cNvPr id="29" name="Image 3" descr="preencoded.png"/>
          <p:cNvPicPr>
            <a:picLocks noChangeAspect="1"/>
          </p:cNvPicPr>
          <p:nvPr/>
        </p:nvPicPr>
        <p:blipFill>
          <a:blip r:embed="rId6"/>
          <a:stretch>
            <a:fillRect/>
          </a:stretch>
        </p:blipFill>
        <p:spPr>
          <a:xfrm>
            <a:off x="777240" y="4087368"/>
            <a:ext cx="219456" cy="219456"/>
          </a:xfrm>
          <a:prstGeom prst="rect">
            <a:avLst/>
          </a:prstGeom>
        </p:spPr>
      </p:pic>
      <p:sp>
        <p:nvSpPr>
          <p:cNvPr id="30" name="Text 24"/>
          <p:cNvSpPr txBox="1"/>
          <p:nvPr/>
        </p:nvSpPr>
        <p:spPr>
          <a:xfrm>
            <a:off x="1280160" y="3895344"/>
            <a:ext cx="2103120" cy="603504"/>
          </a:xfrm>
          <a:prstGeom prst="rect">
            <a:avLst/>
          </a:prstGeom>
          <a:noFill/>
          <a:ln/>
        </p:spPr>
        <p:txBody>
          <a:bodyPr wrap="square" lIns="0" tIns="0" rIns="0" bIns="0" rtlCol="0" anchor="ctr"/>
          <a:lstStyle/>
          <a:p>
            <a:pPr marL="0" indent="0">
              <a:buNone/>
            </a:pPr>
            <a:r>
              <a:rPr lang="en-US" sz="1600" b="1" dirty="0">
                <a:solidFill>
                  <a:srgbClr val="1B2433"/>
                </a:solidFill>
                <a:latin typeface="Calibri" pitchFamily="34" charset="0"/>
                <a:ea typeface="Calibri" pitchFamily="34" charset="-122"/>
                <a:cs typeface="Calibri" pitchFamily="34" charset="-120"/>
              </a:rPr>
              <a:t>Knowledge Base</a:t>
            </a:r>
            <a:endParaRPr lang="en-US" sz="1600" dirty="0"/>
          </a:p>
        </p:txBody>
      </p:sp>
      <p:sp>
        <p:nvSpPr>
          <p:cNvPr id="31" name="Text 25"/>
          <p:cNvSpPr txBox="1"/>
          <p:nvPr/>
        </p:nvSpPr>
        <p:spPr>
          <a:xfrm>
            <a:off x="3383280" y="3895344"/>
            <a:ext cx="3566160" cy="603504"/>
          </a:xfrm>
          <a:prstGeom prst="rect">
            <a:avLst/>
          </a:prstGeom>
          <a:noFill/>
          <a:ln/>
        </p:spPr>
        <p:txBody>
          <a:bodyPr wrap="square" lIns="0" tIns="0" rIns="0" bIns="0" rtlCol="0" anchor="ctr"/>
          <a:lstStyle/>
          <a:p>
            <a:pPr marL="0" indent="0">
              <a:buNone/>
            </a:pPr>
            <a:r>
              <a:rPr lang="en-US" sz="1300" dirty="0">
                <a:solidFill>
                  <a:srgbClr val="5B6678"/>
                </a:solidFill>
                <a:latin typeface="Calibri" pitchFamily="34" charset="0"/>
                <a:ea typeface="Calibri" pitchFamily="34" charset="-122"/>
                <a:cs typeface="Calibri" pitchFamily="34" charset="-120"/>
              </a:rPr>
              <a:t>Stores and searches the documents</a:t>
            </a:r>
            <a:endParaRPr lang="en-US" sz="1300" dirty="0"/>
          </a:p>
        </p:txBody>
      </p:sp>
      <p:sp>
        <p:nvSpPr>
          <p:cNvPr id="32" name="Text 26"/>
          <p:cNvSpPr txBox="1"/>
          <p:nvPr/>
        </p:nvSpPr>
        <p:spPr>
          <a:xfrm>
            <a:off x="7269480" y="3895344"/>
            <a:ext cx="4389120" cy="603504"/>
          </a:xfrm>
          <a:prstGeom prst="rect">
            <a:avLst/>
          </a:prstGeom>
          <a:noFill/>
          <a:ln/>
        </p:spPr>
        <p:txBody>
          <a:bodyPr wrap="square" lIns="0" tIns="0" rIns="0" bIns="0" rtlCol="0" anchor="ctr"/>
          <a:lstStyle/>
          <a:p>
            <a:pPr marL="0" indent="0">
              <a:buNone/>
            </a:pPr>
            <a:r>
              <a:rPr lang="en-US" sz="1300" b="1" dirty="0">
                <a:solidFill>
                  <a:srgbClr val="1D3357"/>
                </a:solidFill>
                <a:latin typeface="Calibri" pitchFamily="34" charset="0"/>
                <a:ea typeface="Calibri" pitchFamily="34" charset="-122"/>
                <a:cs typeface="Calibri" pitchFamily="34" charset="-120"/>
              </a:rPr>
              <a:t>LangChain • RAG • ChromaDB • Local embeddings</a:t>
            </a:r>
            <a:endParaRPr lang="en-US" sz="1300" dirty="0"/>
          </a:p>
        </p:txBody>
      </p:sp>
      <p:sp>
        <p:nvSpPr>
          <p:cNvPr id="33" name="Shape 27"/>
          <p:cNvSpPr/>
          <p:nvPr/>
        </p:nvSpPr>
        <p:spPr>
          <a:xfrm>
            <a:off x="886968" y="4507992"/>
            <a:ext cx="914" cy="128016"/>
          </a:xfrm>
          <a:prstGeom prst="line">
            <a:avLst/>
          </a:prstGeom>
          <a:noFill/>
          <a:ln w="22225">
            <a:solidFill>
              <a:srgbClr val="0E9384"/>
            </a:solidFill>
            <a:prstDash val="solid"/>
            <a:tailEnd type="triangle"/>
          </a:ln>
        </p:spPr>
      </p:sp>
      <p:sp>
        <p:nvSpPr>
          <p:cNvPr id="34" name="Shape 28"/>
          <p:cNvSpPr/>
          <p:nvPr/>
        </p:nvSpPr>
        <p:spPr>
          <a:xfrm>
            <a:off x="548640" y="4645152"/>
            <a:ext cx="6492240" cy="603504"/>
          </a:xfrm>
          <a:prstGeom prst="roundRect">
            <a:avLst>
              <a:gd name="adj" fmla="val 18182"/>
            </a:avLst>
          </a:prstGeom>
          <a:solidFill>
            <a:srgbClr val="E2F3F0"/>
          </a:solidFill>
          <a:ln w="12700">
            <a:solidFill>
              <a:srgbClr val="E2F3F0"/>
            </a:solidFill>
            <a:prstDash val="solid"/>
          </a:ln>
        </p:spPr>
      </p:sp>
      <p:sp>
        <p:nvSpPr>
          <p:cNvPr id="35" name="Shape 29"/>
          <p:cNvSpPr/>
          <p:nvPr/>
        </p:nvSpPr>
        <p:spPr>
          <a:xfrm>
            <a:off x="658368" y="4718304"/>
            <a:ext cx="457200" cy="457200"/>
          </a:xfrm>
          <a:prstGeom prst="ellipse">
            <a:avLst/>
          </a:prstGeom>
          <a:solidFill>
            <a:srgbClr val="0E9384"/>
          </a:solidFill>
          <a:ln w="12700">
            <a:solidFill>
              <a:srgbClr val="0E9384"/>
            </a:solidFill>
            <a:prstDash val="solid"/>
          </a:ln>
        </p:spPr>
      </p:sp>
      <p:pic>
        <p:nvPicPr>
          <p:cNvPr id="36" name="Image 4" descr="preencoded.png"/>
          <p:cNvPicPr>
            <a:picLocks noChangeAspect="1"/>
          </p:cNvPicPr>
          <p:nvPr/>
        </p:nvPicPr>
        <p:blipFill>
          <a:blip r:embed="rId7"/>
          <a:stretch>
            <a:fillRect/>
          </a:stretch>
        </p:blipFill>
        <p:spPr>
          <a:xfrm>
            <a:off x="777240" y="4837176"/>
            <a:ext cx="219456" cy="219456"/>
          </a:xfrm>
          <a:prstGeom prst="rect">
            <a:avLst/>
          </a:prstGeom>
        </p:spPr>
      </p:pic>
      <p:sp>
        <p:nvSpPr>
          <p:cNvPr id="37" name="Text 30"/>
          <p:cNvSpPr txBox="1"/>
          <p:nvPr/>
        </p:nvSpPr>
        <p:spPr>
          <a:xfrm>
            <a:off x="1280160" y="4645152"/>
            <a:ext cx="2103120" cy="603504"/>
          </a:xfrm>
          <a:prstGeom prst="rect">
            <a:avLst/>
          </a:prstGeom>
          <a:noFill/>
          <a:ln/>
        </p:spPr>
        <p:txBody>
          <a:bodyPr wrap="square" lIns="0" tIns="0" rIns="0" bIns="0" rtlCol="0" anchor="ctr"/>
          <a:lstStyle/>
          <a:p>
            <a:pPr marL="0" indent="0">
              <a:buNone/>
            </a:pPr>
            <a:r>
              <a:rPr lang="en-US" sz="1600" b="1" dirty="0">
                <a:solidFill>
                  <a:srgbClr val="1B2433"/>
                </a:solidFill>
                <a:latin typeface="Calibri" pitchFamily="34" charset="0"/>
                <a:ea typeface="Calibri" pitchFamily="34" charset="-122"/>
                <a:cs typeface="Calibri" pitchFamily="34" charset="-120"/>
              </a:rPr>
              <a:t>AI</a:t>
            </a:r>
            <a:endParaRPr lang="en-US" sz="1600" dirty="0"/>
          </a:p>
        </p:txBody>
      </p:sp>
      <p:sp>
        <p:nvSpPr>
          <p:cNvPr id="38" name="Text 31"/>
          <p:cNvSpPr txBox="1"/>
          <p:nvPr/>
        </p:nvSpPr>
        <p:spPr>
          <a:xfrm>
            <a:off x="3383280" y="4645152"/>
            <a:ext cx="3566160" cy="603504"/>
          </a:xfrm>
          <a:prstGeom prst="rect">
            <a:avLst/>
          </a:prstGeom>
          <a:noFill/>
          <a:ln/>
        </p:spPr>
        <p:txBody>
          <a:bodyPr wrap="square" lIns="0" tIns="0" rIns="0" bIns="0" rtlCol="0" anchor="ctr"/>
          <a:lstStyle/>
          <a:p>
            <a:pPr marL="0" indent="0">
              <a:buNone/>
            </a:pPr>
            <a:r>
              <a:rPr lang="en-US" sz="1300" dirty="0">
                <a:solidFill>
                  <a:srgbClr val="5B6678"/>
                </a:solidFill>
                <a:latin typeface="Calibri" pitchFamily="34" charset="0"/>
                <a:ea typeface="Calibri" pitchFamily="34" charset="-122"/>
                <a:cs typeface="Calibri" pitchFamily="34" charset="-120"/>
              </a:rPr>
              <a:t>Understands and writes text</a:t>
            </a:r>
            <a:endParaRPr lang="en-US" sz="1300" dirty="0"/>
          </a:p>
        </p:txBody>
      </p:sp>
      <p:sp>
        <p:nvSpPr>
          <p:cNvPr id="39" name="Text 32"/>
          <p:cNvSpPr txBox="1"/>
          <p:nvPr/>
        </p:nvSpPr>
        <p:spPr>
          <a:xfrm>
            <a:off x="7269480" y="4645152"/>
            <a:ext cx="4389120" cy="603504"/>
          </a:xfrm>
          <a:prstGeom prst="rect">
            <a:avLst/>
          </a:prstGeom>
          <a:noFill/>
          <a:ln/>
        </p:spPr>
        <p:txBody>
          <a:bodyPr wrap="square" lIns="0" tIns="0" rIns="0" bIns="0" rtlCol="0" anchor="ctr"/>
          <a:lstStyle/>
          <a:p>
            <a:pPr marL="0" indent="0">
              <a:buNone/>
            </a:pPr>
            <a:r>
              <a:rPr lang="en-US" sz="1300" b="1" dirty="0">
                <a:solidFill>
                  <a:srgbClr val="1D3357"/>
                </a:solidFill>
                <a:latin typeface="Calibri" pitchFamily="34" charset="0"/>
                <a:ea typeface="Calibri" pitchFamily="34" charset="-122"/>
                <a:cs typeface="Calibri" pitchFamily="34" charset="-120"/>
              </a:rPr>
              <a:t>Groq / Gemini / Ollama AI</a:t>
            </a:r>
            <a:endParaRPr lang="en-US" sz="1300" dirty="0"/>
          </a:p>
        </p:txBody>
      </p:sp>
      <p:sp>
        <p:nvSpPr>
          <p:cNvPr id="40" name="Shape 33"/>
          <p:cNvSpPr/>
          <p:nvPr/>
        </p:nvSpPr>
        <p:spPr>
          <a:xfrm>
            <a:off x="886968" y="5257800"/>
            <a:ext cx="914" cy="128016"/>
          </a:xfrm>
          <a:prstGeom prst="line">
            <a:avLst/>
          </a:prstGeom>
          <a:noFill/>
          <a:ln w="22225">
            <a:solidFill>
              <a:srgbClr val="0E9384"/>
            </a:solidFill>
            <a:prstDash val="solid"/>
            <a:tailEnd type="triangle"/>
          </a:ln>
        </p:spPr>
      </p:sp>
      <p:sp>
        <p:nvSpPr>
          <p:cNvPr id="41" name="Shape 34"/>
          <p:cNvSpPr/>
          <p:nvPr/>
        </p:nvSpPr>
        <p:spPr>
          <a:xfrm>
            <a:off x="548640" y="5394960"/>
            <a:ext cx="6492240" cy="603504"/>
          </a:xfrm>
          <a:prstGeom prst="roundRect">
            <a:avLst>
              <a:gd name="adj" fmla="val 18182"/>
            </a:avLst>
          </a:prstGeom>
          <a:solidFill>
            <a:srgbClr val="F4F7FA"/>
          </a:solidFill>
          <a:ln w="12700">
            <a:solidFill>
              <a:srgbClr val="F4F7FA"/>
            </a:solidFill>
            <a:prstDash val="solid"/>
          </a:ln>
        </p:spPr>
      </p:sp>
      <p:sp>
        <p:nvSpPr>
          <p:cNvPr id="42" name="Shape 35"/>
          <p:cNvSpPr/>
          <p:nvPr/>
        </p:nvSpPr>
        <p:spPr>
          <a:xfrm>
            <a:off x="658368" y="5468112"/>
            <a:ext cx="457200" cy="457200"/>
          </a:xfrm>
          <a:prstGeom prst="ellipse">
            <a:avLst/>
          </a:prstGeom>
          <a:solidFill>
            <a:srgbClr val="0E9384"/>
          </a:solidFill>
          <a:ln w="12700">
            <a:solidFill>
              <a:srgbClr val="0E9384"/>
            </a:solidFill>
            <a:prstDash val="solid"/>
          </a:ln>
        </p:spPr>
      </p:sp>
      <p:pic>
        <p:nvPicPr>
          <p:cNvPr id="43" name="Image 5" descr="preencoded.png"/>
          <p:cNvPicPr>
            <a:picLocks noChangeAspect="1"/>
          </p:cNvPicPr>
          <p:nvPr/>
        </p:nvPicPr>
        <p:blipFill>
          <a:blip r:embed="rId8"/>
          <a:stretch>
            <a:fillRect/>
          </a:stretch>
        </p:blipFill>
        <p:spPr>
          <a:xfrm>
            <a:off x="777240" y="5586984"/>
            <a:ext cx="219456" cy="219456"/>
          </a:xfrm>
          <a:prstGeom prst="rect">
            <a:avLst/>
          </a:prstGeom>
        </p:spPr>
      </p:pic>
      <p:sp>
        <p:nvSpPr>
          <p:cNvPr id="44" name="Text 36"/>
          <p:cNvSpPr txBox="1"/>
          <p:nvPr/>
        </p:nvSpPr>
        <p:spPr>
          <a:xfrm>
            <a:off x="1280160" y="5394960"/>
            <a:ext cx="2103120" cy="603504"/>
          </a:xfrm>
          <a:prstGeom prst="rect">
            <a:avLst/>
          </a:prstGeom>
          <a:noFill/>
          <a:ln/>
        </p:spPr>
        <p:txBody>
          <a:bodyPr wrap="square" lIns="0" tIns="0" rIns="0" bIns="0" rtlCol="0" anchor="ctr"/>
          <a:lstStyle/>
          <a:p>
            <a:pPr marL="0" indent="0">
              <a:buNone/>
            </a:pPr>
            <a:r>
              <a:rPr lang="en-US" sz="1600" b="1" dirty="0">
                <a:solidFill>
                  <a:srgbClr val="1B2433"/>
                </a:solidFill>
                <a:latin typeface="Calibri" pitchFamily="34" charset="0"/>
                <a:ea typeface="Calibri" pitchFamily="34" charset="-122"/>
                <a:cs typeface="Calibri" pitchFamily="34" charset="-120"/>
              </a:rPr>
              <a:t>Gmail</a:t>
            </a:r>
            <a:endParaRPr lang="en-US" sz="1600" dirty="0"/>
          </a:p>
        </p:txBody>
      </p:sp>
      <p:sp>
        <p:nvSpPr>
          <p:cNvPr id="45" name="Text 37"/>
          <p:cNvSpPr txBox="1"/>
          <p:nvPr/>
        </p:nvSpPr>
        <p:spPr>
          <a:xfrm>
            <a:off x="3383280" y="5394960"/>
            <a:ext cx="3566160" cy="603504"/>
          </a:xfrm>
          <a:prstGeom prst="rect">
            <a:avLst/>
          </a:prstGeom>
          <a:noFill/>
          <a:ln/>
        </p:spPr>
        <p:txBody>
          <a:bodyPr wrap="square" lIns="0" tIns="0" rIns="0" bIns="0" rtlCol="0" anchor="ctr"/>
          <a:lstStyle/>
          <a:p>
            <a:pPr marL="0" indent="0">
              <a:buNone/>
            </a:pPr>
            <a:r>
              <a:rPr lang="en-US" sz="1300" dirty="0">
                <a:solidFill>
                  <a:srgbClr val="5B6678"/>
                </a:solidFill>
                <a:latin typeface="Calibri" pitchFamily="34" charset="0"/>
                <a:ea typeface="Calibri" pitchFamily="34" charset="-122"/>
                <a:cs typeface="Calibri" pitchFamily="34" charset="-120"/>
              </a:rPr>
              <a:t>Reads emails, saves drafts</a:t>
            </a:r>
            <a:endParaRPr lang="en-US" sz="1300" dirty="0"/>
          </a:p>
        </p:txBody>
      </p:sp>
      <p:sp>
        <p:nvSpPr>
          <p:cNvPr id="46" name="Text 38"/>
          <p:cNvSpPr txBox="1"/>
          <p:nvPr/>
        </p:nvSpPr>
        <p:spPr>
          <a:xfrm>
            <a:off x="7269480" y="5394960"/>
            <a:ext cx="4389120" cy="603504"/>
          </a:xfrm>
          <a:prstGeom prst="rect">
            <a:avLst/>
          </a:prstGeom>
          <a:noFill/>
          <a:ln/>
        </p:spPr>
        <p:txBody>
          <a:bodyPr wrap="square" lIns="0" tIns="0" rIns="0" bIns="0" rtlCol="0" anchor="ctr"/>
          <a:lstStyle/>
          <a:p>
            <a:pPr marL="0" indent="0">
              <a:buNone/>
            </a:pPr>
            <a:r>
              <a:rPr lang="en-US" sz="1300" b="1" dirty="0">
                <a:solidFill>
                  <a:srgbClr val="1D3357"/>
                </a:solidFill>
                <a:latin typeface="Calibri" pitchFamily="34" charset="0"/>
                <a:ea typeface="Calibri" pitchFamily="34" charset="-122"/>
                <a:cs typeface="Calibri" pitchFamily="34" charset="-120"/>
              </a:rPr>
              <a:t>Gmail API (drafts only)</a:t>
            </a:r>
            <a:endParaRPr lang="en-US" sz="1300" dirty="0"/>
          </a:p>
        </p:txBody>
      </p:sp>
      <p:sp>
        <p:nvSpPr>
          <p:cNvPr id="47" name="Text 39"/>
          <p:cNvSpPr txBox="1"/>
          <p:nvPr/>
        </p:nvSpPr>
        <p:spPr>
          <a:xfrm>
            <a:off x="7269480" y="1325880"/>
            <a:ext cx="4389120" cy="274320"/>
          </a:xfrm>
          <a:prstGeom prst="rect">
            <a:avLst/>
          </a:prstGeom>
          <a:noFill/>
          <a:ln/>
        </p:spPr>
        <p:txBody>
          <a:bodyPr wrap="square" lIns="0" tIns="0" rIns="0" bIns="0" rtlCol="0" anchor="ctr"/>
          <a:lstStyle/>
          <a:p>
            <a:pPr marL="0" indent="0">
              <a:buNone/>
            </a:pPr>
            <a:r>
              <a:rPr lang="en-US" sz="1100" b="1" kern="0" spc="100" dirty="0">
                <a:solidFill>
                  <a:srgbClr val="5B6678"/>
                </a:solidFill>
                <a:latin typeface="Calibri" pitchFamily="34" charset="0"/>
                <a:ea typeface="Calibri" pitchFamily="34" charset="-122"/>
                <a:cs typeface="Calibri" pitchFamily="34" charset="-120"/>
              </a:rPr>
              <a:t>TECHNOLOGY USED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20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Each major function at a glance</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608576"/>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227832">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12064">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Function</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13233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Input</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13233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What it does</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13233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Output</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13233F"/>
                    </a:solidFill>
                  </a:tcPr>
                </a:tc>
                <a:extLst>
                  <a:ext uri="{0D108BD9-81ED-4DB2-BD59-A6C34878D82A}">
                    <a16:rowId xmlns:a16="http://schemas.microsoft.com/office/drawing/2014/main" val="10000"/>
                  </a:ext>
                </a:extLst>
              </a:tr>
              <a:tr h="512064">
                <a:tc>
                  <a:txBody>
                    <a:bodyPr/>
                    <a:lstStyle/>
                    <a:p>
                      <a:pPr marL="0" indent="0">
                        <a:buNone/>
                      </a:pPr>
                      <a:r>
                        <a:rPr lang="en-US" sz="1500" b="1" dirty="0">
                          <a:solidFill>
                            <a:srgbClr val="1B2433"/>
                          </a:solidFill>
                          <a:latin typeface="Calibri" pitchFamily="34" charset="0"/>
                          <a:ea typeface="Calibri" pitchFamily="34" charset="-122"/>
                          <a:cs typeface="Calibri" pitchFamily="34" charset="-120"/>
                        </a:rPr>
                        <a:t>Upload Document</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4F7FA"/>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PDF / DOCX / TXT</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4F7FA"/>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Adds knowledge</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4F7FA"/>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Ready document</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4F7FA"/>
                    </a:solidFill>
                  </a:tcPr>
                </a:tc>
                <a:extLst>
                  <a:ext uri="{0D108BD9-81ED-4DB2-BD59-A6C34878D82A}">
                    <a16:rowId xmlns:a16="http://schemas.microsoft.com/office/drawing/2014/main" val="10001"/>
                  </a:ext>
                </a:extLst>
              </a:tr>
              <a:tr h="512064">
                <a:tc>
                  <a:txBody>
                    <a:bodyPr/>
                    <a:lstStyle/>
                    <a:p>
                      <a:pPr marL="0" indent="0">
                        <a:buNone/>
                      </a:pPr>
                      <a:r>
                        <a:rPr lang="en-US" sz="1500" b="1" dirty="0">
                          <a:solidFill>
                            <a:srgbClr val="1B2433"/>
                          </a:solidFill>
                          <a:latin typeface="Calibri" pitchFamily="34" charset="0"/>
                          <a:ea typeface="Calibri" pitchFamily="34" charset="-122"/>
                          <a:cs typeface="Calibri" pitchFamily="34" charset="-120"/>
                        </a:rPr>
                        <a:t>Ask Question</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User question</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Searches knowledge</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Answer</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1500" b="1" dirty="0">
                          <a:solidFill>
                            <a:srgbClr val="1B2433"/>
                          </a:solidFill>
                          <a:latin typeface="Calibri" pitchFamily="34" charset="0"/>
                          <a:ea typeface="Calibri" pitchFamily="34" charset="-122"/>
                          <a:cs typeface="Calibri" pitchFamily="34" charset="-120"/>
                        </a:rPr>
                        <a:t>Knowledge Search</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4F7FA"/>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Question</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4F7FA"/>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Finds relevant information</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4F7FA"/>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Sources</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4F7FA"/>
                    </a:solidFill>
                  </a:tcPr>
                </a:tc>
                <a:extLst>
                  <a:ext uri="{0D108BD9-81ED-4DB2-BD59-A6C34878D82A}">
                    <a16:rowId xmlns:a16="http://schemas.microsoft.com/office/drawing/2014/main" val="10003"/>
                  </a:ext>
                </a:extLst>
              </a:tr>
              <a:tr h="512064">
                <a:tc>
                  <a:txBody>
                    <a:bodyPr/>
                    <a:lstStyle/>
                    <a:p>
                      <a:pPr marL="0" indent="0">
                        <a:buNone/>
                      </a:pPr>
                      <a:r>
                        <a:rPr lang="en-US" sz="1500" b="1" dirty="0">
                          <a:solidFill>
                            <a:srgbClr val="1B2433"/>
                          </a:solidFill>
                          <a:latin typeface="Calibri" pitchFamily="34" charset="0"/>
                          <a:ea typeface="Calibri" pitchFamily="34" charset="-122"/>
                          <a:cs typeface="Calibri" pitchFamily="34" charset="-120"/>
                        </a:rPr>
                        <a:t>AI Response</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Question + knowledge</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Creates answer</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AI answer</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r>
                        <a:rPr lang="en-US" sz="1500" b="1" dirty="0">
                          <a:solidFill>
                            <a:srgbClr val="1B2433"/>
                          </a:solidFill>
                          <a:latin typeface="Calibri" pitchFamily="34" charset="0"/>
                          <a:ea typeface="Calibri" pitchFamily="34" charset="-122"/>
                          <a:cs typeface="Calibri" pitchFamily="34" charset="-120"/>
                        </a:rPr>
                        <a:t>Gmail Read</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4F7FA"/>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Email</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4F7FA"/>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Reads incoming email</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4F7FA"/>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Email details</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4F7FA"/>
                    </a:solidFill>
                  </a:tcPr>
                </a:tc>
                <a:extLst>
                  <a:ext uri="{0D108BD9-81ED-4DB2-BD59-A6C34878D82A}">
                    <a16:rowId xmlns:a16="http://schemas.microsoft.com/office/drawing/2014/main" val="10005"/>
                  </a:ext>
                </a:extLst>
              </a:tr>
              <a:tr h="512064">
                <a:tc>
                  <a:txBody>
                    <a:bodyPr/>
                    <a:lstStyle/>
                    <a:p>
                      <a:pPr marL="0" indent="0">
                        <a:buNone/>
                      </a:pPr>
                      <a:r>
                        <a:rPr lang="en-US" sz="1500" b="1" dirty="0">
                          <a:solidFill>
                            <a:srgbClr val="1B2433"/>
                          </a:solidFill>
                          <a:latin typeface="Calibri" pitchFamily="34" charset="0"/>
                          <a:ea typeface="Calibri" pitchFamily="34" charset="-122"/>
                          <a:cs typeface="Calibri" pitchFamily="34" charset="-120"/>
                        </a:rPr>
                        <a:t>Email Draft</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AI response</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Creates Gmail draft</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Draft</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12064">
                <a:tc>
                  <a:txBody>
                    <a:bodyPr/>
                    <a:lstStyle/>
                    <a:p>
                      <a:pPr marL="0" indent="0">
                        <a:buNone/>
                      </a:pPr>
                      <a:r>
                        <a:rPr lang="en-US" sz="1500" b="1" dirty="0">
                          <a:solidFill>
                            <a:srgbClr val="1B2433"/>
                          </a:solidFill>
                          <a:latin typeface="Calibri" pitchFamily="34" charset="0"/>
                          <a:ea typeface="Calibri" pitchFamily="34" charset="-122"/>
                          <a:cs typeface="Calibri" pitchFamily="34" charset="-120"/>
                        </a:rPr>
                        <a:t>Human Review</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CEFD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Draft</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CEFD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Reviews / edits</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CEFD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Approved draft</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CEFDF"/>
                    </a:solidFill>
                  </a:tcPr>
                </a:tc>
                <a:extLst>
                  <a:ext uri="{0D108BD9-81ED-4DB2-BD59-A6C34878D82A}">
                    <a16:rowId xmlns:a16="http://schemas.microsoft.com/office/drawing/2014/main" val="10007"/>
                  </a:ext>
                </a:extLst>
              </a:tr>
              <a:tr h="512064">
                <a:tc>
                  <a:txBody>
                    <a:bodyPr/>
                    <a:lstStyle/>
                    <a:p>
                      <a:pPr marL="0" indent="0">
                        <a:buNone/>
                      </a:pPr>
                      <a:r>
                        <a:rPr lang="en-US" sz="1500" b="1" dirty="0">
                          <a:solidFill>
                            <a:srgbClr val="1B2433"/>
                          </a:solidFill>
                          <a:latin typeface="Calibri" pitchFamily="34" charset="0"/>
                          <a:ea typeface="Calibri" pitchFamily="34" charset="-122"/>
                          <a:cs typeface="Calibri" pitchFamily="34" charset="-120"/>
                        </a:rPr>
                        <a:t>Delete Document</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Document</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Removes knowledge</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tc>
                  <a:txBody>
                    <a:bodyPr/>
                    <a:lstStyle/>
                    <a:p>
                      <a:pPr marL="0" indent="0">
                        <a:buNone/>
                      </a:pPr>
                      <a:r>
                        <a:rPr lang="en-US" sz="1500" dirty="0">
                          <a:solidFill>
                            <a:srgbClr val="1B2433"/>
                          </a:solidFill>
                          <a:latin typeface="Calibri" pitchFamily="34" charset="0"/>
                          <a:ea typeface="Calibri" pitchFamily="34" charset="-122"/>
                          <a:cs typeface="Calibri" pitchFamily="34" charset="-120"/>
                        </a:rPr>
                        <a:t>Document deleted</a:t>
                      </a:r>
                      <a:endParaRPr lang="en-US" sz="1500" dirty="0">
                        <a:latin typeface="Calibri" charset="0"/>
                        <a:ea typeface="Calibri" charset="0"/>
                        <a:cs typeface="Calibri" charset="0"/>
                      </a:endParaRPr>
                    </a:p>
                  </a:txBody>
                  <a:tcPr marL="109728" marR="109728" marT="0" marB="0" anchor="ctr">
                    <a:lnL w="9525" cap="flat" cmpd="sng" algn="ctr">
                      <a:solidFill>
                        <a:srgbClr val="CBD4DE"/>
                      </a:solidFill>
                      <a:prstDash val="solid"/>
                      <a:round/>
                      <a:headEnd type="none" w="med" len="med"/>
                      <a:tailEnd type="none" w="med" len="med"/>
                    </a:lnL>
                    <a:lnR w="9525" cap="flat" cmpd="sng" algn="ctr">
                      <a:solidFill>
                        <a:srgbClr val="CBD4DE"/>
                      </a:solidFill>
                      <a:prstDash val="solid"/>
                      <a:round/>
                      <a:headEnd type="none" w="med" len="med"/>
                      <a:tailEnd type="none" w="med" len="med"/>
                    </a:lnR>
                    <a:lnT w="9525" cap="flat" cmpd="sng" algn="ctr">
                      <a:solidFill>
                        <a:srgbClr val="CBD4DE"/>
                      </a:solidFill>
                      <a:prstDash val="solid"/>
                      <a:round/>
                      <a:headEnd type="none" w="med" len="med"/>
                      <a:tailEnd type="none" w="med" len="med"/>
                    </a:lnT>
                    <a:lnB w="9525" cap="flat" cmpd="sng" algn="ctr">
                      <a:solidFill>
                        <a:srgbClr val="CBD4D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B6678"/>
                </a:solidFill>
                <a:latin typeface="Calibri" pitchFamily="34" charset="0"/>
                <a:ea typeface="Calibri" pitchFamily="34" charset="-122"/>
                <a:cs typeface="Calibri" pitchFamily="34" charset="-120"/>
              </a:rPr>
              <a:t>22 / 23</a:t>
            </a:r>
            <a:endParaRPr lang="en-US" sz="1000" dirty="0"/>
          </a:p>
        </p:txBody>
      </p:sp>
      <p:sp>
        <p:nvSpPr>
          <p:cNvPr id="3" name="Text 1"/>
          <p:cNvSpPr txBox="1"/>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rgbClr val="5B6678"/>
                </a:solidFill>
                <a:latin typeface="Calibri" pitchFamily="34" charset="0"/>
                <a:ea typeface="Calibri" pitchFamily="34" charset="-122"/>
                <a:cs typeface="Calibri" pitchFamily="34" charset="-120"/>
              </a:rPr>
              <a:t>Intelligent Email Copilot</a:t>
            </a:r>
            <a:endParaRPr lang="en-US" sz="1000" dirty="0"/>
          </a:p>
        </p:txBody>
      </p:sp>
      <p:sp>
        <p:nvSpPr>
          <p:cNvPr id="4" name="Text 2"/>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200" b="1" dirty="0">
                <a:solidFill>
                  <a:srgbClr val="1B2433"/>
                </a:solidFill>
                <a:latin typeface="Calibri" pitchFamily="34" charset="0"/>
                <a:ea typeface="Calibri" pitchFamily="34" charset="-122"/>
                <a:cs typeface="Calibri" pitchFamily="34" charset="-120"/>
              </a:rPr>
              <a:t>The complete system</a:t>
            </a:r>
            <a:endParaRPr lang="en-US" sz="3200" dirty="0"/>
          </a:p>
        </p:txBody>
      </p:sp>
      <p:sp>
        <p:nvSpPr>
          <p:cNvPr id="5" name="Text 3"/>
          <p:cNvSpPr txBox="1"/>
          <p:nvPr/>
        </p:nvSpPr>
        <p:spPr>
          <a:xfrm>
            <a:off x="548640" y="1069848"/>
            <a:ext cx="11094415" cy="411480"/>
          </a:xfrm>
          <a:prstGeom prst="rect">
            <a:avLst/>
          </a:prstGeom>
          <a:noFill/>
          <a:ln/>
        </p:spPr>
        <p:txBody>
          <a:bodyPr wrap="square" lIns="0" tIns="0" rIns="0" bIns="0" rtlCol="0" anchor="ctr"/>
          <a:lstStyle/>
          <a:p>
            <a:pPr marL="0" indent="0">
              <a:buNone/>
            </a:pPr>
            <a:r>
              <a:rPr lang="en-US" sz="1600" dirty="0">
                <a:solidFill>
                  <a:srgbClr val="5B6678"/>
                </a:solidFill>
                <a:latin typeface="Calibri" pitchFamily="34" charset="0"/>
                <a:ea typeface="Calibri" pitchFamily="34" charset="-122"/>
                <a:cs typeface="Calibri" pitchFamily="34" charset="-120"/>
              </a:rPr>
              <a:t>From documents and emails to a reply a person sends</a:t>
            </a:r>
            <a:endParaRPr lang="en-US" sz="1600" dirty="0"/>
          </a:p>
        </p:txBody>
      </p:sp>
      <p:sp>
        <p:nvSpPr>
          <p:cNvPr id="6" name="Shape 4"/>
          <p:cNvSpPr/>
          <p:nvPr/>
        </p:nvSpPr>
        <p:spPr>
          <a:xfrm>
            <a:off x="7351776" y="1645920"/>
            <a:ext cx="2011680" cy="713232"/>
          </a:xfrm>
          <a:prstGeom prst="roundRect">
            <a:avLst>
              <a:gd name="adj" fmla="val 15385"/>
            </a:avLst>
          </a:prstGeom>
          <a:solidFill>
            <a:srgbClr val="13233F"/>
          </a:solidFill>
          <a:ln w="12700">
            <a:solidFill>
              <a:srgbClr val="13233F"/>
            </a:solidFill>
            <a:prstDash val="solid"/>
          </a:ln>
        </p:spPr>
      </p:sp>
      <p:sp>
        <p:nvSpPr>
          <p:cNvPr id="7" name="Text 5"/>
          <p:cNvSpPr txBox="1"/>
          <p:nvPr/>
        </p:nvSpPr>
        <p:spPr>
          <a:xfrm>
            <a:off x="7351776" y="1645920"/>
            <a:ext cx="2011680" cy="71323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Documents</a:t>
            </a:r>
            <a:endParaRPr lang="en-US" sz="1500" dirty="0"/>
          </a:p>
        </p:txBody>
      </p:sp>
      <p:sp>
        <p:nvSpPr>
          <p:cNvPr id="8" name="Shape 6"/>
          <p:cNvSpPr/>
          <p:nvPr/>
        </p:nvSpPr>
        <p:spPr>
          <a:xfrm>
            <a:off x="7351776" y="2697480"/>
            <a:ext cx="2011680" cy="713232"/>
          </a:xfrm>
          <a:prstGeom prst="roundRect">
            <a:avLst>
              <a:gd name="adj" fmla="val 15385"/>
            </a:avLst>
          </a:prstGeom>
          <a:solidFill>
            <a:srgbClr val="E2F3F0"/>
          </a:solidFill>
          <a:ln w="12700">
            <a:solidFill>
              <a:srgbClr val="0E9384"/>
            </a:solidFill>
            <a:prstDash val="solid"/>
          </a:ln>
        </p:spPr>
      </p:sp>
      <p:sp>
        <p:nvSpPr>
          <p:cNvPr id="9" name="Text 7"/>
          <p:cNvSpPr txBox="1"/>
          <p:nvPr/>
        </p:nvSpPr>
        <p:spPr>
          <a:xfrm>
            <a:off x="7351776" y="2697480"/>
            <a:ext cx="2011680" cy="713232"/>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Knowledge Base</a:t>
            </a:r>
            <a:endParaRPr lang="en-US" sz="1500" dirty="0"/>
          </a:p>
        </p:txBody>
      </p:sp>
      <p:sp>
        <p:nvSpPr>
          <p:cNvPr id="10" name="Shape 8"/>
          <p:cNvSpPr/>
          <p:nvPr/>
        </p:nvSpPr>
        <p:spPr>
          <a:xfrm>
            <a:off x="8357616" y="2377440"/>
            <a:ext cx="914" cy="301752"/>
          </a:xfrm>
          <a:prstGeom prst="line">
            <a:avLst/>
          </a:prstGeom>
          <a:noFill/>
          <a:ln w="22225">
            <a:solidFill>
              <a:srgbClr val="5B6678"/>
            </a:solidFill>
            <a:prstDash val="solid"/>
            <a:tailEnd type="triangle"/>
          </a:ln>
        </p:spPr>
      </p:sp>
      <p:sp>
        <p:nvSpPr>
          <p:cNvPr id="11" name="Shape 9"/>
          <p:cNvSpPr/>
          <p:nvPr/>
        </p:nvSpPr>
        <p:spPr>
          <a:xfrm>
            <a:off x="548640" y="3749040"/>
            <a:ext cx="2011680" cy="713232"/>
          </a:xfrm>
          <a:prstGeom prst="roundRect">
            <a:avLst>
              <a:gd name="adj" fmla="val 15385"/>
            </a:avLst>
          </a:prstGeom>
          <a:solidFill>
            <a:srgbClr val="13233F"/>
          </a:solidFill>
          <a:ln w="12700">
            <a:solidFill>
              <a:srgbClr val="13233F"/>
            </a:solidFill>
            <a:prstDash val="solid"/>
          </a:ln>
        </p:spPr>
      </p:sp>
      <p:sp>
        <p:nvSpPr>
          <p:cNvPr id="12" name="Text 10"/>
          <p:cNvSpPr txBox="1"/>
          <p:nvPr/>
        </p:nvSpPr>
        <p:spPr>
          <a:xfrm>
            <a:off x="548640" y="3749040"/>
            <a:ext cx="2011680" cy="71323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Gmail</a:t>
            </a:r>
            <a:endParaRPr lang="en-US" sz="1500" dirty="0"/>
          </a:p>
        </p:txBody>
      </p:sp>
      <p:sp>
        <p:nvSpPr>
          <p:cNvPr id="13" name="Shape 11"/>
          <p:cNvSpPr/>
          <p:nvPr/>
        </p:nvSpPr>
        <p:spPr>
          <a:xfrm>
            <a:off x="2816352" y="3749040"/>
            <a:ext cx="2011680" cy="713232"/>
          </a:xfrm>
          <a:prstGeom prst="roundRect">
            <a:avLst>
              <a:gd name="adj" fmla="val 15385"/>
            </a:avLst>
          </a:prstGeom>
          <a:solidFill>
            <a:srgbClr val="E2F3F0"/>
          </a:solidFill>
          <a:ln w="12700">
            <a:solidFill>
              <a:srgbClr val="0E9384"/>
            </a:solidFill>
            <a:prstDash val="solid"/>
          </a:ln>
        </p:spPr>
      </p:sp>
      <p:sp>
        <p:nvSpPr>
          <p:cNvPr id="14" name="Text 12"/>
          <p:cNvSpPr txBox="1"/>
          <p:nvPr/>
        </p:nvSpPr>
        <p:spPr>
          <a:xfrm>
            <a:off x="2816352" y="3749040"/>
            <a:ext cx="2011680" cy="713232"/>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Email</a:t>
            </a:r>
            <a:endParaRPr lang="en-US" sz="1500" dirty="0"/>
          </a:p>
        </p:txBody>
      </p:sp>
      <p:sp>
        <p:nvSpPr>
          <p:cNvPr id="15" name="Shape 13"/>
          <p:cNvSpPr/>
          <p:nvPr/>
        </p:nvSpPr>
        <p:spPr>
          <a:xfrm>
            <a:off x="5084064" y="3749040"/>
            <a:ext cx="2011680" cy="713232"/>
          </a:xfrm>
          <a:prstGeom prst="roundRect">
            <a:avLst>
              <a:gd name="adj" fmla="val 15385"/>
            </a:avLst>
          </a:prstGeom>
          <a:solidFill>
            <a:srgbClr val="E2F3F0"/>
          </a:solidFill>
          <a:ln w="12700">
            <a:solidFill>
              <a:srgbClr val="0E9384"/>
            </a:solidFill>
            <a:prstDash val="solid"/>
          </a:ln>
        </p:spPr>
      </p:sp>
      <p:sp>
        <p:nvSpPr>
          <p:cNvPr id="16" name="Text 14"/>
          <p:cNvSpPr txBox="1"/>
          <p:nvPr/>
        </p:nvSpPr>
        <p:spPr>
          <a:xfrm>
            <a:off x="5084064" y="3749040"/>
            <a:ext cx="2011680" cy="713232"/>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Question</a:t>
            </a:r>
            <a:endParaRPr lang="en-US" sz="1500" dirty="0"/>
          </a:p>
        </p:txBody>
      </p:sp>
      <p:sp>
        <p:nvSpPr>
          <p:cNvPr id="17" name="Shape 15"/>
          <p:cNvSpPr/>
          <p:nvPr/>
        </p:nvSpPr>
        <p:spPr>
          <a:xfrm>
            <a:off x="7351776" y="3749040"/>
            <a:ext cx="2011680" cy="713232"/>
          </a:xfrm>
          <a:prstGeom prst="roundRect">
            <a:avLst>
              <a:gd name="adj" fmla="val 15385"/>
            </a:avLst>
          </a:prstGeom>
          <a:solidFill>
            <a:srgbClr val="E2F3F0"/>
          </a:solidFill>
          <a:ln w="12700">
            <a:solidFill>
              <a:srgbClr val="0E9384"/>
            </a:solidFill>
            <a:prstDash val="solid"/>
          </a:ln>
        </p:spPr>
      </p:sp>
      <p:sp>
        <p:nvSpPr>
          <p:cNvPr id="18" name="Text 16"/>
          <p:cNvSpPr txBox="1"/>
          <p:nvPr/>
        </p:nvSpPr>
        <p:spPr>
          <a:xfrm>
            <a:off x="7351776" y="3749040"/>
            <a:ext cx="2011680" cy="713232"/>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Knowledge Search</a:t>
            </a:r>
            <a:endParaRPr lang="en-US" sz="1500" dirty="0"/>
          </a:p>
        </p:txBody>
      </p:sp>
      <p:sp>
        <p:nvSpPr>
          <p:cNvPr id="19" name="Shape 17"/>
          <p:cNvSpPr/>
          <p:nvPr/>
        </p:nvSpPr>
        <p:spPr>
          <a:xfrm>
            <a:off x="2578608" y="4105656"/>
            <a:ext cx="219456" cy="914"/>
          </a:xfrm>
          <a:prstGeom prst="line">
            <a:avLst/>
          </a:prstGeom>
          <a:noFill/>
          <a:ln w="22225">
            <a:solidFill>
              <a:srgbClr val="5B6678"/>
            </a:solidFill>
            <a:prstDash val="solid"/>
            <a:tailEnd type="triangle"/>
          </a:ln>
        </p:spPr>
      </p:sp>
      <p:sp>
        <p:nvSpPr>
          <p:cNvPr id="20" name="Shape 18"/>
          <p:cNvSpPr/>
          <p:nvPr/>
        </p:nvSpPr>
        <p:spPr>
          <a:xfrm>
            <a:off x="4846320" y="4105656"/>
            <a:ext cx="219456" cy="914"/>
          </a:xfrm>
          <a:prstGeom prst="line">
            <a:avLst/>
          </a:prstGeom>
          <a:noFill/>
          <a:ln w="22225">
            <a:solidFill>
              <a:srgbClr val="5B6678"/>
            </a:solidFill>
            <a:prstDash val="solid"/>
            <a:tailEnd type="triangle"/>
          </a:ln>
        </p:spPr>
      </p:sp>
      <p:sp>
        <p:nvSpPr>
          <p:cNvPr id="21" name="Shape 19"/>
          <p:cNvSpPr/>
          <p:nvPr/>
        </p:nvSpPr>
        <p:spPr>
          <a:xfrm>
            <a:off x="7114032" y="4105656"/>
            <a:ext cx="219456" cy="914"/>
          </a:xfrm>
          <a:prstGeom prst="line">
            <a:avLst/>
          </a:prstGeom>
          <a:noFill/>
          <a:ln w="22225">
            <a:solidFill>
              <a:srgbClr val="5B6678"/>
            </a:solidFill>
            <a:prstDash val="solid"/>
            <a:tailEnd type="triangle"/>
          </a:ln>
        </p:spPr>
      </p:sp>
      <p:sp>
        <p:nvSpPr>
          <p:cNvPr id="22" name="Shape 20"/>
          <p:cNvSpPr/>
          <p:nvPr/>
        </p:nvSpPr>
        <p:spPr>
          <a:xfrm>
            <a:off x="8357616" y="3429000"/>
            <a:ext cx="914" cy="301752"/>
          </a:xfrm>
          <a:prstGeom prst="line">
            <a:avLst/>
          </a:prstGeom>
          <a:noFill/>
          <a:ln w="22225">
            <a:solidFill>
              <a:srgbClr val="5B6678"/>
            </a:solidFill>
            <a:prstDash val="solid"/>
            <a:tailEnd type="triangle"/>
          </a:ln>
        </p:spPr>
      </p:sp>
      <p:sp>
        <p:nvSpPr>
          <p:cNvPr id="23" name="Shape 21"/>
          <p:cNvSpPr/>
          <p:nvPr/>
        </p:nvSpPr>
        <p:spPr>
          <a:xfrm>
            <a:off x="548640" y="5074920"/>
            <a:ext cx="2011680" cy="713232"/>
          </a:xfrm>
          <a:prstGeom prst="roundRect">
            <a:avLst>
              <a:gd name="adj" fmla="val 15385"/>
            </a:avLst>
          </a:prstGeom>
          <a:solidFill>
            <a:srgbClr val="E2F3F0"/>
          </a:solidFill>
          <a:ln w="12700">
            <a:solidFill>
              <a:srgbClr val="0E9384"/>
            </a:solidFill>
            <a:prstDash val="solid"/>
          </a:ln>
        </p:spPr>
      </p:sp>
      <p:sp>
        <p:nvSpPr>
          <p:cNvPr id="24" name="Text 22"/>
          <p:cNvSpPr txBox="1"/>
          <p:nvPr/>
        </p:nvSpPr>
        <p:spPr>
          <a:xfrm>
            <a:off x="548640" y="5074920"/>
            <a:ext cx="2011680" cy="713232"/>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AI Response</a:t>
            </a:r>
            <a:endParaRPr lang="en-US" sz="1500" dirty="0"/>
          </a:p>
        </p:txBody>
      </p:sp>
      <p:sp>
        <p:nvSpPr>
          <p:cNvPr id="25" name="Shape 23"/>
          <p:cNvSpPr/>
          <p:nvPr/>
        </p:nvSpPr>
        <p:spPr>
          <a:xfrm>
            <a:off x="2816352" y="5074920"/>
            <a:ext cx="2011680" cy="713232"/>
          </a:xfrm>
          <a:prstGeom prst="roundRect">
            <a:avLst>
              <a:gd name="adj" fmla="val 15385"/>
            </a:avLst>
          </a:prstGeom>
          <a:solidFill>
            <a:srgbClr val="E2F3F0"/>
          </a:solidFill>
          <a:ln w="12700">
            <a:solidFill>
              <a:srgbClr val="0E9384"/>
            </a:solidFill>
            <a:prstDash val="solid"/>
          </a:ln>
        </p:spPr>
      </p:sp>
      <p:sp>
        <p:nvSpPr>
          <p:cNvPr id="26" name="Text 24"/>
          <p:cNvSpPr txBox="1"/>
          <p:nvPr/>
        </p:nvSpPr>
        <p:spPr>
          <a:xfrm>
            <a:off x="2816352" y="5074920"/>
            <a:ext cx="2011680" cy="713232"/>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Response Check</a:t>
            </a:r>
            <a:endParaRPr lang="en-US" sz="1500" dirty="0"/>
          </a:p>
        </p:txBody>
      </p:sp>
      <p:sp>
        <p:nvSpPr>
          <p:cNvPr id="27" name="Shape 25"/>
          <p:cNvSpPr/>
          <p:nvPr/>
        </p:nvSpPr>
        <p:spPr>
          <a:xfrm>
            <a:off x="5084064" y="5074920"/>
            <a:ext cx="2011680" cy="713232"/>
          </a:xfrm>
          <a:prstGeom prst="roundRect">
            <a:avLst>
              <a:gd name="adj" fmla="val 15385"/>
            </a:avLst>
          </a:prstGeom>
          <a:solidFill>
            <a:srgbClr val="E2F3F0"/>
          </a:solidFill>
          <a:ln w="12700">
            <a:solidFill>
              <a:srgbClr val="0E9384"/>
            </a:solidFill>
            <a:prstDash val="solid"/>
          </a:ln>
        </p:spPr>
      </p:sp>
      <p:sp>
        <p:nvSpPr>
          <p:cNvPr id="28" name="Text 26"/>
          <p:cNvSpPr txBox="1"/>
          <p:nvPr/>
        </p:nvSpPr>
        <p:spPr>
          <a:xfrm>
            <a:off x="5084064" y="5074920"/>
            <a:ext cx="2011680" cy="713232"/>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Gmail Draft</a:t>
            </a:r>
            <a:endParaRPr lang="en-US" sz="1500" dirty="0"/>
          </a:p>
        </p:txBody>
      </p:sp>
      <p:sp>
        <p:nvSpPr>
          <p:cNvPr id="29" name="Shape 27"/>
          <p:cNvSpPr/>
          <p:nvPr/>
        </p:nvSpPr>
        <p:spPr>
          <a:xfrm>
            <a:off x="7351776" y="5074920"/>
            <a:ext cx="2011680" cy="713232"/>
          </a:xfrm>
          <a:prstGeom prst="roundRect">
            <a:avLst>
              <a:gd name="adj" fmla="val 15385"/>
            </a:avLst>
          </a:prstGeom>
          <a:solidFill>
            <a:srgbClr val="FCEFDF"/>
          </a:solidFill>
          <a:ln w="12700">
            <a:solidFill>
              <a:srgbClr val="D97F1E"/>
            </a:solidFill>
            <a:prstDash val="solid"/>
          </a:ln>
        </p:spPr>
      </p:sp>
      <p:sp>
        <p:nvSpPr>
          <p:cNvPr id="30" name="Text 28"/>
          <p:cNvSpPr txBox="1"/>
          <p:nvPr/>
        </p:nvSpPr>
        <p:spPr>
          <a:xfrm>
            <a:off x="7351776" y="5074920"/>
            <a:ext cx="2011680" cy="713232"/>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Human Review</a:t>
            </a:r>
            <a:endParaRPr lang="en-US" sz="1500" dirty="0"/>
          </a:p>
        </p:txBody>
      </p:sp>
      <p:sp>
        <p:nvSpPr>
          <p:cNvPr id="31" name="Shape 29"/>
          <p:cNvSpPr/>
          <p:nvPr/>
        </p:nvSpPr>
        <p:spPr>
          <a:xfrm>
            <a:off x="9628632" y="5074920"/>
            <a:ext cx="2011680" cy="713232"/>
          </a:xfrm>
          <a:prstGeom prst="roundRect">
            <a:avLst>
              <a:gd name="adj" fmla="val 15385"/>
            </a:avLst>
          </a:prstGeom>
          <a:solidFill>
            <a:srgbClr val="FCEFDF"/>
          </a:solidFill>
          <a:ln w="12700">
            <a:solidFill>
              <a:srgbClr val="D97F1E"/>
            </a:solidFill>
            <a:prstDash val="solid"/>
          </a:ln>
        </p:spPr>
      </p:sp>
      <p:sp>
        <p:nvSpPr>
          <p:cNvPr id="32" name="Text 30"/>
          <p:cNvSpPr txBox="1"/>
          <p:nvPr/>
        </p:nvSpPr>
        <p:spPr>
          <a:xfrm>
            <a:off x="9628632" y="5074920"/>
            <a:ext cx="2011680" cy="713232"/>
          </a:xfrm>
          <a:prstGeom prst="rect">
            <a:avLst/>
          </a:prstGeom>
          <a:noFill/>
          <a:ln/>
        </p:spPr>
        <p:txBody>
          <a:bodyPr wrap="square" lIns="0" tIns="0" rIns="0" bIns="0" rtlCol="0" anchor="ctr"/>
          <a:lstStyle/>
          <a:p>
            <a:pPr marL="0" indent="0" algn="ctr">
              <a:buNone/>
            </a:pPr>
            <a:r>
              <a:rPr lang="en-US" sz="1500" b="1" dirty="0">
                <a:solidFill>
                  <a:srgbClr val="1B2433"/>
                </a:solidFill>
                <a:latin typeface="Calibri" pitchFamily="34" charset="0"/>
                <a:ea typeface="Calibri" pitchFamily="34" charset="-122"/>
                <a:cs typeface="Calibri" pitchFamily="34" charset="-120"/>
              </a:rPr>
              <a:t>Human Sends Email</a:t>
            </a:r>
            <a:endParaRPr lang="en-US" sz="1500" dirty="0"/>
          </a:p>
        </p:txBody>
      </p:sp>
      <p:sp>
        <p:nvSpPr>
          <p:cNvPr id="33" name="Shape 31"/>
          <p:cNvSpPr/>
          <p:nvPr/>
        </p:nvSpPr>
        <p:spPr>
          <a:xfrm>
            <a:off x="8357616" y="4480560"/>
            <a:ext cx="914" cy="274320"/>
          </a:xfrm>
          <a:prstGeom prst="line">
            <a:avLst/>
          </a:prstGeom>
          <a:noFill/>
          <a:ln w="22225">
            <a:solidFill>
              <a:srgbClr val="5B6678"/>
            </a:solidFill>
            <a:prstDash val="solid"/>
          </a:ln>
        </p:spPr>
      </p:sp>
      <p:sp>
        <p:nvSpPr>
          <p:cNvPr id="34" name="Shape 32"/>
          <p:cNvSpPr/>
          <p:nvPr/>
        </p:nvSpPr>
        <p:spPr>
          <a:xfrm>
            <a:off x="1554480" y="4754880"/>
            <a:ext cx="6803136" cy="914"/>
          </a:xfrm>
          <a:prstGeom prst="line">
            <a:avLst/>
          </a:prstGeom>
          <a:noFill/>
          <a:ln w="22225">
            <a:solidFill>
              <a:srgbClr val="5B6678"/>
            </a:solidFill>
            <a:prstDash val="solid"/>
          </a:ln>
        </p:spPr>
      </p:sp>
      <p:sp>
        <p:nvSpPr>
          <p:cNvPr id="35" name="Shape 33"/>
          <p:cNvSpPr/>
          <p:nvPr/>
        </p:nvSpPr>
        <p:spPr>
          <a:xfrm>
            <a:off x="1554480" y="4754880"/>
            <a:ext cx="914" cy="301752"/>
          </a:xfrm>
          <a:prstGeom prst="line">
            <a:avLst/>
          </a:prstGeom>
          <a:noFill/>
          <a:ln w="22225">
            <a:solidFill>
              <a:srgbClr val="5B6678"/>
            </a:solidFill>
            <a:prstDash val="solid"/>
            <a:tailEnd type="triangle"/>
          </a:ln>
        </p:spPr>
      </p:sp>
      <p:sp>
        <p:nvSpPr>
          <p:cNvPr id="36" name="Shape 34"/>
          <p:cNvSpPr/>
          <p:nvPr/>
        </p:nvSpPr>
        <p:spPr>
          <a:xfrm>
            <a:off x="2578608" y="5431536"/>
            <a:ext cx="219456" cy="914"/>
          </a:xfrm>
          <a:prstGeom prst="line">
            <a:avLst/>
          </a:prstGeom>
          <a:noFill/>
          <a:ln w="22225">
            <a:solidFill>
              <a:srgbClr val="5B6678"/>
            </a:solidFill>
            <a:prstDash val="solid"/>
            <a:tailEnd type="triangle"/>
          </a:ln>
        </p:spPr>
      </p:sp>
      <p:sp>
        <p:nvSpPr>
          <p:cNvPr id="37" name="Shape 35"/>
          <p:cNvSpPr/>
          <p:nvPr/>
        </p:nvSpPr>
        <p:spPr>
          <a:xfrm>
            <a:off x="4846320" y="5431536"/>
            <a:ext cx="219456" cy="914"/>
          </a:xfrm>
          <a:prstGeom prst="line">
            <a:avLst/>
          </a:prstGeom>
          <a:noFill/>
          <a:ln w="22225">
            <a:solidFill>
              <a:srgbClr val="5B6678"/>
            </a:solidFill>
            <a:prstDash val="solid"/>
            <a:tailEnd type="triangle"/>
          </a:ln>
        </p:spPr>
      </p:sp>
      <p:sp>
        <p:nvSpPr>
          <p:cNvPr id="38" name="Shape 36"/>
          <p:cNvSpPr/>
          <p:nvPr/>
        </p:nvSpPr>
        <p:spPr>
          <a:xfrm>
            <a:off x="7114032" y="5431536"/>
            <a:ext cx="219456" cy="914"/>
          </a:xfrm>
          <a:prstGeom prst="line">
            <a:avLst/>
          </a:prstGeom>
          <a:noFill/>
          <a:ln w="22225">
            <a:solidFill>
              <a:srgbClr val="5B6678"/>
            </a:solidFill>
            <a:prstDash val="solid"/>
            <a:tailEnd type="triangle"/>
          </a:ln>
        </p:spPr>
      </p:sp>
      <p:sp>
        <p:nvSpPr>
          <p:cNvPr id="39" name="Shape 37"/>
          <p:cNvSpPr/>
          <p:nvPr/>
        </p:nvSpPr>
        <p:spPr>
          <a:xfrm>
            <a:off x="9381744" y="5431536"/>
            <a:ext cx="228600" cy="914"/>
          </a:xfrm>
          <a:prstGeom prst="line">
            <a:avLst/>
          </a:prstGeom>
          <a:noFill/>
          <a:ln w="22225">
            <a:solidFill>
              <a:srgbClr val="5B6678"/>
            </a:solidFill>
            <a:prstDash val="solid"/>
            <a:tailEnd type="triangle"/>
          </a:ln>
        </p:spPr>
      </p:sp>
      <p:sp>
        <p:nvSpPr>
          <p:cNvPr id="40" name="Shape 38"/>
          <p:cNvSpPr/>
          <p:nvPr/>
        </p:nvSpPr>
        <p:spPr>
          <a:xfrm>
            <a:off x="9966960" y="1828800"/>
            <a:ext cx="256032" cy="201168"/>
          </a:xfrm>
          <a:prstGeom prst="roundRect">
            <a:avLst>
              <a:gd name="adj" fmla="val 54545"/>
            </a:avLst>
          </a:prstGeom>
          <a:solidFill>
            <a:srgbClr val="E2F3F0"/>
          </a:solidFill>
          <a:ln w="12700">
            <a:solidFill>
              <a:srgbClr val="0E9384"/>
            </a:solidFill>
            <a:prstDash val="solid"/>
          </a:ln>
        </p:spPr>
      </p:sp>
      <p:sp>
        <p:nvSpPr>
          <p:cNvPr id="41" name="Text 39"/>
          <p:cNvSpPr txBox="1"/>
          <p:nvPr/>
        </p:nvSpPr>
        <p:spPr>
          <a:xfrm>
            <a:off x="10314432" y="1792224"/>
            <a:ext cx="1463040" cy="274320"/>
          </a:xfrm>
          <a:prstGeom prst="rect">
            <a:avLst/>
          </a:prstGeom>
          <a:noFill/>
          <a:ln/>
        </p:spPr>
        <p:txBody>
          <a:bodyPr wrap="square" lIns="0" tIns="0" rIns="0" bIns="0" rtlCol="0" anchor="ctr"/>
          <a:lstStyle/>
          <a:p>
            <a:pPr marL="0" indent="0">
              <a:buNone/>
            </a:pPr>
            <a:r>
              <a:rPr lang="en-US" sz="1200" dirty="0">
                <a:solidFill>
                  <a:srgbClr val="5B6678"/>
                </a:solidFill>
                <a:latin typeface="Calibri" pitchFamily="34" charset="0"/>
                <a:ea typeface="Calibri" pitchFamily="34" charset="-122"/>
                <a:cs typeface="Calibri" pitchFamily="34" charset="-120"/>
              </a:rPr>
              <a:t>AI does this</a:t>
            </a:r>
            <a:endParaRPr lang="en-US" sz="1200" dirty="0"/>
          </a:p>
        </p:txBody>
      </p:sp>
      <p:sp>
        <p:nvSpPr>
          <p:cNvPr id="42" name="Shape 40"/>
          <p:cNvSpPr/>
          <p:nvPr/>
        </p:nvSpPr>
        <p:spPr>
          <a:xfrm>
            <a:off x="9966960" y="2194560"/>
            <a:ext cx="256032" cy="201168"/>
          </a:xfrm>
          <a:prstGeom prst="roundRect">
            <a:avLst>
              <a:gd name="adj" fmla="val 54545"/>
            </a:avLst>
          </a:prstGeom>
          <a:solidFill>
            <a:srgbClr val="FCEFDF"/>
          </a:solidFill>
          <a:ln w="12700">
            <a:solidFill>
              <a:srgbClr val="D97F1E"/>
            </a:solidFill>
            <a:prstDash val="solid"/>
          </a:ln>
        </p:spPr>
      </p:sp>
      <p:sp>
        <p:nvSpPr>
          <p:cNvPr id="43" name="Text 41"/>
          <p:cNvSpPr txBox="1"/>
          <p:nvPr/>
        </p:nvSpPr>
        <p:spPr>
          <a:xfrm>
            <a:off x="10314432" y="2157984"/>
            <a:ext cx="1645920" cy="274320"/>
          </a:xfrm>
          <a:prstGeom prst="rect">
            <a:avLst/>
          </a:prstGeom>
          <a:noFill/>
          <a:ln/>
        </p:spPr>
        <p:txBody>
          <a:bodyPr wrap="square" lIns="0" tIns="0" rIns="0" bIns="0" rtlCol="0" anchor="ctr"/>
          <a:lstStyle/>
          <a:p>
            <a:pPr marL="0" indent="0">
              <a:buNone/>
            </a:pPr>
            <a:r>
              <a:rPr lang="en-US" sz="1200" dirty="0">
                <a:solidFill>
                  <a:srgbClr val="5B6678"/>
                </a:solidFill>
                <a:latin typeface="Calibri" pitchFamily="34" charset="0"/>
                <a:ea typeface="Calibri" pitchFamily="34" charset="-122"/>
                <a:cs typeface="Calibri" pitchFamily="34" charset="-120"/>
              </a:rPr>
              <a:t>A person does this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2131</Words>
  <Application>Microsoft Office PowerPoint</Application>
  <PresentationFormat>Widescreen</PresentationFormat>
  <Paragraphs>302</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Email Copilot</dc:title>
  <dc:subject>PptxGenJS Presentation</dc:subject>
  <dc:creator>PptxGenJS</dc:creator>
  <cp:lastModifiedBy>Kurapati Ratnavamsi</cp:lastModifiedBy>
  <cp:revision>3</cp:revision>
  <dcterms:created xsi:type="dcterms:W3CDTF">2026-09-27T16:36:36Z</dcterms:created>
  <dcterms:modified xsi:type="dcterms:W3CDTF">2026-10-07T06:05:26Z</dcterms:modified>
</cp:coreProperties>
</file>